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" y="329184"/>
            <a:ext cx="11484864" cy="6190488"/>
          </a:xfrm>
          <a:prstGeom prst="rect">
            <a:avLst/>
          </a:prstGeom>
          <a:noFill/>
          <a:ln w="1270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4678B4"/>
                </a:solidFill>
                <a:latin typeface="Microsoft YaHei"/>
              </a:rPr>
              <a:t>想象力博物馆</a:t>
            </a:r>
          </a:p>
          <a:p>
            <a:pPr algn="ctr">
              <a:spcAft>
                <a:spcPts val="1000"/>
              </a:spcAft>
            </a:pPr>
            <a:r>
              <a:rPr sz="2600" b="0">
                <a:solidFill>
                  <a:srgbClr val="323C50"/>
                </a:solidFill>
                <a:latin typeface="Microsoft YaHei"/>
              </a:rPr>
              <a:t>七年级上册 · 第六单元 · 第一课时</a:t>
            </a:r>
          </a:p>
          <a:p>
            <a:pPr algn="ctr">
              <a:spcAft>
                <a:spcPts val="1000"/>
              </a:spcAft>
            </a:pPr>
            <a:r>
              <a:rPr sz="2000" b="1">
                <a:solidFill>
                  <a:srgbClr val="A0BEDC"/>
                </a:solidFill>
                <a:latin typeface="Microsoft YaHei"/>
              </a:rPr>
              <a:t>含课堂笔记 · 2026版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5029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知识要点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78B4"/>
                </a:solidFill>
                <a:latin typeface="Microsoft YaHei"/>
              </a:rPr>
              <a:t>单元知识框架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444752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单元母题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627632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想象与真实——想象源于生活经验，又超越现实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444752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文体类型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2432303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神魔小说、童话、神话、寓言（四种富于想象力的文体）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阅读方法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快速默读：把握思路，发挥联想和想象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阅读速度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每分钟不少于400字，先抓「谁—做什么—结果」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核心知识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78B4"/>
                </a:solidFill>
                <a:latin typeface="Microsoft YaHei"/>
              </a:rPr>
              <a:t>母题递进链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737360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自由与规则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627632"/>
            <a:ext cx="70408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《小圣施威降大圣》——神魔斗法中见人情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737360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真实与虚假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2432303"/>
            <a:ext cx="70408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《皇帝的新装》——荒诞童话照见人性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737360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创造与生命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236976"/>
            <a:ext cx="70408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《女娲造人》——创世神话礼赞生命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737360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智慧与局限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041648"/>
            <a:ext cx="7040879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《寓言四则》——短小故事寄寓道理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知识要点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400" b="1">
                <a:solidFill>
                  <a:srgbClr val="4678B4"/>
                </a:solidFill>
                <a:latin typeface="Microsoft YaHei"/>
              </a:rPr>
              <a:t>阅读方法笔记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7104" y="1143000"/>
            <a:ext cx="10058400" cy="3721608"/>
          </a:xfrm>
          <a:prstGeom prst="roundRect">
            <a:avLst/>
          </a:prstGeom>
          <a:solidFill>
            <a:srgbClr val="FFFCEB"/>
          </a:solidFill>
          <a:ln w="2540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7104" y="1143000"/>
            <a:ext cx="10058400" cy="384048"/>
          </a:xfrm>
          <a:prstGeom prst="rect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7104" y="1179576"/>
            <a:ext cx="10058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📝  课堂笔记  —  请摘抄要点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0024" y="1527048"/>
            <a:ext cx="27432" cy="3337560"/>
          </a:xfrm>
          <a:prstGeom prst="rect">
            <a:avLst/>
          </a:prstGeom>
          <a:solidFill>
            <a:srgbClr val="DC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2276856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00200" y="1627632"/>
            <a:ext cx="1444752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1645920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情节概括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1627632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用「节点词+简洁句」概括，避免逐字回读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17320" y="3081527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600200" y="2432303"/>
            <a:ext cx="1444752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200" y="2450591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人物分析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2432303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证据—特点—作用（先找细节，再概括，后说作用）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3886200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600200" y="3236976"/>
            <a:ext cx="1444752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255264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想象追问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3236976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它像现实中的什么？人物为什么这样做？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690872"/>
            <a:ext cx="9601200" cy="13716"/>
          </a:xfrm>
          <a:prstGeom prst="rect">
            <a:avLst/>
          </a:prstGeom>
          <a:solidFill>
            <a:srgbClr val="D2C8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600200" y="4041648"/>
            <a:ext cx="1444752" cy="347472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059936"/>
            <a:ext cx="1444752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创作方法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82112" y="4041648"/>
            <a:ext cx="7333488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0">
                <a:solidFill>
                  <a:srgbClr val="323C50"/>
                </a:solidFill>
                <a:latin typeface="Microsoft YaHei"/>
              </a:rPr>
              <a:t>触发点→联想链→情节转折→表达主题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挑战任务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单元大任务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2112264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举办「想象力博物馆」微展览，小组担任策展人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制作「想象说明卡」：说清想象的依据与表达效果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962656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98094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94436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完成原创想象文字或一幕微型课本剧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学习方法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快速默读训练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2112264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不出声、不指读，段末停顿记录段意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用5—8个字概括每个情节段落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962656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98094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94436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复述三要素：人物、事件、结果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53304" y="100584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53304" y="102412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想一想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02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200" b="1">
                <a:solidFill>
                  <a:srgbClr val="4678B4"/>
                </a:solidFill>
                <a:latin typeface="Microsoft YaHei"/>
              </a:rPr>
              <a:t>奇异情节从哪来？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438912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663440"/>
            <a:ext cx="8503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0">
                <a:solidFill>
                  <a:srgbClr val="4678B4"/>
                </a:solidFill>
                <a:latin typeface="Microsoft YaHei"/>
              </a:rPr>
              <a:t>从真实经验出发——伞、星星、孙悟空都连接着我们的生活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回顾收获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课堂小结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837944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23C50"/>
                </a:solidFill>
                <a:latin typeface="Microsoft YaHei"/>
              </a:rPr>
              <a:t>四文体：神魔小说、童话、神话、寓言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04288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32257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2860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23C50"/>
                </a:solidFill>
                <a:latin typeface="Microsoft YaHei"/>
              </a:rPr>
              <a:t>母题链：自由→真实→创造→智慧</a:t>
            </a:r>
          </a:p>
        </p:txBody>
      </p:sp>
      <p:sp>
        <p:nvSpPr>
          <p:cNvPr id="19" name="Oval 18"/>
          <p:cNvSpPr/>
          <p:nvPr/>
        </p:nvSpPr>
        <p:spPr>
          <a:xfrm>
            <a:off x="2255824" y="2779776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55824" y="2798064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3024" y="2761488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323C50"/>
                </a:solidFill>
                <a:latin typeface="Microsoft YaHei"/>
              </a:rPr>
              <a:t>概括法：人物—事件—结果；分析法：证据—特点—作用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u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608" y="274320"/>
            <a:ext cx="11594592" cy="6300216"/>
          </a:xfrm>
          <a:prstGeom prst="rect">
            <a:avLst/>
          </a:prstGeom>
          <a:noFill/>
          <a:ln w="31750"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ner_unit_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0" y="-45720"/>
            <a:ext cx="2011680" cy="2011680"/>
          </a:xfrm>
          <a:prstGeom prst="rect">
            <a:avLst/>
          </a:prstGeom>
        </p:spPr>
      </p:pic>
      <p:pic>
        <p:nvPicPr>
          <p:cNvPr id="5" name="Picture 4" descr="corner_unit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-45720"/>
            <a:ext cx="2011680" cy="2011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84048"/>
            <a:ext cx="2011680" cy="384048"/>
          </a:xfrm>
          <a:prstGeom prst="roundRect">
            <a:avLst/>
          </a:prstGeom>
          <a:solidFill>
            <a:srgbClr val="3C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课堂活动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53304" y="502920"/>
            <a:ext cx="2286000" cy="411480"/>
          </a:xfrm>
          <a:prstGeom prst="round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53304" y="521208"/>
            <a:ext cx="2286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323C50"/>
                </a:solidFill>
                <a:latin typeface="Microsoft YaHei"/>
              </a:rPr>
              <a:t>课后延伸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96012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>
                <a:solidFill>
                  <a:srgbClr val="4678B4"/>
                </a:solidFill>
                <a:latin typeface="Microsoft YaHei"/>
              </a:rPr>
              <a:t>课后作业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5760720" cy="27432"/>
          </a:xfrm>
          <a:prstGeom prst="rect">
            <a:avLst/>
          </a:prstGeom>
          <a:solidFill>
            <a:srgbClr val="A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5704" y="1645920"/>
            <a:ext cx="9601200" cy="1545336"/>
          </a:xfrm>
          <a:prstGeom prst="roundRect">
            <a:avLst/>
          </a:prstGeom>
          <a:solidFill>
            <a:srgbClr val="F8FAFF"/>
          </a:solidFill>
          <a:ln w="19050">
            <a:solidFill>
              <a:srgbClr val="A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5824" y="1828800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5824" y="1847088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3024" y="1810512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必做：预习一篇课文，写100字以内故事梗概</a:t>
            </a:r>
          </a:p>
        </p:txBody>
      </p:sp>
      <p:sp>
        <p:nvSpPr>
          <p:cNvPr id="16" name="Oval 15"/>
          <p:cNvSpPr/>
          <p:nvPr/>
        </p:nvSpPr>
        <p:spPr>
          <a:xfrm>
            <a:off x="2255824" y="2395728"/>
            <a:ext cx="347472" cy="347472"/>
          </a:xfrm>
          <a:prstGeom prst="ellipse">
            <a:avLst/>
          </a:prstGeom>
          <a:solidFill>
            <a:srgbClr val="467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55824" y="2414016"/>
            <a:ext cx="3474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3024" y="237744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323C50"/>
                </a:solidFill>
                <a:latin typeface="Microsoft YaHei"/>
              </a:rPr>
              <a:t>选做：记录一个「如果……会怎样」的想象问题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