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E65096"/>
                </a:solidFill>
                <a:latin typeface="Microsoft YaHei"/>
              </a:rPr>
              <a:t>想象力博物馆开幕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46325A"/>
                </a:solidFill>
                <a:latin typeface="Microsoft YaHei"/>
              </a:rPr>
              <a:t>第六单元学历案 · 成果展示</a:t>
            </a:r>
          </a:p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64C8DC"/>
                </a:solidFill>
                <a:latin typeface="Microsoft YaHei"/>
              </a:rPr>
              <a:t>含课堂笔记 · 2026版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比较笔记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四类文本比较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神魔小说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1627632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想象依据：相克逻辑；表现：连续变化；意味：人情世故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童话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想象依据：生活经验；表现：夸张反讽；意味：照见人性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神话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236976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想象依据：古籍传说；表现：创世画面；意味：礼赞生命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寓言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想象依据：生活现象；表现：拟人故事；意味：警醒智慧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写作笔记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联想与想象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联想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由一事物想到另一事物（街灯→明星，因形状相似）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想象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32303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在已有材料上创造新形象（天上的街市、牛郎织女骑牛）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写作要求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有依据、合逻辑、有新意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创作路径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触发点→联想链→情节转折→表达主题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策展笔记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想象说明卡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文本片段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1627632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从本单元选一个精彩片段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想象依据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2432303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它从什么现实经验或材料出发？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表现方式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用了什么手法？（变化/夸张/改写/拟人）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现实意味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4041648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照见了怎样的生活道理？（联系策展主题）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3C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课堂活动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展示活动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E65096"/>
                </a:solidFill>
                <a:latin typeface="Microsoft YaHei"/>
              </a:rPr>
              <a:t>成果展示要求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5704" y="1645920"/>
            <a:ext cx="9601200" cy="2112264"/>
          </a:xfrm>
          <a:prstGeom prst="roundRect">
            <a:avLst/>
          </a:prstGeom>
          <a:solidFill>
            <a:srgbClr val="FFFAFF"/>
          </a:solidFill>
          <a:ln w="19050">
            <a:solidFill>
              <a:srgbClr val="64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5824" y="1828800"/>
            <a:ext cx="347472" cy="347472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824" y="1847088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3024" y="1810512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布展：说明卡+创作作品，附「请看我如何从文本出发」</a:t>
            </a:r>
          </a:p>
        </p:txBody>
      </p:sp>
      <p:sp>
        <p:nvSpPr>
          <p:cNvPr id="16" name="Oval 15"/>
          <p:cNvSpPr/>
          <p:nvPr/>
        </p:nvSpPr>
        <p:spPr>
          <a:xfrm>
            <a:off x="2255824" y="2395728"/>
            <a:ext cx="347472" cy="347472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5824" y="2414016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3024" y="237744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讲解：30秒依据+60秒亮点+30秒思考</a:t>
            </a:r>
          </a:p>
        </p:txBody>
      </p:sp>
      <p:sp>
        <p:nvSpPr>
          <p:cNvPr id="19" name="Oval 18"/>
          <p:cNvSpPr/>
          <p:nvPr/>
        </p:nvSpPr>
        <p:spPr>
          <a:xfrm>
            <a:off x="2255824" y="2962656"/>
            <a:ext cx="347472" cy="347472"/>
          </a:xfrm>
          <a:prstGeom prst="ellipse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5824" y="2980944"/>
            <a:ext cx="347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3024" y="2944368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46325A"/>
                </a:solidFill>
                <a:latin typeface="Microsoft YaHei"/>
              </a:rPr>
              <a:t>评价：投「发现卡」——最有依据 / 最有新意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final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final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84048"/>
            <a:ext cx="2011680" cy="384048"/>
          </a:xfrm>
          <a:prstGeom prst="round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02336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总结笔记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5096"/>
                </a:solidFill>
                <a:latin typeface="Microsoft YaHei"/>
              </a:rPr>
              <a:t>单元回顾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7104" y="1143000"/>
            <a:ext cx="10058400" cy="3721608"/>
          </a:xfrm>
          <a:prstGeom prst="roundRect">
            <a:avLst/>
          </a:prstGeom>
          <a:solidFill>
            <a:srgbClr val="FFFCEB"/>
          </a:solidFill>
          <a:ln w="25400">
            <a:solidFill>
              <a:srgbClr val="B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7104" y="1143000"/>
            <a:ext cx="10058400" cy="384048"/>
          </a:xfrm>
          <a:prstGeom prst="rect">
            <a:avLst/>
          </a:prstGeom>
          <a:solidFill>
            <a:srgbClr val="E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" y="1179576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📝  课堂笔记  —  请摘抄要点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024" y="1527048"/>
            <a:ext cx="27432" cy="3337560"/>
          </a:xfrm>
          <a:prstGeom prst="rect">
            <a:avLst/>
          </a:prstGeom>
          <a:solidFill>
            <a:srgbClr val="DC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2276856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00200" y="1627632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1645920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母题链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1627632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自由→真实→创造→智慧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081527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00200" y="2432303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450591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核心领悟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2432303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想象必须扎根于真实，飞得再高也要落回地面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00200" y="3236976"/>
            <a:ext cx="1444752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255264"/>
            <a:ext cx="144475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单元作业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236976"/>
            <a:ext cx="73334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600字想象作文，或5分钟课本剧脚本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4690872"/>
            <a:ext cx="9601200" cy="13716"/>
          </a:xfrm>
          <a:prstGeom prst="rect">
            <a:avLst/>
          </a:prstGeom>
          <a:solidFill>
            <a:srgbClr val="D2C8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0200" y="4041648"/>
            <a:ext cx="1280160" cy="347472"/>
          </a:xfrm>
          <a:prstGeom prst="roundRect">
            <a:avLst/>
          </a:prstGeom>
          <a:solidFill>
            <a:srgbClr val="64C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059936"/>
            <a:ext cx="12801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46325A"/>
                </a:solidFill>
                <a:latin typeface="Microsoft YaHei"/>
              </a:rPr>
              <a:t>要求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04164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>
                <a:solidFill>
                  <a:srgbClr val="46325A"/>
                </a:solidFill>
                <a:latin typeface="Microsoft YaHei"/>
              </a:rPr>
              <a:t>有依据、合逻辑、有新意，体现策展主题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