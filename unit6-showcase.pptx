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inal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inal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329184"/>
            <a:ext cx="11484864" cy="6190488"/>
          </a:xfrm>
          <a:prstGeom prst="rect">
            <a:avLst/>
          </a:prstGeom>
          <a:noFill/>
          <a:ln w="12700">
            <a:solidFill>
              <a:srgbClr val="6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9418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5200" b="1">
                <a:solidFill>
                  <a:srgbClr val="E65096"/>
                </a:solidFill>
                <a:latin typeface="Microsoft YaHei"/>
              </a:rPr>
              <a:t>想象力博物馆</a:t>
            </a:r>
          </a:p>
          <a:p>
            <a:pPr algn="ctr">
              <a:spcAft>
                <a:spcPts val="1000"/>
              </a:spcAft>
            </a:pPr>
            <a:r>
              <a:rPr sz="2600" b="0">
                <a:solidFill>
                  <a:srgbClr val="46325A"/>
                </a:solidFill>
                <a:latin typeface="Microsoft YaHei"/>
              </a:rPr>
              <a:t>第六单元学历案 · 成果展示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5029200"/>
            <a:ext cx="5760720" cy="27432"/>
          </a:xfrm>
          <a:prstGeom prst="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inal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inal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6325A"/>
                </a:solidFill>
                <a:latin typeface="Microsoft YaHei"/>
              </a:rPr>
              <a:t>比较笔记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05156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E65096"/>
                </a:solidFill>
                <a:latin typeface="Microsoft YaHei"/>
              </a:rPr>
              <a:t>四类文本比较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91640"/>
            <a:ext cx="5760720" cy="27432"/>
          </a:xfrm>
          <a:prstGeom prst="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49984" y="1810512"/>
            <a:ext cx="9692640" cy="3319272"/>
          </a:xfrm>
          <a:prstGeom prst="roundRect">
            <a:avLst/>
          </a:prstGeom>
          <a:solidFill>
            <a:srgbClr val="FFFAFF"/>
          </a:solidFill>
          <a:ln w="19050">
            <a:solidFill>
              <a:srgbClr val="6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192024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E65096"/>
                </a:solidFill>
                <a:latin typeface="Microsoft YaHei"/>
              </a:rPr>
              <a:t>神魔小说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920240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46325A"/>
                </a:solidFill>
                <a:latin typeface="Microsoft YaHei"/>
              </a:rPr>
              <a:t>想象依据：相克逻辑；表现：连续变化；意味：人情世故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70048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E65096"/>
                </a:solidFill>
                <a:latin typeface="Microsoft YaHei"/>
              </a:rPr>
              <a:t>童话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670048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46325A"/>
                </a:solidFill>
                <a:latin typeface="Microsoft YaHei"/>
              </a:rPr>
              <a:t>想象依据：生活经验；表现：夸张反讽；意味：照见人性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19856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E65096"/>
                </a:solidFill>
                <a:latin typeface="Microsoft YaHei"/>
              </a:rPr>
              <a:t>神话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419856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46325A"/>
                </a:solidFill>
                <a:latin typeface="Microsoft YaHei"/>
              </a:rPr>
              <a:t>想象依据：古籍传说；表现：创世画面；意味：礼赞生命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169664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E65096"/>
                </a:solidFill>
                <a:latin typeface="Microsoft YaHei"/>
              </a:rPr>
              <a:t>寓言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169664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46325A"/>
                </a:solidFill>
                <a:latin typeface="Microsoft YaHei"/>
              </a:rPr>
              <a:t>想象依据：生活现象；表现：拟人故事；意味：警醒智慧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inal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inal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6325A"/>
                </a:solidFill>
                <a:latin typeface="Microsoft YaHei"/>
              </a:rPr>
              <a:t>写作笔记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05156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E65096"/>
                </a:solidFill>
                <a:latin typeface="Microsoft YaHei"/>
              </a:rPr>
              <a:t>联想与想象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91640"/>
            <a:ext cx="5760720" cy="27432"/>
          </a:xfrm>
          <a:prstGeom prst="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49984" y="1810512"/>
            <a:ext cx="9692640" cy="3319272"/>
          </a:xfrm>
          <a:prstGeom prst="roundRect">
            <a:avLst/>
          </a:prstGeom>
          <a:solidFill>
            <a:srgbClr val="FFFAFF"/>
          </a:solidFill>
          <a:ln w="19050">
            <a:solidFill>
              <a:srgbClr val="6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192024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E65096"/>
                </a:solidFill>
                <a:latin typeface="Microsoft YaHei"/>
              </a:rPr>
              <a:t>联想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920240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46325A"/>
                </a:solidFill>
                <a:latin typeface="Microsoft YaHei"/>
              </a:rPr>
              <a:t>由一事物想到另一事物（街灯→明星，因形状相似）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70048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E65096"/>
                </a:solidFill>
                <a:latin typeface="Microsoft YaHei"/>
              </a:rPr>
              <a:t>想象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670048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46325A"/>
                </a:solidFill>
                <a:latin typeface="Microsoft YaHei"/>
              </a:rPr>
              <a:t>在已有材料上创造新形象（天上的街市、牛郎织女骑牛）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19856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E65096"/>
                </a:solidFill>
                <a:latin typeface="Microsoft YaHei"/>
              </a:rPr>
              <a:t>写作要求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419856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46325A"/>
                </a:solidFill>
                <a:latin typeface="Microsoft YaHei"/>
              </a:rPr>
              <a:t>有依据、合逻辑、有新意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169664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E65096"/>
                </a:solidFill>
                <a:latin typeface="Microsoft YaHei"/>
              </a:rPr>
              <a:t>创作路径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169664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46325A"/>
                </a:solidFill>
                <a:latin typeface="Microsoft YaHei"/>
              </a:rPr>
              <a:t>触发点→联想链→情节转折→表达主题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inal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inal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6325A"/>
                </a:solidFill>
                <a:latin typeface="Microsoft YaHei"/>
              </a:rPr>
              <a:t>策展笔记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05156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E65096"/>
                </a:solidFill>
                <a:latin typeface="Microsoft YaHei"/>
              </a:rPr>
              <a:t>想象说明卡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91640"/>
            <a:ext cx="5760720" cy="27432"/>
          </a:xfrm>
          <a:prstGeom prst="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49984" y="1810512"/>
            <a:ext cx="9692640" cy="3319272"/>
          </a:xfrm>
          <a:prstGeom prst="roundRect">
            <a:avLst/>
          </a:prstGeom>
          <a:solidFill>
            <a:srgbClr val="FFFAFF"/>
          </a:solidFill>
          <a:ln w="19050">
            <a:solidFill>
              <a:srgbClr val="6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192024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E65096"/>
                </a:solidFill>
                <a:latin typeface="Microsoft YaHei"/>
              </a:rPr>
              <a:t>文本片段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920240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46325A"/>
                </a:solidFill>
                <a:latin typeface="Microsoft YaHei"/>
              </a:rPr>
              <a:t>从本单元选一个精彩片段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70048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E65096"/>
                </a:solidFill>
                <a:latin typeface="Microsoft YaHei"/>
              </a:rPr>
              <a:t>想象依据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670048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46325A"/>
                </a:solidFill>
                <a:latin typeface="Microsoft YaHei"/>
              </a:rPr>
              <a:t>它从什么现实经验或材料出发？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19856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E65096"/>
                </a:solidFill>
                <a:latin typeface="Microsoft YaHei"/>
              </a:rPr>
              <a:t>表现方式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419856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46325A"/>
                </a:solidFill>
                <a:latin typeface="Microsoft YaHei"/>
              </a:rPr>
              <a:t>用了什么手法？（变化/夸张/改写/拟人）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169664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E65096"/>
                </a:solidFill>
                <a:latin typeface="Microsoft YaHei"/>
              </a:rPr>
              <a:t>现实意味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169664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46325A"/>
                </a:solidFill>
                <a:latin typeface="Microsoft YaHei"/>
              </a:rPr>
              <a:t>照见了怎样的生活道理？（联系策展主题）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inal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inal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6325A"/>
                </a:solidFill>
                <a:latin typeface="Microsoft YaHei"/>
              </a:rPr>
              <a:t>展示活动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05156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E65096"/>
                </a:solidFill>
                <a:latin typeface="Microsoft YaHei"/>
              </a:rPr>
              <a:t>成果展示要求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91640"/>
            <a:ext cx="5760720" cy="27432"/>
          </a:xfrm>
          <a:prstGeom prst="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95704" y="1737360"/>
            <a:ext cx="9601200" cy="2112264"/>
          </a:xfrm>
          <a:prstGeom prst="roundRect">
            <a:avLst/>
          </a:prstGeom>
          <a:solidFill>
            <a:srgbClr val="FFFAFF"/>
          </a:solidFill>
          <a:ln w="19050">
            <a:solidFill>
              <a:srgbClr val="6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21584" y="1920240"/>
            <a:ext cx="347472" cy="347472"/>
          </a:xfrm>
          <a:prstGeom prst="ellipse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1584" y="1938528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8784" y="1901952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46325A"/>
                </a:solidFill>
                <a:latin typeface="Microsoft YaHei"/>
              </a:rPr>
              <a:t>布展：说明卡+创作作品，附「请看我如何从文本出发」</a:t>
            </a:r>
          </a:p>
        </p:txBody>
      </p:sp>
      <p:sp>
        <p:nvSpPr>
          <p:cNvPr id="14" name="Oval 13"/>
          <p:cNvSpPr/>
          <p:nvPr/>
        </p:nvSpPr>
        <p:spPr>
          <a:xfrm>
            <a:off x="2621584" y="2487168"/>
            <a:ext cx="347472" cy="347472"/>
          </a:xfrm>
          <a:prstGeom prst="ellipse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21584" y="2505456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8784" y="24688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46325A"/>
                </a:solidFill>
                <a:latin typeface="Microsoft YaHei"/>
              </a:rPr>
              <a:t>讲解：30秒依据+60秒亮点+30秒思考</a:t>
            </a:r>
          </a:p>
        </p:txBody>
      </p:sp>
      <p:sp>
        <p:nvSpPr>
          <p:cNvPr id="17" name="Oval 16"/>
          <p:cNvSpPr/>
          <p:nvPr/>
        </p:nvSpPr>
        <p:spPr>
          <a:xfrm>
            <a:off x="2621584" y="3054096"/>
            <a:ext cx="347472" cy="347472"/>
          </a:xfrm>
          <a:prstGeom prst="ellipse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21584" y="3072384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8784" y="303580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46325A"/>
                </a:solidFill>
                <a:latin typeface="Microsoft YaHei"/>
              </a:rPr>
              <a:t>评价：投「发现卡」——最有依据 / 最有新意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inal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inal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6325A"/>
                </a:solidFill>
                <a:latin typeface="Microsoft YaHei"/>
              </a:rPr>
              <a:t>总结笔记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05156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E65096"/>
                </a:solidFill>
                <a:latin typeface="Microsoft YaHei"/>
              </a:rPr>
              <a:t>单元回顾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91640"/>
            <a:ext cx="5760720" cy="27432"/>
          </a:xfrm>
          <a:prstGeom prst="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49984" y="1810512"/>
            <a:ext cx="9692640" cy="3319272"/>
          </a:xfrm>
          <a:prstGeom prst="roundRect">
            <a:avLst/>
          </a:prstGeom>
          <a:solidFill>
            <a:srgbClr val="FFFAFF"/>
          </a:solidFill>
          <a:ln w="19050">
            <a:solidFill>
              <a:srgbClr val="6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192024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E65096"/>
                </a:solidFill>
                <a:latin typeface="Microsoft YaHei"/>
              </a:rPr>
              <a:t>母题链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920240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46325A"/>
                </a:solidFill>
                <a:latin typeface="Microsoft YaHei"/>
              </a:rPr>
              <a:t>自由→真实→创造→智慧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70048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E65096"/>
                </a:solidFill>
                <a:latin typeface="Microsoft YaHei"/>
              </a:rPr>
              <a:t>核心领悟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670048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46325A"/>
                </a:solidFill>
                <a:latin typeface="Microsoft YaHei"/>
              </a:rPr>
              <a:t>想象必须扎根于真实，飞得再高也要落回地面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19856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E65096"/>
                </a:solidFill>
                <a:latin typeface="Microsoft YaHei"/>
              </a:rPr>
              <a:t>单元作业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419856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46325A"/>
                </a:solidFill>
                <a:latin typeface="Microsoft YaHei"/>
              </a:rPr>
              <a:t>600字想象作文，或5分钟课本剧脚本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169664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E65096"/>
                </a:solidFill>
                <a:latin typeface="Microsoft YaHei"/>
              </a:rPr>
              <a:t>要求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169664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46325A"/>
                </a:solidFill>
                <a:latin typeface="Microsoft YaHei"/>
              </a:rPr>
              <a:t>有依据、合逻辑、有新意，体现策展主题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