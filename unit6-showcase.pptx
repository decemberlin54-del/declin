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h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25400">
            <a:solidFill>
              <a:srgbClr val="784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0" y="1371600"/>
            <a:ext cx="1371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8000" b="1">
                <a:solidFill>
                  <a:srgbClr val="784696"/>
                </a:solidFill>
                <a:latin typeface="Microsoft YaHei"/>
              </a:rPr>
              <a:t>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0" y="1371600"/>
            <a:ext cx="1371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8000" b="1">
                <a:solidFill>
                  <a:srgbClr val="784696"/>
                </a:solidFill>
                <a:latin typeface="Microsoft YaHei"/>
              </a:rPr>
              <a:t>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0" y="1371600"/>
            <a:ext cx="1371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8000" b="1">
                <a:solidFill>
                  <a:srgbClr val="784696"/>
                </a:solidFill>
                <a:latin typeface="Microsoft YaHei"/>
              </a:rPr>
              <a:t>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4114800"/>
            <a:ext cx="5760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2800" b="0">
                <a:solidFill>
                  <a:srgbClr val="321E46"/>
                </a:solidFill>
                <a:latin typeface="Microsoft YaHei"/>
              </a:rPr>
              <a:t>第七单元学历案 · 成果展示</a:t>
            </a:r>
          </a:p>
        </p:txBody>
      </p:sp>
      <p:sp>
        <p:nvSpPr>
          <p:cNvPr id="8" name="Oval 7"/>
          <p:cNvSpPr/>
          <p:nvPr/>
        </p:nvSpPr>
        <p:spPr>
          <a:xfrm>
            <a:off x="1645920" y="5029200"/>
            <a:ext cx="411480" cy="411480"/>
          </a:xfrm>
          <a:prstGeom prst="ellipse">
            <a:avLst/>
          </a:prstGeom>
          <a:solidFill>
            <a:srgbClr val="E66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0" y="5056632"/>
            <a:ext cx="411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48840" y="5010912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>
                <a:solidFill>
                  <a:srgbClr val="321E46"/>
                </a:solidFill>
                <a:latin typeface="Microsoft YaHei"/>
              </a:rPr>
              <a:t>《小圣施威降大圣》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0" y="5029200"/>
            <a:ext cx="411480" cy="411480"/>
          </a:xfrm>
          <a:prstGeom prst="ellipse">
            <a:avLst/>
          </a:prstGeom>
          <a:solidFill>
            <a:srgbClr val="E66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5056632"/>
            <a:ext cx="411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03720" y="5010912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>
                <a:solidFill>
                  <a:srgbClr val="321E46"/>
                </a:solidFill>
                <a:latin typeface="Microsoft YaHei"/>
              </a:rPr>
              <a:t>《皇帝的新装》</a:t>
            </a:r>
          </a:p>
        </p:txBody>
      </p:sp>
      <p:sp>
        <p:nvSpPr>
          <p:cNvPr id="14" name="Oval 13"/>
          <p:cNvSpPr/>
          <p:nvPr/>
        </p:nvSpPr>
        <p:spPr>
          <a:xfrm>
            <a:off x="1645920" y="5760720"/>
            <a:ext cx="411480" cy="411480"/>
          </a:xfrm>
          <a:prstGeom prst="ellipse">
            <a:avLst/>
          </a:prstGeom>
          <a:solidFill>
            <a:srgbClr val="E66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45920" y="5788152"/>
            <a:ext cx="411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48840" y="5742432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>
                <a:solidFill>
                  <a:srgbClr val="321E46"/>
                </a:solidFill>
                <a:latin typeface="Microsoft YaHei"/>
              </a:rPr>
              <a:t>《女娲造人》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0" y="5760720"/>
            <a:ext cx="411480" cy="411480"/>
          </a:xfrm>
          <a:prstGeom prst="ellipse">
            <a:avLst/>
          </a:prstGeom>
          <a:solidFill>
            <a:srgbClr val="E66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5788152"/>
            <a:ext cx="411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5742432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>
                <a:solidFill>
                  <a:srgbClr val="321E46"/>
                </a:solidFill>
                <a:latin typeface="Microsoft YaHei"/>
              </a:rPr>
              <a:t>《寓言四则》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h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25400">
            <a:solidFill>
              <a:srgbClr val="784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0" y="548640"/>
            <a:ext cx="6675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3800" b="1">
                <a:solidFill>
                  <a:srgbClr val="784696"/>
                </a:solidFill>
                <a:latin typeface="Microsoft YaHei"/>
              </a:rPr>
              <a:t>单元母题链</a:t>
            </a:r>
          </a:p>
        </p:txBody>
      </p:sp>
      <p:sp>
        <p:nvSpPr>
          <p:cNvPr id="5" name="Oval 4"/>
          <p:cNvSpPr/>
          <p:nvPr/>
        </p:nvSpPr>
        <p:spPr>
          <a:xfrm>
            <a:off x="1371600" y="1463040"/>
            <a:ext cx="384048" cy="384048"/>
          </a:xfrm>
          <a:prstGeom prst="ellipse">
            <a:avLst/>
          </a:prstGeom>
          <a:solidFill>
            <a:srgbClr val="E66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384048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444752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1">
                <a:solidFill>
                  <a:srgbClr val="784696"/>
                </a:solidFill>
                <a:latin typeface="Microsoft YaHei"/>
              </a:rPr>
              <a:t>单元母题：</a:t>
            </a:r>
            <a:r>
              <a:rPr sz="2400" b="0">
                <a:solidFill>
                  <a:srgbClr val="321E46"/>
                </a:solidFill>
                <a:latin typeface="Microsoft YaHei"/>
              </a:rPr>
              <a:t>想象与真实</a:t>
            </a:r>
          </a:p>
        </p:txBody>
      </p:sp>
      <p:sp>
        <p:nvSpPr>
          <p:cNvPr id="8" name="Oval 7"/>
          <p:cNvSpPr/>
          <p:nvPr/>
        </p:nvSpPr>
        <p:spPr>
          <a:xfrm>
            <a:off x="1371600" y="2148840"/>
            <a:ext cx="384048" cy="384048"/>
          </a:xfrm>
          <a:prstGeom prst="ellipse">
            <a:avLst/>
          </a:prstGeom>
          <a:solidFill>
            <a:srgbClr val="E66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167128"/>
            <a:ext cx="384048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30552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1">
                <a:solidFill>
                  <a:srgbClr val="784696"/>
                </a:solidFill>
                <a:latin typeface="Microsoft YaHei"/>
              </a:rPr>
              <a:t>自由与规则：</a:t>
            </a:r>
            <a:r>
              <a:rPr sz="2400" b="0">
                <a:solidFill>
                  <a:srgbClr val="321E46"/>
                </a:solidFill>
                <a:latin typeface="Microsoft YaHei"/>
              </a:rPr>
              <a:t>《小圣施威降大圣》</a:t>
            </a:r>
          </a:p>
        </p:txBody>
      </p:sp>
      <p:sp>
        <p:nvSpPr>
          <p:cNvPr id="11" name="Oval 10"/>
          <p:cNvSpPr/>
          <p:nvPr/>
        </p:nvSpPr>
        <p:spPr>
          <a:xfrm>
            <a:off x="1371600" y="2834640"/>
            <a:ext cx="384048" cy="384048"/>
          </a:xfrm>
          <a:prstGeom prst="ellipse">
            <a:avLst/>
          </a:prstGeom>
          <a:solidFill>
            <a:srgbClr val="E66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2852928"/>
            <a:ext cx="384048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2816352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1">
                <a:solidFill>
                  <a:srgbClr val="784696"/>
                </a:solidFill>
                <a:latin typeface="Microsoft YaHei"/>
              </a:rPr>
              <a:t>真实与虚假：</a:t>
            </a:r>
            <a:r>
              <a:rPr sz="2400" b="0">
                <a:solidFill>
                  <a:srgbClr val="321E46"/>
                </a:solidFill>
                <a:latin typeface="Microsoft YaHei"/>
              </a:rPr>
              <a:t>《皇帝的新装》</a:t>
            </a:r>
          </a:p>
        </p:txBody>
      </p:sp>
      <p:sp>
        <p:nvSpPr>
          <p:cNvPr id="14" name="Oval 13"/>
          <p:cNvSpPr/>
          <p:nvPr/>
        </p:nvSpPr>
        <p:spPr>
          <a:xfrm>
            <a:off x="1371600" y="3520440"/>
            <a:ext cx="384048" cy="384048"/>
          </a:xfrm>
          <a:prstGeom prst="ellipse">
            <a:avLst/>
          </a:prstGeom>
          <a:solidFill>
            <a:srgbClr val="E66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3538728"/>
            <a:ext cx="384048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3502152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1">
                <a:solidFill>
                  <a:srgbClr val="784696"/>
                </a:solidFill>
                <a:latin typeface="Microsoft YaHei"/>
              </a:rPr>
              <a:t>创造与生命：</a:t>
            </a:r>
            <a:r>
              <a:rPr sz="2400" b="0">
                <a:solidFill>
                  <a:srgbClr val="321E46"/>
                </a:solidFill>
                <a:latin typeface="Microsoft YaHei"/>
              </a:rPr>
              <a:t>《女娲造人》</a:t>
            </a:r>
          </a:p>
        </p:txBody>
      </p:sp>
      <p:sp>
        <p:nvSpPr>
          <p:cNvPr id="17" name="Oval 16"/>
          <p:cNvSpPr/>
          <p:nvPr/>
        </p:nvSpPr>
        <p:spPr>
          <a:xfrm>
            <a:off x="1371600" y="4206240"/>
            <a:ext cx="384048" cy="384048"/>
          </a:xfrm>
          <a:prstGeom prst="ellipse">
            <a:avLst/>
          </a:prstGeom>
          <a:solidFill>
            <a:srgbClr val="E66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4224527"/>
            <a:ext cx="384048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20240" y="4187952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1">
                <a:solidFill>
                  <a:srgbClr val="784696"/>
                </a:solidFill>
                <a:latin typeface="Microsoft YaHei"/>
              </a:rPr>
              <a:t>智慧与局限：</a:t>
            </a:r>
            <a:r>
              <a:rPr sz="2400" b="0">
                <a:solidFill>
                  <a:srgbClr val="321E46"/>
                </a:solidFill>
                <a:latin typeface="Microsoft YaHei"/>
              </a:rPr>
              <a:t>《寓言四则》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h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25400">
            <a:solidFill>
              <a:srgbClr val="784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0" y="548640"/>
            <a:ext cx="6675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3800" b="1">
                <a:solidFill>
                  <a:srgbClr val="784696"/>
                </a:solidFill>
                <a:latin typeface="Microsoft YaHei"/>
              </a:rPr>
              <a:t>四类文本比较</a:t>
            </a:r>
          </a:p>
        </p:txBody>
      </p:sp>
      <p:sp>
        <p:nvSpPr>
          <p:cNvPr id="5" name="Oval 4"/>
          <p:cNvSpPr/>
          <p:nvPr/>
        </p:nvSpPr>
        <p:spPr>
          <a:xfrm>
            <a:off x="1371600" y="1463040"/>
            <a:ext cx="384048" cy="384048"/>
          </a:xfrm>
          <a:prstGeom prst="ellipse">
            <a:avLst/>
          </a:prstGeom>
          <a:solidFill>
            <a:srgbClr val="E66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384048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444752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1">
                <a:solidFill>
                  <a:srgbClr val="784696"/>
                </a:solidFill>
                <a:latin typeface="Microsoft YaHei"/>
              </a:rPr>
              <a:t>神魔小说：</a:t>
            </a:r>
            <a:r>
              <a:rPr sz="2400" b="0">
                <a:solidFill>
                  <a:srgbClr val="321E46"/>
                </a:solidFill>
                <a:latin typeface="Microsoft YaHei"/>
              </a:rPr>
              <a:t>想象依据：相克逻辑；表现：连续变化</a:t>
            </a:r>
          </a:p>
        </p:txBody>
      </p:sp>
      <p:sp>
        <p:nvSpPr>
          <p:cNvPr id="8" name="Oval 7"/>
          <p:cNvSpPr/>
          <p:nvPr/>
        </p:nvSpPr>
        <p:spPr>
          <a:xfrm>
            <a:off x="1371600" y="2148840"/>
            <a:ext cx="384048" cy="384048"/>
          </a:xfrm>
          <a:prstGeom prst="ellipse">
            <a:avLst/>
          </a:prstGeom>
          <a:solidFill>
            <a:srgbClr val="E66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167128"/>
            <a:ext cx="384048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30552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1">
                <a:solidFill>
                  <a:srgbClr val="784696"/>
                </a:solidFill>
                <a:latin typeface="Microsoft YaHei"/>
              </a:rPr>
              <a:t>童话：</a:t>
            </a:r>
            <a:r>
              <a:rPr sz="2400" b="0">
                <a:solidFill>
                  <a:srgbClr val="321E46"/>
                </a:solidFill>
                <a:latin typeface="Microsoft YaHei"/>
              </a:rPr>
              <a:t>想象依据：生活经验；表现：夸张反讽</a:t>
            </a:r>
          </a:p>
        </p:txBody>
      </p:sp>
      <p:sp>
        <p:nvSpPr>
          <p:cNvPr id="11" name="Oval 10"/>
          <p:cNvSpPr/>
          <p:nvPr/>
        </p:nvSpPr>
        <p:spPr>
          <a:xfrm>
            <a:off x="1371600" y="2834640"/>
            <a:ext cx="384048" cy="384048"/>
          </a:xfrm>
          <a:prstGeom prst="ellipse">
            <a:avLst/>
          </a:prstGeom>
          <a:solidFill>
            <a:srgbClr val="E66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2852928"/>
            <a:ext cx="384048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2816352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1">
                <a:solidFill>
                  <a:srgbClr val="784696"/>
                </a:solidFill>
                <a:latin typeface="Microsoft YaHei"/>
              </a:rPr>
              <a:t>神话：</a:t>
            </a:r>
            <a:r>
              <a:rPr sz="2400" b="0">
                <a:solidFill>
                  <a:srgbClr val="321E46"/>
                </a:solidFill>
                <a:latin typeface="Microsoft YaHei"/>
              </a:rPr>
              <a:t>想象依据：古籍传说；表现：创世画面</a:t>
            </a:r>
          </a:p>
        </p:txBody>
      </p:sp>
      <p:sp>
        <p:nvSpPr>
          <p:cNvPr id="14" name="Oval 13"/>
          <p:cNvSpPr/>
          <p:nvPr/>
        </p:nvSpPr>
        <p:spPr>
          <a:xfrm>
            <a:off x="1371600" y="3520440"/>
            <a:ext cx="384048" cy="384048"/>
          </a:xfrm>
          <a:prstGeom prst="ellipse">
            <a:avLst/>
          </a:prstGeom>
          <a:solidFill>
            <a:srgbClr val="E66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3538728"/>
            <a:ext cx="384048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3502152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1">
                <a:solidFill>
                  <a:srgbClr val="784696"/>
                </a:solidFill>
                <a:latin typeface="Microsoft YaHei"/>
              </a:rPr>
              <a:t>寓言：</a:t>
            </a:r>
            <a:r>
              <a:rPr sz="2400" b="0">
                <a:solidFill>
                  <a:srgbClr val="321E46"/>
                </a:solidFill>
                <a:latin typeface="Microsoft YaHei"/>
              </a:rPr>
              <a:t>想象依据：生活现象；表现：拟人故事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h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25400">
            <a:solidFill>
              <a:srgbClr val="784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0" y="548640"/>
            <a:ext cx="6675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3800" b="1">
                <a:solidFill>
                  <a:srgbClr val="784696"/>
                </a:solidFill>
                <a:latin typeface="Microsoft YaHei"/>
              </a:rPr>
              <a:t>联想与想象</a:t>
            </a:r>
          </a:p>
        </p:txBody>
      </p:sp>
      <p:sp>
        <p:nvSpPr>
          <p:cNvPr id="5" name="Oval 4"/>
          <p:cNvSpPr/>
          <p:nvPr/>
        </p:nvSpPr>
        <p:spPr>
          <a:xfrm>
            <a:off x="1371600" y="1463040"/>
            <a:ext cx="384048" cy="384048"/>
          </a:xfrm>
          <a:prstGeom prst="ellipse">
            <a:avLst/>
          </a:prstGeom>
          <a:solidFill>
            <a:srgbClr val="E66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384048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444752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1">
                <a:solidFill>
                  <a:srgbClr val="784696"/>
                </a:solidFill>
                <a:latin typeface="Microsoft YaHei"/>
              </a:rPr>
              <a:t>联想：</a:t>
            </a:r>
            <a:r>
              <a:rPr sz="2400" b="0">
                <a:solidFill>
                  <a:srgbClr val="321E46"/>
                </a:solidFill>
                <a:latin typeface="Microsoft YaHei"/>
              </a:rPr>
              <a:t>由一事物想到另一事物（街灯→明星）</a:t>
            </a:r>
          </a:p>
        </p:txBody>
      </p:sp>
      <p:sp>
        <p:nvSpPr>
          <p:cNvPr id="8" name="Oval 7"/>
          <p:cNvSpPr/>
          <p:nvPr/>
        </p:nvSpPr>
        <p:spPr>
          <a:xfrm>
            <a:off x="1371600" y="2148840"/>
            <a:ext cx="384048" cy="384048"/>
          </a:xfrm>
          <a:prstGeom prst="ellipse">
            <a:avLst/>
          </a:prstGeom>
          <a:solidFill>
            <a:srgbClr val="E66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167128"/>
            <a:ext cx="384048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30552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1">
                <a:solidFill>
                  <a:srgbClr val="784696"/>
                </a:solidFill>
                <a:latin typeface="Microsoft YaHei"/>
              </a:rPr>
              <a:t>想象：</a:t>
            </a:r>
            <a:r>
              <a:rPr sz="2400" b="0">
                <a:solidFill>
                  <a:srgbClr val="321E46"/>
                </a:solidFill>
                <a:latin typeface="Microsoft YaHei"/>
              </a:rPr>
              <a:t>在已有材料上创造新形象（天上的街市）</a:t>
            </a:r>
          </a:p>
        </p:txBody>
      </p:sp>
      <p:sp>
        <p:nvSpPr>
          <p:cNvPr id="11" name="Oval 10"/>
          <p:cNvSpPr/>
          <p:nvPr/>
        </p:nvSpPr>
        <p:spPr>
          <a:xfrm>
            <a:off x="1371600" y="2834640"/>
            <a:ext cx="384048" cy="384048"/>
          </a:xfrm>
          <a:prstGeom prst="ellipse">
            <a:avLst/>
          </a:prstGeom>
          <a:solidFill>
            <a:srgbClr val="E66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2852928"/>
            <a:ext cx="384048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2816352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1">
                <a:solidFill>
                  <a:srgbClr val="784696"/>
                </a:solidFill>
                <a:latin typeface="Microsoft YaHei"/>
              </a:rPr>
              <a:t>写作要求：</a:t>
            </a:r>
            <a:r>
              <a:rPr sz="2400" b="0">
                <a:solidFill>
                  <a:srgbClr val="321E46"/>
                </a:solidFill>
                <a:latin typeface="Microsoft YaHei"/>
              </a:rPr>
              <a:t>有依据、合逻辑、有新意</a:t>
            </a:r>
          </a:p>
        </p:txBody>
      </p:sp>
      <p:sp>
        <p:nvSpPr>
          <p:cNvPr id="14" name="Oval 13"/>
          <p:cNvSpPr/>
          <p:nvPr/>
        </p:nvSpPr>
        <p:spPr>
          <a:xfrm>
            <a:off x="1371600" y="3520440"/>
            <a:ext cx="384048" cy="384048"/>
          </a:xfrm>
          <a:prstGeom prst="ellipse">
            <a:avLst/>
          </a:prstGeom>
          <a:solidFill>
            <a:srgbClr val="E66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3538728"/>
            <a:ext cx="384048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3502152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1">
                <a:solidFill>
                  <a:srgbClr val="784696"/>
                </a:solidFill>
                <a:latin typeface="Microsoft YaHei"/>
              </a:rPr>
              <a:t>创作路径：</a:t>
            </a:r>
            <a:r>
              <a:rPr sz="2400" b="0">
                <a:solidFill>
                  <a:srgbClr val="321E46"/>
                </a:solidFill>
                <a:latin typeface="Microsoft YaHei"/>
              </a:rPr>
              <a:t>触发点→联想链→情节转折→主题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h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25400">
            <a:solidFill>
              <a:srgbClr val="784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0" y="548640"/>
            <a:ext cx="6675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3800" b="1">
                <a:solidFill>
                  <a:srgbClr val="784696"/>
                </a:solidFill>
                <a:latin typeface="Microsoft YaHei"/>
              </a:rPr>
              <a:t>想象说明卡</a:t>
            </a:r>
          </a:p>
        </p:txBody>
      </p:sp>
      <p:sp>
        <p:nvSpPr>
          <p:cNvPr id="5" name="Oval 4"/>
          <p:cNvSpPr/>
          <p:nvPr/>
        </p:nvSpPr>
        <p:spPr>
          <a:xfrm>
            <a:off x="1371600" y="1463040"/>
            <a:ext cx="384048" cy="384048"/>
          </a:xfrm>
          <a:prstGeom prst="ellipse">
            <a:avLst/>
          </a:prstGeom>
          <a:solidFill>
            <a:srgbClr val="E66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384048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444752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1">
                <a:solidFill>
                  <a:srgbClr val="784696"/>
                </a:solidFill>
                <a:latin typeface="Microsoft YaHei"/>
              </a:rPr>
              <a:t>文本片段：</a:t>
            </a:r>
            <a:r>
              <a:rPr sz="2400" b="0">
                <a:solidFill>
                  <a:srgbClr val="321E46"/>
                </a:solidFill>
                <a:latin typeface="Microsoft YaHei"/>
              </a:rPr>
              <a:t>从本单元选一个精彩片段</a:t>
            </a:r>
          </a:p>
        </p:txBody>
      </p:sp>
      <p:sp>
        <p:nvSpPr>
          <p:cNvPr id="8" name="Oval 7"/>
          <p:cNvSpPr/>
          <p:nvPr/>
        </p:nvSpPr>
        <p:spPr>
          <a:xfrm>
            <a:off x="1371600" y="2148840"/>
            <a:ext cx="384048" cy="384048"/>
          </a:xfrm>
          <a:prstGeom prst="ellipse">
            <a:avLst/>
          </a:prstGeom>
          <a:solidFill>
            <a:srgbClr val="E66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167128"/>
            <a:ext cx="384048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30552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1">
                <a:solidFill>
                  <a:srgbClr val="784696"/>
                </a:solidFill>
                <a:latin typeface="Microsoft YaHei"/>
              </a:rPr>
              <a:t>想象依据：</a:t>
            </a:r>
            <a:r>
              <a:rPr sz="2400" b="0">
                <a:solidFill>
                  <a:srgbClr val="321E46"/>
                </a:solidFill>
                <a:latin typeface="Microsoft YaHei"/>
              </a:rPr>
              <a:t>从什么现实经验或材料出发？</a:t>
            </a:r>
          </a:p>
        </p:txBody>
      </p:sp>
      <p:sp>
        <p:nvSpPr>
          <p:cNvPr id="11" name="Oval 10"/>
          <p:cNvSpPr/>
          <p:nvPr/>
        </p:nvSpPr>
        <p:spPr>
          <a:xfrm>
            <a:off x="1371600" y="2834640"/>
            <a:ext cx="384048" cy="384048"/>
          </a:xfrm>
          <a:prstGeom prst="ellipse">
            <a:avLst/>
          </a:prstGeom>
          <a:solidFill>
            <a:srgbClr val="E66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2852928"/>
            <a:ext cx="384048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2816352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1">
                <a:solidFill>
                  <a:srgbClr val="784696"/>
                </a:solidFill>
                <a:latin typeface="Microsoft YaHei"/>
              </a:rPr>
              <a:t>表现方式：</a:t>
            </a:r>
            <a:r>
              <a:rPr sz="2400" b="0">
                <a:solidFill>
                  <a:srgbClr val="321E46"/>
                </a:solidFill>
                <a:latin typeface="Microsoft YaHei"/>
              </a:rPr>
              <a:t>用了什么手法？神奇之处在哪？</a:t>
            </a:r>
          </a:p>
        </p:txBody>
      </p:sp>
      <p:sp>
        <p:nvSpPr>
          <p:cNvPr id="14" name="Oval 13"/>
          <p:cNvSpPr/>
          <p:nvPr/>
        </p:nvSpPr>
        <p:spPr>
          <a:xfrm>
            <a:off x="1371600" y="3520440"/>
            <a:ext cx="384048" cy="384048"/>
          </a:xfrm>
          <a:prstGeom prst="ellipse">
            <a:avLst/>
          </a:prstGeom>
          <a:solidFill>
            <a:srgbClr val="E66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3538728"/>
            <a:ext cx="384048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3502152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1">
                <a:solidFill>
                  <a:srgbClr val="784696"/>
                </a:solidFill>
                <a:latin typeface="Microsoft YaHei"/>
              </a:rPr>
              <a:t>现实意味：</a:t>
            </a:r>
            <a:r>
              <a:rPr sz="2400" b="0">
                <a:solidFill>
                  <a:srgbClr val="321E46"/>
                </a:solidFill>
                <a:latin typeface="Microsoft YaHei"/>
              </a:rPr>
              <a:t>照见了怎样的生活道理？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h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25400">
            <a:solidFill>
              <a:srgbClr val="784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0" y="548640"/>
            <a:ext cx="6675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3800" b="1">
                <a:solidFill>
                  <a:srgbClr val="784696"/>
                </a:solidFill>
                <a:latin typeface="Microsoft YaHei"/>
              </a:rPr>
              <a:t>成果展示要求</a:t>
            </a:r>
          </a:p>
        </p:txBody>
      </p:sp>
      <p:sp>
        <p:nvSpPr>
          <p:cNvPr id="5" name="Oval 4"/>
          <p:cNvSpPr/>
          <p:nvPr/>
        </p:nvSpPr>
        <p:spPr>
          <a:xfrm>
            <a:off x="1371600" y="1463040"/>
            <a:ext cx="384048" cy="384048"/>
          </a:xfrm>
          <a:prstGeom prst="ellipse">
            <a:avLst/>
          </a:prstGeom>
          <a:solidFill>
            <a:srgbClr val="E66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384048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444752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21E46"/>
                </a:solidFill>
                <a:latin typeface="Microsoft YaHei"/>
              </a:rPr>
              <a:t>布展：说明卡+创作作品</a:t>
            </a:r>
          </a:p>
        </p:txBody>
      </p:sp>
      <p:sp>
        <p:nvSpPr>
          <p:cNvPr id="8" name="Oval 7"/>
          <p:cNvSpPr/>
          <p:nvPr/>
        </p:nvSpPr>
        <p:spPr>
          <a:xfrm>
            <a:off x="1371600" y="2148840"/>
            <a:ext cx="384048" cy="384048"/>
          </a:xfrm>
          <a:prstGeom prst="ellipse">
            <a:avLst/>
          </a:prstGeom>
          <a:solidFill>
            <a:srgbClr val="E66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167128"/>
            <a:ext cx="384048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30552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21E46"/>
                </a:solidFill>
                <a:latin typeface="Microsoft YaHei"/>
              </a:rPr>
              <a:t>讲解：30秒依据+60秒亮点+30秒思考</a:t>
            </a:r>
          </a:p>
        </p:txBody>
      </p:sp>
      <p:sp>
        <p:nvSpPr>
          <p:cNvPr id="11" name="Oval 10"/>
          <p:cNvSpPr/>
          <p:nvPr/>
        </p:nvSpPr>
        <p:spPr>
          <a:xfrm>
            <a:off x="1371600" y="2834640"/>
            <a:ext cx="384048" cy="384048"/>
          </a:xfrm>
          <a:prstGeom prst="ellipse">
            <a:avLst/>
          </a:prstGeom>
          <a:solidFill>
            <a:srgbClr val="E66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2852928"/>
            <a:ext cx="384048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2816352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21E46"/>
                </a:solidFill>
                <a:latin typeface="Microsoft YaHei"/>
              </a:rPr>
              <a:t>评价：投「发现卡」——最有依据/最有新意</a:t>
            </a:r>
          </a:p>
        </p:txBody>
      </p:sp>
      <p:sp>
        <p:nvSpPr>
          <p:cNvPr id="14" name="Oval 13"/>
          <p:cNvSpPr/>
          <p:nvPr/>
        </p:nvSpPr>
        <p:spPr>
          <a:xfrm>
            <a:off x="1371600" y="3520440"/>
            <a:ext cx="384048" cy="384048"/>
          </a:xfrm>
          <a:prstGeom prst="ellipse">
            <a:avLst/>
          </a:prstGeom>
          <a:solidFill>
            <a:srgbClr val="E66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3538728"/>
            <a:ext cx="384048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3502152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21E46"/>
                </a:solidFill>
                <a:latin typeface="Microsoft YaHei"/>
              </a:rPr>
              <a:t>作业：600字想象作文或5分钟课本剧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