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E65096"/>
                </a:solidFill>
                <a:latin typeface="Microsoft YaHei"/>
              </a:rPr>
              <a:t>想象力博物馆开幕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46325A"/>
                </a:solidFill>
                <a:latin typeface="Microsoft YaHei"/>
              </a:rPr>
              <a:t>第十—十二课时 · 综合·写作·展示</a:t>
            </a:r>
          </a:p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64C8DC"/>
                </a:solidFill>
                <a:latin typeface="Microsoft YaHei"/>
              </a:rPr>
              <a:t>含课堂笔记 · 2026版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比较笔记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E65096"/>
                </a:solidFill>
                <a:latin typeface="Microsoft YaHei"/>
              </a:rPr>
              <a:t>四类文本比较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神魔小说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627632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想象依据：相克逻辑；表现：连续变化；意味：人情世故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童话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想象依据：生活经验；表现：夸张反讽；意味：照见人性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280160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神话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36976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想象依据：古籍传说；表现：创世画面；意味：礼赞生命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寓言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想象依据：生活现象；表现：拟人故事；意味：警醒智慧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写作笔记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E65096"/>
                </a:solidFill>
                <a:latin typeface="Microsoft YaHei"/>
              </a:rPr>
              <a:t>联想与想象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联想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由一事物想到另一事物（街灯→明星，因形状相似）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280160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想象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32303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在已有材料上创造新形象（天上的街市、牛郎织女骑牛）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写作要求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有依据、合逻辑、有新意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创作路径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触发点→联想链→情节转折→表达主题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策展笔记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E65096"/>
                </a:solidFill>
                <a:latin typeface="Microsoft YaHei"/>
              </a:rPr>
              <a:t>想象说明卡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文本片段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627632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从本单元选一个精彩片段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想象依据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2432303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它从什么现实经验或材料出发？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表现方式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用了什么手法？（变化/夸张/改写/拟人）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现实意味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照见了怎样的生活道理？（联系策展主题）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展示活动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E65096"/>
                </a:solidFill>
                <a:latin typeface="Microsoft YaHei"/>
              </a:rPr>
              <a:t>成果展示要求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2112264"/>
          </a:xfrm>
          <a:prstGeom prst="roundRect">
            <a:avLst/>
          </a:prstGeom>
          <a:solidFill>
            <a:srgbClr val="FFFAFF"/>
          </a:solidFill>
          <a:ln w="19050">
            <a:solidFill>
              <a:srgbClr val="6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布展：说明卡+创作作品，附「请看我如何从文本出发」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讲解：30秒依据+60秒亮点+30秒思考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962656"/>
            <a:ext cx="347472" cy="347472"/>
          </a:xfrm>
          <a:prstGeom prst="ellipse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98094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94436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46325A"/>
                </a:solidFill>
                <a:latin typeface="Microsoft YaHei"/>
              </a:rPr>
              <a:t>评价：投「发现卡」——最有依据 / 最有新意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final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final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总结笔记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E65096"/>
                </a:solidFill>
                <a:latin typeface="Microsoft YaHei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B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E6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280160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母题链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627632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自由→真实→创造→智慧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核心领悟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2432303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想象必须扎根于真实，飞得再高也要落回地面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单元作业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600字想象作文，或5分钟课本剧脚本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280160" cy="347472"/>
          </a:xfrm>
          <a:prstGeom prst="roundRect">
            <a:avLst/>
          </a:prstGeom>
          <a:solidFill>
            <a:srgbClr val="64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46325A"/>
                </a:solidFill>
                <a:latin typeface="Microsoft YaHei"/>
              </a:rPr>
              <a:t>要求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041648"/>
            <a:ext cx="74980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46325A"/>
                </a:solidFill>
                <a:latin typeface="Microsoft YaHei"/>
              </a:rPr>
              <a:t>有依据、合逻辑、有新意，体现策展主题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