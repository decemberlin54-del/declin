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emper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274320"/>
            <a:ext cx="11594592" cy="6300216"/>
          </a:xfrm>
          <a:prstGeom prst="rect">
            <a:avLst/>
          </a:prstGeom>
          <a:noFill/>
          <a:ln w="31750">
            <a:solidFill>
              <a:srgbClr val="82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rner_emperor_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" y="-45720"/>
            <a:ext cx="2011680" cy="2011680"/>
          </a:xfrm>
          <a:prstGeom prst="rect">
            <a:avLst/>
          </a:prstGeom>
        </p:spPr>
      </p:pic>
      <p:pic>
        <p:nvPicPr>
          <p:cNvPr id="5" name="Picture 4" descr="corner_emperor_t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-45720"/>
            <a:ext cx="2011680" cy="20116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92608" y="274320"/>
            <a:ext cx="11594592" cy="6300216"/>
          </a:xfrm>
          <a:prstGeom prst="rect">
            <a:avLst/>
          </a:prstGeom>
          <a:noFill/>
          <a:ln w="31750">
            <a:solidFill>
              <a:srgbClr val="82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" y="329184"/>
            <a:ext cx="11484864" cy="6190488"/>
          </a:xfrm>
          <a:prstGeom prst="rect">
            <a:avLst/>
          </a:prstGeom>
          <a:noFill/>
          <a:ln w="12700">
            <a:solidFill>
              <a:srgbClr val="C8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1828800"/>
            <a:ext cx="9418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5200" b="1">
                <a:solidFill>
                  <a:srgbClr val="784696"/>
                </a:solidFill>
                <a:latin typeface="Microsoft YaHei"/>
              </a:rPr>
              <a:t>皇帝的新装</a:t>
            </a:r>
          </a:p>
          <a:p>
            <a:pPr algn="ctr">
              <a:spcAft>
                <a:spcPts val="1000"/>
              </a:spcAft>
            </a:pPr>
            <a:r>
              <a:rPr sz="2600" b="0">
                <a:solidFill>
                  <a:srgbClr val="3C2850"/>
                </a:solidFill>
                <a:latin typeface="Microsoft YaHei"/>
              </a:rPr>
              <a:t>第22课 · 第四、五课时 · 真实与虚假</a:t>
            </a:r>
          </a:p>
          <a:p>
            <a:pPr algn="ctr">
              <a:spcAft>
                <a:spcPts val="1000"/>
              </a:spcAft>
            </a:pPr>
            <a:r>
              <a:rPr sz="2000" b="1">
                <a:solidFill>
                  <a:srgbClr val="C8AADC"/>
                </a:solidFill>
                <a:latin typeface="Microsoft YaHei"/>
              </a:rPr>
              <a:t>含课堂笔记 · 2026版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5029200"/>
            <a:ext cx="5760720" cy="27432"/>
          </a:xfrm>
          <a:prstGeom prst="rect">
            <a:avLst/>
          </a:prstGeom>
          <a:solidFill>
            <a:srgbClr val="C8A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emper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274320"/>
            <a:ext cx="11594592" cy="6300216"/>
          </a:xfrm>
          <a:prstGeom prst="rect">
            <a:avLst/>
          </a:prstGeom>
          <a:noFill/>
          <a:ln w="31750">
            <a:solidFill>
              <a:srgbClr val="82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rner_emperor_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" y="-45720"/>
            <a:ext cx="2011680" cy="2011680"/>
          </a:xfrm>
          <a:prstGeom prst="rect">
            <a:avLst/>
          </a:prstGeom>
        </p:spPr>
      </p:pic>
      <p:pic>
        <p:nvPicPr>
          <p:cNvPr id="5" name="Picture 4" descr="corner_emperor_t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-45720"/>
            <a:ext cx="2011680" cy="2011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384048"/>
            <a:ext cx="2011680" cy="384048"/>
          </a:xfrm>
          <a:prstGeom prst="roundRect">
            <a:avLst/>
          </a:prstGeom>
          <a:solidFill>
            <a:srgbClr val="784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02336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知识要点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84048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3400" b="1">
                <a:solidFill>
                  <a:srgbClr val="784696"/>
                </a:solidFill>
                <a:latin typeface="Microsoft YaHei"/>
              </a:rPr>
              <a:t>文学常识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67104" y="1143000"/>
            <a:ext cx="10058400" cy="3721608"/>
          </a:xfrm>
          <a:prstGeom prst="roundRect">
            <a:avLst/>
          </a:prstGeom>
          <a:solidFill>
            <a:srgbClr val="FFFCEB"/>
          </a:solidFill>
          <a:ln w="25400">
            <a:solidFill>
              <a:srgbClr val="82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67104" y="1143000"/>
            <a:ext cx="10058400" cy="384048"/>
          </a:xfrm>
          <a:prstGeom prst="rect">
            <a:avLst/>
          </a:prstGeom>
          <a:solidFill>
            <a:srgbClr val="784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7104" y="1179576"/>
            <a:ext cx="10058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📝  课堂笔记  —  请摘抄要点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70024" y="1527048"/>
            <a:ext cx="27432" cy="3337560"/>
          </a:xfrm>
          <a:prstGeom prst="rect">
            <a:avLst/>
          </a:prstGeom>
          <a:solidFill>
            <a:srgbClr val="DC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417320" y="2276856"/>
            <a:ext cx="9601200" cy="13716"/>
          </a:xfrm>
          <a:prstGeom prst="rect">
            <a:avLst/>
          </a:prstGeom>
          <a:solidFill>
            <a:srgbClr val="D2C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600200" y="1627632"/>
            <a:ext cx="1280160" cy="347472"/>
          </a:xfrm>
          <a:prstGeom prst="roundRect">
            <a:avLst/>
          </a:prstGeom>
          <a:solidFill>
            <a:srgbClr val="C8A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00200" y="1645920"/>
            <a:ext cx="12801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3C2850"/>
                </a:solidFill>
                <a:latin typeface="Microsoft YaHei"/>
              </a:rPr>
              <a:t>作者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1627632"/>
            <a:ext cx="7498079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>
                <a:solidFill>
                  <a:srgbClr val="3C2850"/>
                </a:solidFill>
                <a:latin typeface="Microsoft YaHei"/>
              </a:rPr>
              <a:t>安徒生，丹麦童话作家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17320" y="3081527"/>
            <a:ext cx="9601200" cy="13716"/>
          </a:xfrm>
          <a:prstGeom prst="rect">
            <a:avLst/>
          </a:prstGeom>
          <a:solidFill>
            <a:srgbClr val="D2C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600200" y="2432303"/>
            <a:ext cx="1280160" cy="347472"/>
          </a:xfrm>
          <a:prstGeom prst="roundRect">
            <a:avLst/>
          </a:prstGeom>
          <a:solidFill>
            <a:srgbClr val="C8A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0200" y="2450591"/>
            <a:ext cx="12801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3C2850"/>
                </a:solidFill>
                <a:latin typeface="Microsoft YaHei"/>
              </a:rPr>
              <a:t>文体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2432303"/>
            <a:ext cx="7498079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>
                <a:solidFill>
                  <a:srgbClr val="3C2850"/>
                </a:solidFill>
                <a:latin typeface="Microsoft YaHei"/>
              </a:rPr>
              <a:t>童话——用虚构故事反映现实生活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17320" y="3886200"/>
            <a:ext cx="9601200" cy="13716"/>
          </a:xfrm>
          <a:prstGeom prst="rect">
            <a:avLst/>
          </a:prstGeom>
          <a:solidFill>
            <a:srgbClr val="D2C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600200" y="3236976"/>
            <a:ext cx="1444752" cy="347472"/>
          </a:xfrm>
          <a:prstGeom prst="roundRect">
            <a:avLst/>
          </a:prstGeom>
          <a:solidFill>
            <a:srgbClr val="C8A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00200" y="3255264"/>
            <a:ext cx="144475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3C2850"/>
                </a:solidFill>
                <a:latin typeface="Microsoft YaHei"/>
              </a:rPr>
              <a:t>本文特点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82112" y="3236976"/>
            <a:ext cx="7333488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>
                <a:solidFill>
                  <a:srgbClr val="3C2850"/>
                </a:solidFill>
                <a:latin typeface="Microsoft YaHei"/>
              </a:rPr>
              <a:t>以「新装」为线索，写一个荒唐的骗局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17320" y="4690872"/>
            <a:ext cx="9601200" cy="13716"/>
          </a:xfrm>
          <a:prstGeom prst="rect">
            <a:avLst/>
          </a:prstGeom>
          <a:solidFill>
            <a:srgbClr val="D2C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600200" y="4041648"/>
            <a:ext cx="1444752" cy="347472"/>
          </a:xfrm>
          <a:prstGeom prst="roundRect">
            <a:avLst/>
          </a:prstGeom>
          <a:solidFill>
            <a:srgbClr val="C8A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00200" y="4059936"/>
            <a:ext cx="144475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3C2850"/>
                </a:solidFill>
                <a:latin typeface="Microsoft YaHei"/>
              </a:rPr>
              <a:t>核心问题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82112" y="4041648"/>
            <a:ext cx="7333488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>
                <a:solidFill>
                  <a:srgbClr val="3C2850"/>
                </a:solidFill>
                <a:latin typeface="Microsoft YaHei"/>
              </a:rPr>
              <a:t>为什么人们都不敢说自己看不见？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emper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274320"/>
            <a:ext cx="11594592" cy="6300216"/>
          </a:xfrm>
          <a:prstGeom prst="rect">
            <a:avLst/>
          </a:prstGeom>
          <a:noFill/>
          <a:ln w="31750">
            <a:solidFill>
              <a:srgbClr val="82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rner_emperor_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" y="-45720"/>
            <a:ext cx="2011680" cy="2011680"/>
          </a:xfrm>
          <a:prstGeom prst="rect">
            <a:avLst/>
          </a:prstGeom>
        </p:spPr>
      </p:pic>
      <p:pic>
        <p:nvPicPr>
          <p:cNvPr id="5" name="Picture 4" descr="corner_emperor_t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-45720"/>
            <a:ext cx="2011680" cy="2011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384048"/>
            <a:ext cx="2011680" cy="384048"/>
          </a:xfrm>
          <a:prstGeom prst="roundRect">
            <a:avLst/>
          </a:prstGeom>
          <a:solidFill>
            <a:srgbClr val="784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02336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情节笔记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84048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3400" b="1">
                <a:solidFill>
                  <a:srgbClr val="784696"/>
                </a:solidFill>
                <a:latin typeface="Microsoft YaHei"/>
              </a:rPr>
              <a:t>情节结构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67104" y="1143000"/>
            <a:ext cx="10058400" cy="3721608"/>
          </a:xfrm>
          <a:prstGeom prst="roundRect">
            <a:avLst/>
          </a:prstGeom>
          <a:solidFill>
            <a:srgbClr val="FFFCEB"/>
          </a:solidFill>
          <a:ln w="25400">
            <a:solidFill>
              <a:srgbClr val="82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67104" y="1143000"/>
            <a:ext cx="10058400" cy="384048"/>
          </a:xfrm>
          <a:prstGeom prst="rect">
            <a:avLst/>
          </a:prstGeom>
          <a:solidFill>
            <a:srgbClr val="784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7104" y="1179576"/>
            <a:ext cx="10058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📝  课堂笔记  —  请摘抄要点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70024" y="1527048"/>
            <a:ext cx="27432" cy="3337560"/>
          </a:xfrm>
          <a:prstGeom prst="rect">
            <a:avLst/>
          </a:prstGeom>
          <a:solidFill>
            <a:srgbClr val="DC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417320" y="2276856"/>
            <a:ext cx="9601200" cy="13716"/>
          </a:xfrm>
          <a:prstGeom prst="rect">
            <a:avLst/>
          </a:prstGeom>
          <a:solidFill>
            <a:srgbClr val="D2C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600200" y="1627632"/>
            <a:ext cx="1280160" cy="347472"/>
          </a:xfrm>
          <a:prstGeom prst="roundRect">
            <a:avLst/>
          </a:prstGeom>
          <a:solidFill>
            <a:srgbClr val="C8A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00200" y="1645920"/>
            <a:ext cx="12801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3C2850"/>
                </a:solidFill>
                <a:latin typeface="Microsoft YaHei"/>
              </a:rPr>
              <a:t>开端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1627632"/>
            <a:ext cx="7498079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>
                <a:solidFill>
                  <a:srgbClr val="3C2850"/>
                </a:solidFill>
                <a:latin typeface="Microsoft YaHei"/>
              </a:rPr>
              <a:t>两个骗子说能织出只有聪明人才能看见的衣服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17320" y="3081527"/>
            <a:ext cx="9601200" cy="13716"/>
          </a:xfrm>
          <a:prstGeom prst="rect">
            <a:avLst/>
          </a:prstGeom>
          <a:solidFill>
            <a:srgbClr val="D2C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600200" y="2432303"/>
            <a:ext cx="1280160" cy="347472"/>
          </a:xfrm>
          <a:prstGeom prst="roundRect">
            <a:avLst/>
          </a:prstGeom>
          <a:solidFill>
            <a:srgbClr val="C8A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0200" y="2450591"/>
            <a:ext cx="12801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3C2850"/>
                </a:solidFill>
                <a:latin typeface="Microsoft YaHei"/>
              </a:rPr>
              <a:t>发展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2432303"/>
            <a:ext cx="7498079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>
                <a:solidFill>
                  <a:srgbClr val="3C2850"/>
                </a:solidFill>
                <a:latin typeface="Microsoft YaHei"/>
              </a:rPr>
              <a:t>皇帝、老大臣、官员先后「看布」，都不敢说真话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17320" y="3886200"/>
            <a:ext cx="9601200" cy="13716"/>
          </a:xfrm>
          <a:prstGeom prst="rect">
            <a:avLst/>
          </a:prstGeom>
          <a:solidFill>
            <a:srgbClr val="D2C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600200" y="3236976"/>
            <a:ext cx="1280160" cy="347472"/>
          </a:xfrm>
          <a:prstGeom prst="roundRect">
            <a:avLst/>
          </a:prstGeom>
          <a:solidFill>
            <a:srgbClr val="C8A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00200" y="3255264"/>
            <a:ext cx="12801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3C2850"/>
                </a:solidFill>
                <a:latin typeface="Microsoft YaHei"/>
              </a:rPr>
              <a:t>高潮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3236976"/>
            <a:ext cx="7498079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>
                <a:solidFill>
                  <a:srgbClr val="3C2850"/>
                </a:solidFill>
                <a:latin typeface="Microsoft YaHei"/>
              </a:rPr>
              <a:t>皇帝穿上「新装」游行，百姓假装看见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17320" y="4690872"/>
            <a:ext cx="9601200" cy="13716"/>
          </a:xfrm>
          <a:prstGeom prst="rect">
            <a:avLst/>
          </a:prstGeom>
          <a:solidFill>
            <a:srgbClr val="D2C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600200" y="4041648"/>
            <a:ext cx="1280160" cy="347472"/>
          </a:xfrm>
          <a:prstGeom prst="roundRect">
            <a:avLst/>
          </a:prstGeom>
          <a:solidFill>
            <a:srgbClr val="C8A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00200" y="4059936"/>
            <a:ext cx="12801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3C2850"/>
                </a:solidFill>
                <a:latin typeface="Microsoft YaHei"/>
              </a:rPr>
              <a:t>结局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17520" y="4041648"/>
            <a:ext cx="7498079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>
                <a:solidFill>
                  <a:srgbClr val="3C2850"/>
                </a:solidFill>
                <a:latin typeface="Microsoft YaHei"/>
              </a:rPr>
              <a:t>小孩子说「他没穿衣服」，百姓跟着说，皇帝仍装模作样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emper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274320"/>
            <a:ext cx="11594592" cy="6300216"/>
          </a:xfrm>
          <a:prstGeom prst="rect">
            <a:avLst/>
          </a:prstGeom>
          <a:noFill/>
          <a:ln w="31750">
            <a:solidFill>
              <a:srgbClr val="82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rner_emperor_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" y="-45720"/>
            <a:ext cx="2011680" cy="2011680"/>
          </a:xfrm>
          <a:prstGeom prst="rect">
            <a:avLst/>
          </a:prstGeom>
        </p:spPr>
      </p:pic>
      <p:pic>
        <p:nvPicPr>
          <p:cNvPr id="5" name="Picture 4" descr="corner_emperor_t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-45720"/>
            <a:ext cx="2011680" cy="2011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384048"/>
            <a:ext cx="2011680" cy="384048"/>
          </a:xfrm>
          <a:prstGeom prst="roundRect">
            <a:avLst/>
          </a:prstGeom>
          <a:solidFill>
            <a:srgbClr val="784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02336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手法笔记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84048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3400" b="1">
                <a:solidFill>
                  <a:srgbClr val="784696"/>
                </a:solidFill>
                <a:latin typeface="Microsoft YaHei"/>
              </a:rPr>
              <a:t>艺术手法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67104" y="1143000"/>
            <a:ext cx="10058400" cy="3721608"/>
          </a:xfrm>
          <a:prstGeom prst="roundRect">
            <a:avLst/>
          </a:prstGeom>
          <a:solidFill>
            <a:srgbClr val="FFFCEB"/>
          </a:solidFill>
          <a:ln w="25400">
            <a:solidFill>
              <a:srgbClr val="82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67104" y="1143000"/>
            <a:ext cx="10058400" cy="384048"/>
          </a:xfrm>
          <a:prstGeom prst="rect">
            <a:avLst/>
          </a:prstGeom>
          <a:solidFill>
            <a:srgbClr val="784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7104" y="1179576"/>
            <a:ext cx="10058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📝  课堂笔记  —  请摘抄要点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70024" y="1527048"/>
            <a:ext cx="27432" cy="3337560"/>
          </a:xfrm>
          <a:prstGeom prst="rect">
            <a:avLst/>
          </a:prstGeom>
          <a:solidFill>
            <a:srgbClr val="DC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417320" y="2276856"/>
            <a:ext cx="9601200" cy="13716"/>
          </a:xfrm>
          <a:prstGeom prst="rect">
            <a:avLst/>
          </a:prstGeom>
          <a:solidFill>
            <a:srgbClr val="D2C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600200" y="1627632"/>
            <a:ext cx="1280160" cy="347472"/>
          </a:xfrm>
          <a:prstGeom prst="roundRect">
            <a:avLst/>
          </a:prstGeom>
          <a:solidFill>
            <a:srgbClr val="C8A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00200" y="1645920"/>
            <a:ext cx="12801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3C2850"/>
                </a:solidFill>
                <a:latin typeface="Microsoft YaHei"/>
              </a:rPr>
              <a:t>夸张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1627632"/>
            <a:ext cx="7498079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>
                <a:solidFill>
                  <a:srgbClr val="3C2850"/>
                </a:solidFill>
                <a:latin typeface="Microsoft YaHei"/>
              </a:rPr>
              <a:t>把皇帝爱新衣写到极致：「除非为了炫耀新衣服」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17320" y="3081527"/>
            <a:ext cx="9601200" cy="13716"/>
          </a:xfrm>
          <a:prstGeom prst="rect">
            <a:avLst/>
          </a:prstGeom>
          <a:solidFill>
            <a:srgbClr val="D2C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600200" y="2432303"/>
            <a:ext cx="1280160" cy="347472"/>
          </a:xfrm>
          <a:prstGeom prst="roundRect">
            <a:avLst/>
          </a:prstGeom>
          <a:solidFill>
            <a:srgbClr val="C8A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0200" y="2450591"/>
            <a:ext cx="12801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3C2850"/>
                </a:solidFill>
                <a:latin typeface="Microsoft YaHei"/>
              </a:rPr>
              <a:t>反讽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2432303"/>
            <a:ext cx="7498079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>
                <a:solidFill>
                  <a:srgbClr val="3C2850"/>
                </a:solidFill>
                <a:latin typeface="Microsoft YaHei"/>
              </a:rPr>
              <a:t>说「看见了」其实什么也没看见，讽刺虚伪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17320" y="3886200"/>
            <a:ext cx="9601200" cy="13716"/>
          </a:xfrm>
          <a:prstGeom prst="rect">
            <a:avLst/>
          </a:prstGeom>
          <a:solidFill>
            <a:srgbClr val="D2C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600200" y="3236976"/>
            <a:ext cx="1280160" cy="347472"/>
          </a:xfrm>
          <a:prstGeom prst="roundRect">
            <a:avLst/>
          </a:prstGeom>
          <a:solidFill>
            <a:srgbClr val="C8A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00200" y="3255264"/>
            <a:ext cx="12801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3C2850"/>
                </a:solidFill>
                <a:latin typeface="Microsoft YaHei"/>
              </a:rPr>
              <a:t>对比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3236976"/>
            <a:ext cx="7498079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>
                <a:solidFill>
                  <a:srgbClr val="3C2850"/>
                </a:solidFill>
                <a:latin typeface="Microsoft YaHei"/>
              </a:rPr>
              <a:t>大人的怯懦 vs 孩子的天真诚实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17320" y="4690872"/>
            <a:ext cx="9601200" cy="13716"/>
          </a:xfrm>
          <a:prstGeom prst="rect">
            <a:avLst/>
          </a:prstGeom>
          <a:solidFill>
            <a:srgbClr val="D2C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600200" y="4041648"/>
            <a:ext cx="1280160" cy="347472"/>
          </a:xfrm>
          <a:prstGeom prst="roundRect">
            <a:avLst/>
          </a:prstGeom>
          <a:solidFill>
            <a:srgbClr val="C8A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00200" y="4059936"/>
            <a:ext cx="12801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3C2850"/>
                </a:solidFill>
                <a:latin typeface="Microsoft YaHei"/>
              </a:rPr>
              <a:t>反复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17520" y="4041648"/>
            <a:ext cx="7498079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>
                <a:solidFill>
                  <a:srgbClr val="3C2850"/>
                </a:solidFill>
                <a:latin typeface="Microsoft YaHei"/>
              </a:rPr>
              <a:t>「我什么也没有看见」反复出现，强化讽刺效果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emper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274320"/>
            <a:ext cx="11594592" cy="6300216"/>
          </a:xfrm>
          <a:prstGeom prst="rect">
            <a:avLst/>
          </a:prstGeom>
          <a:noFill/>
          <a:ln w="31750">
            <a:solidFill>
              <a:srgbClr val="82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rner_emperor_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" y="-45720"/>
            <a:ext cx="2011680" cy="2011680"/>
          </a:xfrm>
          <a:prstGeom prst="rect">
            <a:avLst/>
          </a:prstGeom>
        </p:spPr>
      </p:pic>
      <p:pic>
        <p:nvPicPr>
          <p:cNvPr id="5" name="Picture 4" descr="corner_emperor_t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-45720"/>
            <a:ext cx="2011680" cy="2011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384048"/>
            <a:ext cx="2011680" cy="384048"/>
          </a:xfrm>
          <a:prstGeom prst="roundRect">
            <a:avLst/>
          </a:prstGeom>
          <a:solidFill>
            <a:srgbClr val="784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02336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主题笔记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84048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3400" b="1">
                <a:solidFill>
                  <a:srgbClr val="784696"/>
                </a:solidFill>
                <a:latin typeface="Microsoft YaHei"/>
              </a:rPr>
              <a:t>主题理解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67104" y="1143000"/>
            <a:ext cx="10058400" cy="3721608"/>
          </a:xfrm>
          <a:prstGeom prst="roundRect">
            <a:avLst/>
          </a:prstGeom>
          <a:solidFill>
            <a:srgbClr val="FFFCEB"/>
          </a:solidFill>
          <a:ln w="25400">
            <a:solidFill>
              <a:srgbClr val="82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67104" y="1143000"/>
            <a:ext cx="10058400" cy="384048"/>
          </a:xfrm>
          <a:prstGeom prst="rect">
            <a:avLst/>
          </a:prstGeom>
          <a:solidFill>
            <a:srgbClr val="784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7104" y="1179576"/>
            <a:ext cx="10058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📝  课堂笔记  —  请摘抄要点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70024" y="1527048"/>
            <a:ext cx="27432" cy="3337560"/>
          </a:xfrm>
          <a:prstGeom prst="rect">
            <a:avLst/>
          </a:prstGeom>
          <a:solidFill>
            <a:srgbClr val="DC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417320" y="2276856"/>
            <a:ext cx="9601200" cy="13716"/>
          </a:xfrm>
          <a:prstGeom prst="rect">
            <a:avLst/>
          </a:prstGeom>
          <a:solidFill>
            <a:srgbClr val="D2C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600200" y="1627632"/>
            <a:ext cx="1444752" cy="347472"/>
          </a:xfrm>
          <a:prstGeom prst="roundRect">
            <a:avLst/>
          </a:prstGeom>
          <a:solidFill>
            <a:srgbClr val="C8A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00200" y="1645920"/>
            <a:ext cx="144475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3C2850"/>
                </a:solidFill>
                <a:latin typeface="Microsoft YaHei"/>
              </a:rPr>
              <a:t>心理机制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82112" y="1627632"/>
            <a:ext cx="7333488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>
                <a:solidFill>
                  <a:srgbClr val="3C2850"/>
                </a:solidFill>
                <a:latin typeface="Microsoft YaHei"/>
              </a:rPr>
              <a:t>害怕被认为「不聪明」或「不称职」而丢失地位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17320" y="3081527"/>
            <a:ext cx="9601200" cy="13716"/>
          </a:xfrm>
          <a:prstGeom prst="rect">
            <a:avLst/>
          </a:prstGeom>
          <a:solidFill>
            <a:srgbClr val="D2C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600200" y="2432303"/>
            <a:ext cx="1444752" cy="347472"/>
          </a:xfrm>
          <a:prstGeom prst="roundRect">
            <a:avLst/>
          </a:prstGeom>
          <a:solidFill>
            <a:srgbClr val="C8A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0200" y="2450591"/>
            <a:ext cx="144475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3C2850"/>
                </a:solidFill>
                <a:latin typeface="Microsoft YaHei"/>
              </a:rPr>
              <a:t>社会批判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82112" y="2432303"/>
            <a:ext cx="7333488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>
                <a:solidFill>
                  <a:srgbClr val="3C2850"/>
                </a:solidFill>
                <a:latin typeface="Microsoft YaHei"/>
              </a:rPr>
              <a:t>讽刺盲从权威、虚伪逢迎的官场风气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17320" y="3886200"/>
            <a:ext cx="9601200" cy="13716"/>
          </a:xfrm>
          <a:prstGeom prst="rect">
            <a:avLst/>
          </a:prstGeom>
          <a:solidFill>
            <a:srgbClr val="D2C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600200" y="3236976"/>
            <a:ext cx="1444752" cy="347472"/>
          </a:xfrm>
          <a:prstGeom prst="roundRect">
            <a:avLst/>
          </a:prstGeom>
          <a:solidFill>
            <a:srgbClr val="C8A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00200" y="3255264"/>
            <a:ext cx="144475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3C2850"/>
                </a:solidFill>
                <a:latin typeface="Microsoft YaHei"/>
              </a:rPr>
              <a:t>孩子作用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82112" y="3236976"/>
            <a:ext cx="7333488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>
                <a:solidFill>
                  <a:srgbClr val="3C2850"/>
                </a:solidFill>
                <a:latin typeface="Microsoft YaHei"/>
              </a:rPr>
              <a:t>天真不受虚假规则束缚，一语道破真相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17320" y="4690872"/>
            <a:ext cx="9601200" cy="13716"/>
          </a:xfrm>
          <a:prstGeom prst="rect">
            <a:avLst/>
          </a:prstGeom>
          <a:solidFill>
            <a:srgbClr val="D2C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600200" y="4041648"/>
            <a:ext cx="1444752" cy="347472"/>
          </a:xfrm>
          <a:prstGeom prst="roundRect">
            <a:avLst/>
          </a:prstGeom>
          <a:solidFill>
            <a:srgbClr val="C8A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00200" y="4059936"/>
            <a:ext cx="144475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3C2850"/>
                </a:solidFill>
                <a:latin typeface="Microsoft YaHei"/>
              </a:rPr>
              <a:t>策展主题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82112" y="4041648"/>
            <a:ext cx="7333488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>
                <a:solidFill>
                  <a:srgbClr val="3C2850"/>
                </a:solidFill>
                <a:latin typeface="Microsoft YaHei"/>
              </a:rPr>
              <a:t>面对虚假，要敢于说真话，不做沉默的大多数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emper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274320"/>
            <a:ext cx="11594592" cy="6300216"/>
          </a:xfrm>
          <a:prstGeom prst="rect">
            <a:avLst/>
          </a:prstGeom>
          <a:noFill/>
          <a:ln w="31750">
            <a:solidFill>
              <a:srgbClr val="82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rner_emperor_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" y="-45720"/>
            <a:ext cx="2011680" cy="2011680"/>
          </a:xfrm>
          <a:prstGeom prst="rect">
            <a:avLst/>
          </a:prstGeom>
        </p:spPr>
      </p:pic>
      <p:pic>
        <p:nvPicPr>
          <p:cNvPr id="5" name="Picture 4" descr="corner_emperor_t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-45720"/>
            <a:ext cx="2011680" cy="2011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384048"/>
            <a:ext cx="2011680" cy="384048"/>
          </a:xfrm>
          <a:prstGeom prst="roundRect">
            <a:avLst/>
          </a:prstGeom>
          <a:solidFill>
            <a:srgbClr val="3C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02336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课堂活动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53304" y="502920"/>
            <a:ext cx="2286000" cy="411480"/>
          </a:xfrm>
          <a:prstGeom prst="roundRect">
            <a:avLst/>
          </a:prstGeom>
          <a:solidFill>
            <a:srgbClr val="C8A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53304" y="521208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3C2850"/>
                </a:solidFill>
                <a:latin typeface="Microsoft YaHei"/>
              </a:rPr>
              <a:t>课堂活动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96012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3600" b="1">
                <a:solidFill>
                  <a:srgbClr val="784696"/>
                </a:solidFill>
                <a:latin typeface="Microsoft YaHei"/>
              </a:rPr>
              <a:t>学习任务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600200"/>
            <a:ext cx="5760720" cy="27432"/>
          </a:xfrm>
          <a:prstGeom prst="rect">
            <a:avLst/>
          </a:prstGeom>
          <a:solidFill>
            <a:srgbClr val="C8A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295704" y="1645920"/>
            <a:ext cx="9601200" cy="2112264"/>
          </a:xfrm>
          <a:prstGeom prst="roundRect">
            <a:avLst/>
          </a:prstGeom>
          <a:solidFill>
            <a:srgbClr val="FCF8FF"/>
          </a:solidFill>
          <a:ln w="19050">
            <a:solidFill>
              <a:srgbClr val="C8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255824" y="1828800"/>
            <a:ext cx="347472" cy="347472"/>
          </a:xfrm>
          <a:prstGeom prst="ellipse">
            <a:avLst/>
          </a:prstGeom>
          <a:solidFill>
            <a:srgbClr val="784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55824" y="1847088"/>
            <a:ext cx="3474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13024" y="1810512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3C2850"/>
                </a:solidFill>
                <a:latin typeface="Microsoft YaHei"/>
              </a:rPr>
              <a:t>画骗局流程图，用箭头串联各环节</a:t>
            </a:r>
          </a:p>
        </p:txBody>
      </p:sp>
      <p:sp>
        <p:nvSpPr>
          <p:cNvPr id="16" name="Oval 15"/>
          <p:cNvSpPr/>
          <p:nvPr/>
        </p:nvSpPr>
        <p:spPr>
          <a:xfrm>
            <a:off x="2255824" y="2395728"/>
            <a:ext cx="347472" cy="347472"/>
          </a:xfrm>
          <a:prstGeom prst="ellipse">
            <a:avLst/>
          </a:prstGeom>
          <a:solidFill>
            <a:srgbClr val="784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55824" y="2414016"/>
            <a:ext cx="3474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13024" y="237744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3C2850"/>
                </a:solidFill>
                <a:latin typeface="Microsoft YaHei"/>
              </a:rPr>
              <a:t>勾画老大臣、官员、皇帝的心理和语言</a:t>
            </a:r>
          </a:p>
        </p:txBody>
      </p:sp>
      <p:sp>
        <p:nvSpPr>
          <p:cNvPr id="19" name="Oval 18"/>
          <p:cNvSpPr/>
          <p:nvPr/>
        </p:nvSpPr>
        <p:spPr>
          <a:xfrm>
            <a:off x="2255824" y="2962656"/>
            <a:ext cx="347472" cy="347472"/>
          </a:xfrm>
          <a:prstGeom prst="ellipse">
            <a:avLst/>
          </a:prstGeom>
          <a:solidFill>
            <a:srgbClr val="784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55824" y="2980944"/>
            <a:ext cx="3474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13024" y="2944368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3C2850"/>
                </a:solidFill>
                <a:latin typeface="Microsoft YaHei"/>
              </a:rPr>
              <a:t>完成人物分析卡（证据—特点—作用）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emper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274320"/>
            <a:ext cx="11594592" cy="6300216"/>
          </a:xfrm>
          <a:prstGeom prst="rect">
            <a:avLst/>
          </a:prstGeom>
          <a:noFill/>
          <a:ln w="31750">
            <a:solidFill>
              <a:srgbClr val="82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rner_emperor_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" y="-45720"/>
            <a:ext cx="2011680" cy="2011680"/>
          </a:xfrm>
          <a:prstGeom prst="rect">
            <a:avLst/>
          </a:prstGeom>
        </p:spPr>
      </p:pic>
      <p:pic>
        <p:nvPicPr>
          <p:cNvPr id="5" name="Picture 4" descr="corner_emperor_t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-45720"/>
            <a:ext cx="2011680" cy="2011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384048"/>
            <a:ext cx="2011680" cy="384048"/>
          </a:xfrm>
          <a:prstGeom prst="roundRect">
            <a:avLst/>
          </a:prstGeom>
          <a:solidFill>
            <a:srgbClr val="3C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02336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课堂活动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53304" y="502920"/>
            <a:ext cx="2286000" cy="411480"/>
          </a:xfrm>
          <a:prstGeom prst="roundRect">
            <a:avLst/>
          </a:prstGeom>
          <a:solidFill>
            <a:srgbClr val="C8A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53304" y="521208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3C2850"/>
                </a:solidFill>
                <a:latin typeface="Microsoft YaHei"/>
              </a:rPr>
              <a:t>回顾收获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96012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3600" b="1">
                <a:solidFill>
                  <a:srgbClr val="784696"/>
                </a:solidFill>
                <a:latin typeface="Microsoft YaHei"/>
              </a:rPr>
              <a:t>课堂小结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600200"/>
            <a:ext cx="5760720" cy="27432"/>
          </a:xfrm>
          <a:prstGeom prst="rect">
            <a:avLst/>
          </a:prstGeom>
          <a:solidFill>
            <a:srgbClr val="C8A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295704" y="1645920"/>
            <a:ext cx="9601200" cy="1837944"/>
          </a:xfrm>
          <a:prstGeom prst="roundRect">
            <a:avLst/>
          </a:prstGeom>
          <a:solidFill>
            <a:srgbClr val="FCF8FF"/>
          </a:solidFill>
          <a:ln w="19050">
            <a:solidFill>
              <a:srgbClr val="C8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255824" y="1828800"/>
            <a:ext cx="347472" cy="347472"/>
          </a:xfrm>
          <a:prstGeom prst="ellipse">
            <a:avLst/>
          </a:prstGeom>
          <a:solidFill>
            <a:srgbClr val="784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55824" y="1847088"/>
            <a:ext cx="3474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13024" y="1810512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3C2850"/>
                </a:solidFill>
                <a:latin typeface="Microsoft YaHei"/>
              </a:rPr>
              <a:t>夸张+反讽+对比，让笑声指向盲从与虚伪</a:t>
            </a:r>
          </a:p>
        </p:txBody>
      </p:sp>
      <p:sp>
        <p:nvSpPr>
          <p:cNvPr id="16" name="Oval 15"/>
          <p:cNvSpPr/>
          <p:nvPr/>
        </p:nvSpPr>
        <p:spPr>
          <a:xfrm>
            <a:off x="2255824" y="2304288"/>
            <a:ext cx="347472" cy="347472"/>
          </a:xfrm>
          <a:prstGeom prst="ellipse">
            <a:avLst/>
          </a:prstGeom>
          <a:solidFill>
            <a:srgbClr val="784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55824" y="2322576"/>
            <a:ext cx="3474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13024" y="228600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3C2850"/>
                </a:solidFill>
                <a:latin typeface="Microsoft YaHei"/>
              </a:rPr>
              <a:t>「新装」是谎言，更是照见人性的镜子</a:t>
            </a:r>
          </a:p>
        </p:txBody>
      </p:sp>
      <p:sp>
        <p:nvSpPr>
          <p:cNvPr id="19" name="Oval 18"/>
          <p:cNvSpPr/>
          <p:nvPr/>
        </p:nvSpPr>
        <p:spPr>
          <a:xfrm>
            <a:off x="2255824" y="2779776"/>
            <a:ext cx="347472" cy="347472"/>
          </a:xfrm>
          <a:prstGeom prst="ellipse">
            <a:avLst/>
          </a:prstGeom>
          <a:solidFill>
            <a:srgbClr val="784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55824" y="2798064"/>
            <a:ext cx="3474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13024" y="2761488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3C2850"/>
                </a:solidFill>
                <a:latin typeface="Microsoft YaHei"/>
              </a:rPr>
              <a:t>策展主题二：真实与虚假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emper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274320"/>
            <a:ext cx="11594592" cy="6300216"/>
          </a:xfrm>
          <a:prstGeom prst="rect">
            <a:avLst/>
          </a:prstGeom>
          <a:noFill/>
          <a:ln w="31750">
            <a:solidFill>
              <a:srgbClr val="82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rner_emperor_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" y="-45720"/>
            <a:ext cx="2011680" cy="2011680"/>
          </a:xfrm>
          <a:prstGeom prst="rect">
            <a:avLst/>
          </a:prstGeom>
        </p:spPr>
      </p:pic>
      <p:pic>
        <p:nvPicPr>
          <p:cNvPr id="5" name="Picture 4" descr="corner_emperor_t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-45720"/>
            <a:ext cx="2011680" cy="2011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384048"/>
            <a:ext cx="2011680" cy="384048"/>
          </a:xfrm>
          <a:prstGeom prst="roundRect">
            <a:avLst/>
          </a:prstGeom>
          <a:solidFill>
            <a:srgbClr val="3C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02336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课堂活动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53304" y="502920"/>
            <a:ext cx="2286000" cy="411480"/>
          </a:xfrm>
          <a:prstGeom prst="roundRect">
            <a:avLst/>
          </a:prstGeom>
          <a:solidFill>
            <a:srgbClr val="C8A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53304" y="521208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3C2850"/>
                </a:solidFill>
                <a:latin typeface="Microsoft YaHei"/>
              </a:rPr>
              <a:t>课后延伸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96012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3600" b="1">
                <a:solidFill>
                  <a:srgbClr val="784696"/>
                </a:solidFill>
                <a:latin typeface="Microsoft YaHei"/>
              </a:rPr>
              <a:t>课后作业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600200"/>
            <a:ext cx="5760720" cy="27432"/>
          </a:xfrm>
          <a:prstGeom prst="rect">
            <a:avLst/>
          </a:prstGeom>
          <a:solidFill>
            <a:srgbClr val="C8A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295704" y="1645920"/>
            <a:ext cx="9601200" cy="1545336"/>
          </a:xfrm>
          <a:prstGeom prst="roundRect">
            <a:avLst/>
          </a:prstGeom>
          <a:solidFill>
            <a:srgbClr val="FCF8FF"/>
          </a:solidFill>
          <a:ln w="19050">
            <a:solidFill>
              <a:srgbClr val="C8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255824" y="1828800"/>
            <a:ext cx="347472" cy="347472"/>
          </a:xfrm>
          <a:prstGeom prst="ellipse">
            <a:avLst/>
          </a:prstGeom>
          <a:solidFill>
            <a:srgbClr val="784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55824" y="1847088"/>
            <a:ext cx="3474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13024" y="1810512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3C2850"/>
                </a:solidFill>
                <a:latin typeface="Microsoft YaHei"/>
              </a:rPr>
              <a:t>必做：用150字概括故事</a:t>
            </a:r>
          </a:p>
        </p:txBody>
      </p:sp>
      <p:sp>
        <p:nvSpPr>
          <p:cNvPr id="16" name="Oval 15"/>
          <p:cNvSpPr/>
          <p:nvPr/>
        </p:nvSpPr>
        <p:spPr>
          <a:xfrm>
            <a:off x="2255824" y="2395728"/>
            <a:ext cx="347472" cy="347472"/>
          </a:xfrm>
          <a:prstGeom prst="ellipse">
            <a:avLst/>
          </a:prstGeom>
          <a:solidFill>
            <a:srgbClr val="784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55824" y="2414016"/>
            <a:ext cx="3474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13024" y="237744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3C2850"/>
                </a:solidFill>
                <a:latin typeface="Microsoft YaHei"/>
              </a:rPr>
              <a:t>情境：班级群流传「震惊」消息，你会怎么做？（50字）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