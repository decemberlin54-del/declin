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j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2103120"/>
            <a:ext cx="7589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5200" b="1">
                <a:solidFill>
                  <a:srgbClr val="1E325A"/>
                </a:solidFill>
                <a:latin typeface="Microsoft YaHei"/>
              </a:rPr>
              <a:t>皇 帝 的 新 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3200400"/>
            <a:ext cx="5760720" cy="36576"/>
          </a:xfrm>
          <a:prstGeom prst="rect">
            <a:avLst/>
          </a:prstGeom>
          <a:solidFill>
            <a:srgbClr val="326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3337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800" b="0">
                <a:solidFill>
                  <a:srgbClr val="3264B4"/>
                </a:solidFill>
                <a:latin typeface="Microsoft YaHei"/>
              </a:rPr>
              <a:t>安徒生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93192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0">
                <a:solidFill>
                  <a:srgbClr val="1E325A"/>
                </a:solidFill>
                <a:latin typeface="Microsoft YaHei"/>
              </a:rPr>
              <a:t>母题：真实与虚假</a:t>
            </a:r>
          </a:p>
        </p:txBody>
      </p:sp>
      <p:sp>
        <p:nvSpPr>
          <p:cNvPr id="7" name="Oval 6"/>
          <p:cNvSpPr/>
          <p:nvPr/>
        </p:nvSpPr>
        <p:spPr>
          <a:xfrm>
            <a:off x="2560320" y="2286000"/>
            <a:ext cx="137160" cy="137160"/>
          </a:xfrm>
          <a:prstGeom prst="ellipse">
            <a:avLst/>
          </a:prstGeom>
          <a:solidFill>
            <a:srgbClr val="B4D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377440" y="2651760"/>
            <a:ext cx="91440" cy="91440"/>
          </a:xfrm>
          <a:prstGeom prst="ellipse">
            <a:avLst/>
          </a:prstGeom>
          <a:solidFill>
            <a:srgbClr val="B4D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3200" y="2834640"/>
            <a:ext cx="182880" cy="182880"/>
          </a:xfrm>
          <a:prstGeom prst="ellipse">
            <a:avLst/>
          </a:prstGeom>
          <a:solidFill>
            <a:srgbClr val="B4D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j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solidFill>
            <a:srgbClr val="326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文学常识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0584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1E325A"/>
                </a:solidFill>
                <a:latin typeface="Microsoft YaHei"/>
              </a:rPr>
              <a:t>知人论世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B4D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3264B4"/>
                </a:solidFill>
                <a:latin typeface="Microsoft YaHei"/>
              </a:rPr>
              <a:t>【作者】</a:t>
            </a:r>
            <a:r>
              <a:rPr sz="2400" b="0">
                <a:solidFill>
                  <a:srgbClr val="1E325A"/>
                </a:solidFill>
                <a:latin typeface="Microsoft YaHei"/>
              </a:rPr>
              <a:t>安徒生，丹麦童话作家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3264B4"/>
                </a:solidFill>
                <a:latin typeface="Microsoft YaHei"/>
              </a:rPr>
              <a:t>【文体】</a:t>
            </a:r>
            <a:r>
              <a:rPr sz="2400" b="0">
                <a:solidFill>
                  <a:srgbClr val="1E325A"/>
                </a:solidFill>
                <a:latin typeface="Microsoft YaHei"/>
              </a:rPr>
              <a:t>童话——用虚构故事反映现实生活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3264B4"/>
                </a:solidFill>
                <a:latin typeface="Microsoft YaHei"/>
              </a:rPr>
              <a:t>【特点】</a:t>
            </a:r>
            <a:r>
              <a:rPr sz="2400" b="0">
                <a:solidFill>
                  <a:srgbClr val="1E325A"/>
                </a:solidFill>
                <a:latin typeface="Microsoft YaHei"/>
              </a:rPr>
              <a:t>以「新装」为线索，写一个荒唐的骗局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319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3264B4"/>
                </a:solidFill>
                <a:latin typeface="Microsoft YaHei"/>
              </a:rPr>
              <a:t>【核心】</a:t>
            </a:r>
            <a:r>
              <a:rPr sz="2400" b="0">
                <a:solidFill>
                  <a:srgbClr val="1E325A"/>
                </a:solidFill>
                <a:latin typeface="Microsoft YaHei"/>
              </a:rPr>
              <a:t>为什么人们都不敢说自己看不见？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j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solidFill>
            <a:srgbClr val="326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构建逻辑：梳理情节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0584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1E325A"/>
                </a:solidFill>
                <a:latin typeface="Microsoft YaHei"/>
              </a:rPr>
              <a:t>给骗局画流程图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685800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B4D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0">
                <a:solidFill>
                  <a:srgbClr val="1E325A"/>
                </a:solidFill>
                <a:latin typeface="Microsoft YaHei"/>
              </a:rPr>
              <a:t>两个骗子：能织出只有聪明人才能看见的衣服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0">
                <a:solidFill>
                  <a:srgbClr val="1E325A"/>
                </a:solidFill>
                <a:latin typeface="Microsoft YaHei"/>
              </a:rPr>
              <a:t>老大臣、官员、皇帝：先后「看布」，不敢说真话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0">
                <a:solidFill>
                  <a:srgbClr val="1E325A"/>
                </a:solidFill>
                <a:latin typeface="Microsoft YaHei"/>
              </a:rPr>
              <a:t>全城游行：百姓假装看见新装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34340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0">
                <a:solidFill>
                  <a:srgbClr val="1E325A"/>
                </a:solidFill>
                <a:latin typeface="Microsoft YaHei"/>
              </a:rPr>
              <a:t>小孩说真话→百姓跟着说→皇帝仍装模作样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47472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>
                <a:solidFill>
                  <a:srgbClr val="3264B4"/>
                </a:solidFill>
                <a:latin typeface="Microsoft YaHei"/>
              </a:rPr>
              <a:t>全
文
主
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j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solidFill>
            <a:srgbClr val="326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构建逻辑：品味手法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0584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1E325A"/>
                </a:solidFill>
                <a:latin typeface="Microsoft YaHei"/>
              </a:rPr>
              <a:t>拆解心理机关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B4D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3264B4"/>
                </a:solidFill>
                <a:latin typeface="Microsoft YaHei"/>
              </a:rPr>
              <a:t>【夸张】</a:t>
            </a:r>
            <a:r>
              <a:rPr sz="2400" b="0">
                <a:solidFill>
                  <a:srgbClr val="1E325A"/>
                </a:solidFill>
                <a:latin typeface="Microsoft YaHei"/>
              </a:rPr>
              <a:t>把皇帝爱新衣写到极致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3264B4"/>
                </a:solidFill>
                <a:latin typeface="Microsoft YaHei"/>
              </a:rPr>
              <a:t>【反讽】</a:t>
            </a:r>
            <a:r>
              <a:rPr sz="2400" b="0">
                <a:solidFill>
                  <a:srgbClr val="1E325A"/>
                </a:solidFill>
                <a:latin typeface="Microsoft YaHei"/>
              </a:rPr>
              <a:t>说「看见了」其实什么也没看见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3264B4"/>
                </a:solidFill>
                <a:latin typeface="Microsoft YaHei"/>
              </a:rPr>
              <a:t>【对比】</a:t>
            </a:r>
            <a:r>
              <a:rPr sz="2400" b="0">
                <a:solidFill>
                  <a:srgbClr val="1E325A"/>
                </a:solidFill>
                <a:latin typeface="Microsoft YaHei"/>
              </a:rPr>
              <a:t>大人的怯懦 vs 孩子的天真诚实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319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3264B4"/>
                </a:solidFill>
                <a:latin typeface="Microsoft YaHei"/>
              </a:rPr>
              <a:t>【反复】</a:t>
            </a:r>
            <a:r>
              <a:rPr sz="2400" b="0">
                <a:solidFill>
                  <a:srgbClr val="1E325A"/>
                </a:solidFill>
                <a:latin typeface="Microsoft YaHei"/>
              </a:rPr>
              <a:t>「我什么也没有看见」强化讽刺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j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solidFill>
            <a:srgbClr val="326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构建逻辑：探究主题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0584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1E325A"/>
                </a:solidFill>
                <a:latin typeface="Microsoft YaHei"/>
              </a:rPr>
              <a:t>真话为何难以说出口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B4D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E325A"/>
                </a:solidFill>
                <a:latin typeface="Microsoft YaHei"/>
              </a:rPr>
              <a:t>害怕被认为「不聪明」或「不称职」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E325A"/>
                </a:solidFill>
                <a:latin typeface="Microsoft YaHei"/>
              </a:rPr>
              <a:t>讽刺盲从权威、虚伪逢迎的官场风气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E325A"/>
                </a:solidFill>
                <a:latin typeface="Microsoft YaHei"/>
              </a:rPr>
              <a:t>孩子的天真是不被虚假规则束缚的诚实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319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E325A"/>
                </a:solidFill>
                <a:latin typeface="Microsoft YaHei"/>
              </a:rPr>
              <a:t>策展主题：面对虚假，要敢于说真话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j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solidFill>
            <a:srgbClr val="326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0584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1E325A"/>
                </a:solidFill>
                <a:latin typeface="Microsoft YaHei"/>
              </a:rPr>
              <a:t>学习任务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solidFill>
            <a:srgbClr val="FFFFFF"/>
          </a:solidFill>
          <a:ln w="25400">
            <a:solidFill>
              <a:srgbClr val="B4D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E325A"/>
                </a:solidFill>
                <a:latin typeface="Microsoft YaHei"/>
              </a:rPr>
              <a:t>画骗局流程图，勾画人物心理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E325A"/>
                </a:solidFill>
                <a:latin typeface="Microsoft YaHei"/>
              </a:rPr>
              <a:t>完成人物分析卡（证据—特点—作用）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E325A"/>
                </a:solidFill>
                <a:latin typeface="Microsoft YaHei"/>
              </a:rPr>
              <a:t>用150字概括故事，写50字情境运用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