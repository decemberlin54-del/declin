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cro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828800" y="1371600"/>
            <a:ext cx="8503920" cy="4114800"/>
          </a:xfrm>
          <a:prstGeom prst="roundRect">
            <a:avLst/>
          </a:prstGeom>
          <a:solidFill>
            <a:srgbClr val="FFFAEB"/>
          </a:solidFill>
          <a:ln w="38100">
            <a:solidFill>
              <a:srgbClr val="C89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0" y="2286000"/>
            <a:ext cx="7589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4800" b="1">
                <a:solidFill>
                  <a:srgbClr val="64461E"/>
                </a:solidFill>
                <a:latin typeface="Microsoft YaHei"/>
              </a:rPr>
              <a:t>寓言四则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3657600"/>
            <a:ext cx="7589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2400" b="0">
                <a:solidFill>
                  <a:srgbClr val="C8963C"/>
                </a:solidFill>
                <a:latin typeface="Microsoft YaHei"/>
              </a:rPr>
              <a:t>母题：智慧与局限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cro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457200"/>
            <a:ext cx="94183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64461E"/>
                </a:solidFill>
                <a:latin typeface="Microsoft YaHei"/>
              </a:rPr>
              <a:t>文体知识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28016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800"/>
              </a:spcAft>
            </a:pPr>
            <a:r>
              <a:rPr sz="2200" b="1">
                <a:solidFill>
                  <a:srgbClr val="C8963C"/>
                </a:solidFill>
                <a:latin typeface="Microsoft YaHei"/>
              </a:rPr>
              <a:t>寓言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280160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64461E"/>
                </a:solidFill>
                <a:latin typeface="Microsoft YaHei"/>
              </a:rPr>
              <a:t>短小故事，寄寓深刻道理，多运用拟人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800"/>
              </a:spcAft>
            </a:pPr>
            <a:r>
              <a:rPr sz="2200" b="1">
                <a:solidFill>
                  <a:srgbClr val="C8963C"/>
                </a:solidFill>
                <a:latin typeface="Microsoft YaHei"/>
              </a:rPr>
              <a:t>特点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2011680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64461E"/>
                </a:solidFill>
                <a:latin typeface="Microsoft YaHei"/>
              </a:rPr>
              <a:t>情节简短、人物典型、寓意明确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74320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800"/>
              </a:spcAft>
            </a:pPr>
            <a:r>
              <a:rPr sz="2200" b="1">
                <a:solidFill>
                  <a:srgbClr val="C8963C"/>
                </a:solidFill>
                <a:latin typeface="Microsoft YaHei"/>
              </a:rPr>
              <a:t>出处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743200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64461E"/>
                </a:solidFill>
                <a:latin typeface="Microsoft YaHei"/>
              </a:rPr>
              <a:t>《赫耳墨斯和雕像者》《蚊子和狮子》→《伊索寓言》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47472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800"/>
              </a:spcAft>
            </a:pPr>
            <a:r>
              <a:rPr sz="2200" b="1">
                <a:solidFill>
                  <a:srgbClr val="C8963C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474720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64461E"/>
                </a:solidFill>
                <a:latin typeface="Microsoft YaHei"/>
              </a:rPr>
              <a:t>《穿井得一人》《杞人忧天》→《吕氏春秋》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cro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457200"/>
            <a:ext cx="8503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3600" b="1">
                <a:solidFill>
                  <a:srgbClr val="64461E"/>
                </a:solidFill>
                <a:latin typeface="Microsoft YaHei"/>
              </a:rPr>
              <a:t>四则寓意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029200" cy="2103120"/>
          </a:xfrm>
          <a:prstGeom prst="roundRect">
            <a:avLst/>
          </a:prstGeom>
          <a:solidFill>
            <a:srgbClr val="FFFAEB"/>
          </a:solidFill>
          <a:ln>
            <a:solidFill>
              <a:srgbClr val="C89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3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2600" b="1">
                <a:solidFill>
                  <a:srgbClr val="C8963C"/>
                </a:solidFill>
                <a:latin typeface="Microsoft YaHei"/>
              </a:rPr>
              <a:t>《赫耳墨斯和雕像者》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66344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0">
                <a:solidFill>
                  <a:srgbClr val="64461E"/>
                </a:solidFill>
                <a:latin typeface="Microsoft YaHei"/>
              </a:rPr>
              <a:t>讽刺自高自大、妄自尊重的人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029200" cy="2103120"/>
          </a:xfrm>
          <a:prstGeom prst="roundRect">
            <a:avLst/>
          </a:prstGeom>
          <a:solidFill>
            <a:srgbClr val="FFFAEB"/>
          </a:solidFill>
          <a:ln>
            <a:solidFill>
              <a:srgbClr val="C89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46303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2600" b="1">
                <a:solidFill>
                  <a:srgbClr val="C8963C"/>
                </a:solidFill>
                <a:latin typeface="Microsoft YaHei"/>
              </a:rPr>
              <a:t>《蚊子和狮子》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466344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0">
                <a:solidFill>
                  <a:srgbClr val="64461E"/>
                </a:solidFill>
                <a:latin typeface="Microsoft YaHei"/>
              </a:rPr>
              <a:t>再小的个体也有长处，骄兵必败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57600"/>
            <a:ext cx="5029200" cy="2103120"/>
          </a:xfrm>
          <a:prstGeom prst="roundRect">
            <a:avLst/>
          </a:prstGeom>
          <a:solidFill>
            <a:srgbClr val="FFFAEB"/>
          </a:solidFill>
          <a:ln>
            <a:solidFill>
              <a:srgbClr val="C89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840480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2600" b="1">
                <a:solidFill>
                  <a:srgbClr val="C8963C"/>
                </a:solidFill>
                <a:latin typeface="Microsoft YaHei"/>
              </a:rPr>
              <a:t>《穿井得一人》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389120"/>
            <a:ext cx="466344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0">
                <a:solidFill>
                  <a:srgbClr val="64461E"/>
                </a:solidFill>
                <a:latin typeface="Microsoft YaHei"/>
              </a:rPr>
              <a:t>以讹传讹，调查求证才能辨明真相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657600"/>
            <a:ext cx="5029200" cy="2103120"/>
          </a:xfrm>
          <a:prstGeom prst="roundRect">
            <a:avLst/>
          </a:prstGeom>
          <a:solidFill>
            <a:srgbClr val="FFFAEB"/>
          </a:solidFill>
          <a:ln>
            <a:solidFill>
              <a:srgbClr val="C89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840480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2600" b="1">
                <a:solidFill>
                  <a:srgbClr val="C8963C"/>
                </a:solidFill>
                <a:latin typeface="Microsoft YaHei"/>
              </a:rPr>
              <a:t>《杞人忧天》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389120"/>
            <a:ext cx="466344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0">
                <a:solidFill>
                  <a:srgbClr val="64461E"/>
                </a:solidFill>
                <a:latin typeface="Microsoft YaHei"/>
              </a:rPr>
              <a:t>讽刺不必要的担忧（也可读出忧患意识）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cro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411480"/>
            <a:ext cx="8503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3200" b="1">
                <a:solidFill>
                  <a:srgbClr val="64461E"/>
                </a:solidFill>
                <a:latin typeface="Microsoft YaHei"/>
              </a:rPr>
              <a:t>文言积累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3600" b="1">
                <a:solidFill>
                  <a:srgbClr val="64461E"/>
                </a:solidFill>
                <a:latin typeface="Microsoft YaHei"/>
              </a:rPr>
              <a:t>得一人之使，非得一人于井中也。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8600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C8963C"/>
                </a:solidFill>
                <a:latin typeface="Microsoft YaHei"/>
              </a:rPr>
              <a:t>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834640"/>
            <a:ext cx="228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0">
                <a:solidFill>
                  <a:srgbClr val="64461E"/>
                </a:solidFill>
                <a:latin typeface="Microsoft YaHei"/>
              </a:rPr>
              <a:t>听说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103120"/>
            <a:ext cx="10058400" cy="1371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0" y="228600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C8963C"/>
                </a:solidFill>
                <a:latin typeface="Microsoft YaHei"/>
              </a:rPr>
              <a:t>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834640"/>
            <a:ext cx="228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0">
                <a:solidFill>
                  <a:srgbClr val="64461E"/>
                </a:solidFill>
                <a:latin typeface="Microsoft YaHei"/>
              </a:rPr>
              <a:t>讲述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2148839"/>
            <a:ext cx="10058400" cy="1371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28600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C8963C"/>
                </a:solidFill>
                <a:latin typeface="Microsoft YaHei"/>
              </a:rPr>
              <a:t>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834640"/>
            <a:ext cx="228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0">
                <a:solidFill>
                  <a:srgbClr val="64461E"/>
                </a:solidFill>
                <a:latin typeface="Microsoft YaHei"/>
              </a:rPr>
              <a:t>同「无」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2194560"/>
            <a:ext cx="10058400" cy="1371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59" y="228600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2400" b="1">
                <a:solidFill>
                  <a:srgbClr val="C8963C"/>
                </a:solidFill>
                <a:latin typeface="Microsoft YaHei"/>
              </a:rPr>
              <a:t>只使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59" y="2834640"/>
            <a:ext cx="228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0">
                <a:solidFill>
                  <a:srgbClr val="64461E"/>
                </a:solidFill>
                <a:latin typeface="Microsoft YaHei"/>
              </a:rPr>
              <a:t>纵使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2240279"/>
            <a:ext cx="10058400" cy="1371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4114800"/>
            <a:ext cx="10332720" cy="36576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4389120"/>
            <a:ext cx="94183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</a:pPr>
            <a:r>
              <a:rPr sz="2800" b="0">
                <a:solidFill>
                  <a:srgbClr val="64461E"/>
                </a:solidFill>
                <a:latin typeface="Microsoft YaHei"/>
              </a:rPr>
              <a:t>节省了一个人的劳力，并不是从井里挖出一个人。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cro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457200"/>
            <a:ext cx="94183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64461E"/>
                </a:solidFill>
                <a:latin typeface="Microsoft YaHei"/>
              </a:rPr>
              <a:t>写法探究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28016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800"/>
              </a:spcAft>
            </a:pPr>
            <a:r>
              <a:rPr sz="2200" b="1">
                <a:solidFill>
                  <a:srgbClr val="C8963C"/>
                </a:solidFill>
                <a:latin typeface="Microsoft YaHei"/>
              </a:rPr>
              <a:t>情节设计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280160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64461E"/>
                </a:solidFill>
                <a:latin typeface="Microsoft YaHei"/>
              </a:rPr>
              <a:t>寓意藏在欲望、选择与意外后果中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800"/>
              </a:spcAft>
            </a:pPr>
            <a:r>
              <a:rPr sz="2200" b="1">
                <a:solidFill>
                  <a:srgbClr val="C8963C"/>
                </a:solidFill>
                <a:latin typeface="Microsoft YaHei"/>
              </a:rPr>
              <a:t>改情节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2011680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64461E"/>
                </a:solidFill>
                <a:latin typeface="Microsoft YaHei"/>
              </a:rPr>
              <a:t>蚊子平静离开→寓意变为「懂得适可而止」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74320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800"/>
              </a:spcAft>
            </a:pPr>
            <a:r>
              <a:rPr sz="2200" b="1">
                <a:solidFill>
                  <a:srgbClr val="C8963C"/>
                </a:solidFill>
                <a:latin typeface="Microsoft YaHei"/>
              </a:rPr>
              <a:t>阅读法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743200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64461E"/>
                </a:solidFill>
                <a:latin typeface="Microsoft YaHei"/>
              </a:rPr>
              <a:t>读懂「为什么这样结尾」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47472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800"/>
              </a:spcAft>
            </a:pPr>
            <a:r>
              <a:rPr sz="2200" b="1">
                <a:solidFill>
                  <a:srgbClr val="C8963C"/>
                </a:solidFill>
                <a:latin typeface="Microsoft YaHei"/>
              </a:rPr>
              <a:t>策展主题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474720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64461E"/>
                </a:solidFill>
                <a:latin typeface="Microsoft YaHei"/>
              </a:rPr>
              <a:t>认识认知局限，善用智慧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cro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457200"/>
            <a:ext cx="94183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64461E"/>
                </a:solidFill>
                <a:latin typeface="Microsoft YaHei"/>
              </a:rPr>
              <a:t>▶ 学习任务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28016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800"/>
              </a:spcAft>
            </a:pPr>
            <a:r>
              <a:rPr sz="2200" b="1">
                <a:solidFill>
                  <a:srgbClr val="C8963C"/>
                </a:solidFill>
                <a:latin typeface="Microsoft YaHe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280160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64461E"/>
                </a:solidFill>
                <a:latin typeface="Microsoft YaHei"/>
              </a:rPr>
              <a:t>完成「寓言档案卡」，概括四则寓意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800"/>
              </a:spcAft>
            </a:pPr>
            <a:r>
              <a:rPr sz="2200" b="1">
                <a:solidFill>
                  <a:srgbClr val="C8963C"/>
                </a:solidFill>
                <a:latin typeface="Microsoft YaHe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2011680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64461E"/>
                </a:solidFill>
                <a:latin typeface="Microsoft YaHei"/>
              </a:rPr>
              <a:t>解释加点词，翻译重点句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74320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800"/>
              </a:spcAft>
            </a:pPr>
            <a:r>
              <a:rPr sz="2200" b="1">
                <a:solidFill>
                  <a:srgbClr val="C8963C"/>
                </a:solidFill>
                <a:latin typeface="Microsoft YaHe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743200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64461E"/>
                </a:solidFill>
                <a:latin typeface="Microsoft YaHei"/>
              </a:rPr>
              <a:t>任选一则寓言新编（100—200字）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