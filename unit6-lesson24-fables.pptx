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F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C89628"/>
                </a:solidFill>
                <a:latin typeface="Microsoft YaHei"/>
              </a:rPr>
              <a:t>寓言四则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5A461E"/>
                </a:solidFill>
                <a:latin typeface="Microsoft YaHei"/>
              </a:rPr>
              <a:t>第24课 · 第八、九课时 · 智慧与局限</a:t>
            </a:r>
          </a:p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F0C864"/>
                </a:solidFill>
                <a:latin typeface="Microsoft YaHei"/>
              </a:rPr>
              <a:t>含课堂笔记 · 2026版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知识要点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C89628"/>
                </a:solidFill>
                <a:latin typeface="Microsoft YaHei"/>
              </a:rPr>
              <a:t>文体知识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寓言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短小故事，寄寓深刻道理，多运用拟人手法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特点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情节简短、人物典型、寓意明确、多讽刺或警醒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四则出处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《赫耳墨斯和雕像者》《蚊子和狮子》出自《伊索寓言》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4041648"/>
            <a:ext cx="8915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《穿井得一人》《杞人忧天》出自《吕氏春秋》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寓意笔记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C89628"/>
                </a:solidFill>
                <a:latin typeface="Microsoft YaHei"/>
              </a:rPr>
              <a:t>四则寓意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444752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赫耳墨斯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1627632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讽刺自高自大、妄自尊重的人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737360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蚊子和狮子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432303"/>
            <a:ext cx="70408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再小的个体也有长处，骄兵必败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737360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穿井得一人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236976"/>
            <a:ext cx="70408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以讹传讹，调查求证才能辨明真相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杞人忧天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讽刺不必要的担忧（也可读出忧患意识）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文言笔记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C89628"/>
                </a:solidFill>
                <a:latin typeface="Microsoft YaHei"/>
              </a:rPr>
              <a:t>文言积累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4526280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4142232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听说；传：传播、流传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讲述、说（国人道之）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280160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36976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同「无」，没有（亡处亡气）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280160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只使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4164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纵使、即使；中伤：伤害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5495544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00200" y="4846320"/>
            <a:ext cx="1280160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200" y="4864608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重点句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846320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得一人之使，非得一人于井中也。（节省一人劳力，不是井里挖出一人）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主题笔记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C89628"/>
                </a:solidFill>
                <a:latin typeface="Microsoft YaHei"/>
              </a:rPr>
              <a:t>写法探究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444752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情节设计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1627632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寓意藏在人物的欲望、选择与意外后果中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2029967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202996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改情节改寓意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2432303"/>
            <a:ext cx="674827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蚊子战胜后平静离开→寓意从「骄兵必败」变为「懂得适可而止」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阅读方法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读懂「为什么这样结尾」，才能读到真正的提醒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策展主题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A461E"/>
                </a:solidFill>
                <a:latin typeface="Microsoft YaHei"/>
              </a:rPr>
              <a:t>认识自己的认知局限，善用智慧（智慧与局限）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课堂活动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C89628"/>
                </a:solidFill>
                <a:latin typeface="Microsoft YaHei"/>
              </a:rPr>
              <a:t>学习任务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2112264"/>
          </a:xfrm>
          <a:prstGeom prst="roundRect">
            <a:avLst/>
          </a:prstGeom>
          <a:solidFill>
            <a:srgbClr val="FFFCF0"/>
          </a:solidFill>
          <a:ln w="19050">
            <a:solidFill>
              <a:srgbClr val="F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完成「寓言档案卡」，概括四则寓意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解释加点词，翻译重点句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962656"/>
            <a:ext cx="347472" cy="347472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98094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94436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任选一则寓言新编（100—200字）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回顾收获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C89628"/>
                </a:solidFill>
                <a:latin typeface="Microsoft YaHei"/>
              </a:rPr>
              <a:t>课堂小结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1837944"/>
          </a:xfrm>
          <a:prstGeom prst="roundRect">
            <a:avLst/>
          </a:prstGeom>
          <a:solidFill>
            <a:srgbClr val="FFFCF0"/>
          </a:solidFill>
          <a:ln w="19050">
            <a:solidFill>
              <a:srgbClr val="F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461E"/>
                </a:solidFill>
                <a:latin typeface="Microsoft YaHei"/>
              </a:rPr>
              <a:t>寓言=故事+道理，道理由情节自然推出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04288"/>
            <a:ext cx="347472" cy="347472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32257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2860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461E"/>
                </a:solidFill>
                <a:latin typeface="Microsoft YaHei"/>
              </a:rPr>
              <a:t>文言：闻、传、道、亡；重点句要准确翻译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779776"/>
            <a:ext cx="347472" cy="347472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79806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7614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A461E"/>
                </a:solidFill>
                <a:latin typeface="Microsoft YaHei"/>
              </a:rPr>
              <a:t>策展主题四：智慧与局限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able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able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A461E"/>
                </a:solidFill>
                <a:latin typeface="Microsoft YaHei"/>
              </a:rPr>
              <a:t>课后延伸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C89628"/>
                </a:solidFill>
                <a:latin typeface="Microsoft YaHei"/>
              </a:rPr>
              <a:t>课后作业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1545336"/>
          </a:xfrm>
          <a:prstGeom prst="roundRect">
            <a:avLst/>
          </a:prstGeom>
          <a:solidFill>
            <a:srgbClr val="FFFCF0"/>
          </a:solidFill>
          <a:ln w="19050">
            <a:solidFill>
              <a:srgbClr val="F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必做：用「这则寓言告诉我们……」写《蚊子和狮子》启示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C8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A461E"/>
                </a:solidFill>
                <a:latin typeface="Microsoft YaHei"/>
              </a:rPr>
              <a:t>背诵：得一人之使，非得一人于井中也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