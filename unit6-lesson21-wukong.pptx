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329184"/>
            <a:ext cx="11484864" cy="6190488"/>
          </a:xfrm>
          <a:prstGeom prst="rect">
            <a:avLst/>
          </a:prstGeom>
          <a:noFill/>
          <a:ln w="1270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9418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>
                <a:solidFill>
                  <a:srgbClr val="DC5028"/>
                </a:solidFill>
                <a:latin typeface="Microsoft YaHei"/>
              </a:rPr>
              <a:t>小圣施威降大圣</a:t>
            </a:r>
          </a:p>
          <a:p>
            <a:pPr algn="ctr">
              <a:spcAft>
                <a:spcPts val="1000"/>
              </a:spcAft>
            </a:pPr>
            <a:r>
              <a:rPr sz="2600" b="0">
                <a:solidFill>
                  <a:srgbClr val="502814"/>
                </a:solidFill>
                <a:latin typeface="Microsoft YaHei"/>
              </a:rPr>
              <a:t>第21课 · 第二、三课时 · 自由与规则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课时目标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本课目标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梳理孙悟空与二郎神的变化链，概括故事经过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分析神魔形象及小说想象的趣味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探究「自由与规则」母题，提炼策展主题一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100584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102412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想一想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02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200" b="1">
                <a:solidFill>
                  <a:srgbClr val="DC5028"/>
                </a:solidFill>
                <a:latin typeface="Microsoft YaHei"/>
              </a:rPr>
              <a:t>高手过招，吸引人的不只是「谁赢了」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38912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DC5028"/>
                </a:solidFill>
                <a:latin typeface="Microsoft YaHei"/>
              </a:rPr>
              <a:t>把自己当作赛事解说员，抓住每一次变化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变形追逐图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学习任务一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默读课文，圈出每次「变作」对象，标序号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填写七十二变对照表（孙悟空先变—二郎神相克）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用「孙悟空先……，二郎神便……」复述最精彩一轮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加解说词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学习任务二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变庙宇：尾巴为何变旗竿？写一句批注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完成人物档案卡（证据—特点—作用）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批注鲁迅、林庚的评论，找「人情」与「世故」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100584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102412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想一想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002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200" b="1">
                <a:solidFill>
                  <a:srgbClr val="DC5028"/>
                </a:solidFill>
                <a:latin typeface="Microsoft YaHei"/>
              </a:rPr>
              <a:t>「使神魔皆有人情，精魅亦通世故」
课文哪里体现了人情与世故？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38912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DC5028"/>
                </a:solidFill>
                <a:latin typeface="Microsoft YaHei"/>
              </a:rPr>
              <a:t>林庚：不宜看得过于认真，应看到儿童心理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主题探究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学习任务三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讨论：孙悟空为何逃？天庭为何捉他？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联系生活：追求自由与遵守规则矛盾吗？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策展主题一：自由可贵，但需守规则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回顾收获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课堂小结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2240280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想象精彩，来自变化中的因果回应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神魔有法力，也有机敏、急切、好胜等人情味</a:t>
            </a:r>
          </a:p>
        </p:txBody>
      </p:sp>
      <p:sp>
        <p:nvSpPr>
          <p:cNvPr id="17" name="Oval 16"/>
          <p:cNvSpPr/>
          <p:nvPr/>
        </p:nvSpPr>
        <p:spPr>
          <a:xfrm>
            <a:off x="2255824" y="2962656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55824" y="2980944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8744" y="29443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策展主题：自由与规则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92608" y="274320"/>
            <a:ext cx="11594592" cy="6300216"/>
          </a:xfrm>
          <a:prstGeom prst="rect">
            <a:avLst/>
          </a:prstGeom>
          <a:noFill/>
          <a:ln w="31750">
            <a:solidFill>
              <a:srgbClr val="C85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rner_wukong_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" y="-45720"/>
            <a:ext cx="2011680" cy="2011680"/>
          </a:xfrm>
          <a:prstGeom prst="rect">
            <a:avLst/>
          </a:prstGeom>
        </p:spPr>
      </p:pic>
      <p:pic>
        <p:nvPicPr>
          <p:cNvPr id="5" name="Picture 4" descr="corner_wukong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0" y="-45720"/>
            <a:ext cx="201168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53304" y="502920"/>
            <a:ext cx="2286000" cy="411480"/>
          </a:xfrm>
          <a:prstGeom prst="round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3304" y="521208"/>
            <a:ext cx="22860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502814"/>
                </a:solidFill>
                <a:latin typeface="Microsoft YaHei"/>
              </a:rPr>
              <a:t>课后延伸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601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3600" b="1">
                <a:solidFill>
                  <a:srgbClr val="DC5028"/>
                </a:solidFill>
                <a:latin typeface="Microsoft YaHei"/>
              </a:rPr>
              <a:t>课后作业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5760720" cy="27432"/>
          </a:xfrm>
          <a:prstGeom prst="rect">
            <a:avLst/>
          </a:prstGeom>
          <a:solidFill>
            <a:srgbClr val="FFB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5704" y="1645920"/>
            <a:ext cx="9601200" cy="1645920"/>
          </a:xfrm>
          <a:prstGeom prst="roundRect">
            <a:avLst/>
          </a:prstGeom>
          <a:solidFill>
            <a:srgbClr val="FFF8F0"/>
          </a:solidFill>
          <a:ln w="19050">
            <a:solidFill>
              <a:srgbClr val="FFB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55824" y="1828800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824" y="1847088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8744" y="18105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必做：写80字「赛事快讯」（至少三次变化）</a:t>
            </a:r>
          </a:p>
        </p:txBody>
      </p:sp>
      <p:sp>
        <p:nvSpPr>
          <p:cNvPr id="14" name="Oval 13"/>
          <p:cNvSpPr/>
          <p:nvPr/>
        </p:nvSpPr>
        <p:spPr>
          <a:xfrm>
            <a:off x="2255824" y="2395728"/>
            <a:ext cx="384048" cy="384048"/>
          </a:xfrm>
          <a:prstGeom prst="ellipse">
            <a:avLst/>
          </a:prstGeom>
          <a:solidFill>
            <a:srgbClr val="DC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5824" y="2414016"/>
            <a:ext cx="3840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8744" y="23774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502814"/>
                </a:solidFill>
                <a:latin typeface="Microsoft YaHei"/>
              </a:rPr>
              <a:t>链接：作者吴承恩，成书明代，再写一个经典情节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