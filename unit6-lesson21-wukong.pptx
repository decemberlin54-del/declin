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wuko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C85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wukong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wukong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C85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329184"/>
            <a:ext cx="11484864" cy="6190488"/>
          </a:xfrm>
          <a:prstGeom prst="rect">
            <a:avLst/>
          </a:prstGeom>
          <a:noFill/>
          <a:ln w="12700">
            <a:solidFill>
              <a:srgbClr val="FF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828800"/>
            <a:ext cx="9418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5200" b="1">
                <a:solidFill>
                  <a:srgbClr val="DC5028"/>
                </a:solidFill>
                <a:latin typeface="Microsoft YaHei"/>
              </a:rPr>
              <a:t>小圣施威降大圣</a:t>
            </a:r>
          </a:p>
          <a:p>
            <a:pPr algn="ctr">
              <a:spcAft>
                <a:spcPts val="1000"/>
              </a:spcAft>
            </a:pPr>
            <a:r>
              <a:rPr sz="2600" b="0">
                <a:solidFill>
                  <a:srgbClr val="502814"/>
                </a:solidFill>
                <a:latin typeface="Microsoft YaHei"/>
              </a:rPr>
              <a:t>第21课 · 第二、三课时 · 自由与规则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5029200"/>
            <a:ext cx="5760720" cy="27432"/>
          </a:xfrm>
          <a:prstGeom prst="rect">
            <a:avLst/>
          </a:prstGeom>
          <a:solidFill>
            <a:srgbClr val="FF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wuko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C85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wukong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wukong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953304" y="502920"/>
            <a:ext cx="2286000" cy="411480"/>
          </a:xfrm>
          <a:prstGeom prst="roundRect">
            <a:avLst/>
          </a:prstGeom>
          <a:solidFill>
            <a:srgbClr val="FF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3304" y="521208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502814"/>
                </a:solidFill>
                <a:latin typeface="Microsoft YaHei"/>
              </a:rPr>
              <a:t>课堂笔记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05156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600" b="1">
                <a:solidFill>
                  <a:srgbClr val="DC5028"/>
                </a:solidFill>
                <a:latin typeface="Microsoft YaHei"/>
              </a:rPr>
              <a:t>文学常识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691640"/>
            <a:ext cx="5760720" cy="27432"/>
          </a:xfrm>
          <a:prstGeom prst="rect">
            <a:avLst/>
          </a:prstGeom>
          <a:solidFill>
            <a:srgbClr val="FF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49984" y="1810512"/>
            <a:ext cx="9692640" cy="3319272"/>
          </a:xfrm>
          <a:prstGeom prst="roundRect">
            <a:avLst/>
          </a:prstGeom>
          <a:solidFill>
            <a:srgbClr val="FFF8F0"/>
          </a:solidFill>
          <a:ln w="19050">
            <a:solidFill>
              <a:srgbClr val="FF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1920240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1000"/>
              </a:spcAft>
            </a:pPr>
            <a:r>
              <a:rPr sz="2200" b="1">
                <a:solidFill>
                  <a:srgbClr val="DC5028"/>
                </a:solidFill>
                <a:latin typeface="Microsoft YaHei"/>
              </a:rPr>
              <a:t>作者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1920240"/>
            <a:ext cx="71323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502814"/>
                </a:solidFill>
                <a:latin typeface="Microsoft YaHei"/>
              </a:rPr>
              <a:t>吴承恩，明代小说家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670048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1000"/>
              </a:spcAft>
            </a:pPr>
            <a:r>
              <a:rPr sz="2200" b="1">
                <a:solidFill>
                  <a:srgbClr val="DC5028"/>
                </a:solidFill>
                <a:latin typeface="Microsoft YaHei"/>
              </a:rPr>
              <a:t>出处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670048"/>
            <a:ext cx="71323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502814"/>
                </a:solidFill>
                <a:latin typeface="Microsoft YaHei"/>
              </a:rPr>
              <a:t>章回体长篇小说《西游记》节选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19856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1000"/>
              </a:spcAft>
            </a:pPr>
            <a:r>
              <a:rPr sz="2200" b="1">
                <a:solidFill>
                  <a:srgbClr val="DC5028"/>
                </a:solidFill>
                <a:latin typeface="Microsoft YaHei"/>
              </a:rPr>
              <a:t>文体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3419856"/>
            <a:ext cx="71323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502814"/>
                </a:solidFill>
                <a:latin typeface="Microsoft YaHei"/>
              </a:rPr>
              <a:t>神魔小说——以神魔斗法写人情世故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169664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1000"/>
              </a:spcAft>
            </a:pPr>
            <a:r>
              <a:rPr sz="2200" b="1">
                <a:solidFill>
                  <a:srgbClr val="DC5028"/>
                </a:solidFill>
                <a:latin typeface="Microsoft YaHei"/>
              </a:rPr>
              <a:t>本文情节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4169664"/>
            <a:ext cx="71323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502814"/>
                </a:solidFill>
                <a:latin typeface="Microsoft YaHei"/>
              </a:rPr>
              <a:t>孙悟空大闹天宫后，二郎神奉旨捉拿，二人变化斗法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wuko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C85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wukong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wukong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953304" y="502920"/>
            <a:ext cx="2286000" cy="411480"/>
          </a:xfrm>
          <a:prstGeom prst="roundRect">
            <a:avLst/>
          </a:prstGeom>
          <a:solidFill>
            <a:srgbClr val="FF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3304" y="521208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502814"/>
                </a:solidFill>
                <a:latin typeface="Microsoft YaHei"/>
              </a:rPr>
              <a:t>情节笔记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05156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600" b="1">
                <a:solidFill>
                  <a:srgbClr val="DC5028"/>
                </a:solidFill>
                <a:latin typeface="Microsoft YaHei"/>
              </a:rPr>
              <a:t>变化链梳理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691640"/>
            <a:ext cx="5760720" cy="27432"/>
          </a:xfrm>
          <a:prstGeom prst="rect">
            <a:avLst/>
          </a:prstGeom>
          <a:solidFill>
            <a:srgbClr val="FF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49984" y="1810512"/>
            <a:ext cx="9692640" cy="3319272"/>
          </a:xfrm>
          <a:prstGeom prst="roundRect">
            <a:avLst/>
          </a:prstGeom>
          <a:solidFill>
            <a:srgbClr val="FFF8F0"/>
          </a:solidFill>
          <a:ln w="19050">
            <a:solidFill>
              <a:srgbClr val="FF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1920240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1000"/>
              </a:spcAft>
            </a:pPr>
            <a:r>
              <a:rPr sz="2200" b="1">
                <a:solidFill>
                  <a:srgbClr val="DC5028"/>
                </a:solidFill>
                <a:latin typeface="Microsoft YaHei"/>
              </a:rPr>
              <a:t>第1轮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1920240"/>
            <a:ext cx="71323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502814"/>
                </a:solidFill>
                <a:latin typeface="Microsoft YaHei"/>
              </a:rPr>
              <a:t>悟空变鸟→二郎变鹰；悟空变鱼→二郎变鱼鹰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670048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1000"/>
              </a:spcAft>
            </a:pPr>
            <a:r>
              <a:rPr sz="2200" b="1">
                <a:solidFill>
                  <a:srgbClr val="DC5028"/>
                </a:solidFill>
                <a:latin typeface="Microsoft YaHei"/>
              </a:rPr>
              <a:t>第2轮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670048"/>
            <a:ext cx="71323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502814"/>
                </a:solidFill>
                <a:latin typeface="Microsoft YaHei"/>
              </a:rPr>
              <a:t>悟空变水蛇→二郎变灰鹤；悟空变花鸨→二郎现原身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19856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1000"/>
              </a:spcAft>
            </a:pPr>
            <a:r>
              <a:rPr sz="2200" b="1">
                <a:solidFill>
                  <a:srgbClr val="DC5028"/>
                </a:solidFill>
                <a:latin typeface="Microsoft YaHei"/>
              </a:rPr>
              <a:t>第3轮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3419856"/>
            <a:ext cx="71323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502814"/>
                </a:solidFill>
                <a:latin typeface="Microsoft YaHei"/>
              </a:rPr>
              <a:t>悟空变庙宇，尾巴变旗竿→二郎识破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169664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1000"/>
              </a:spcAft>
            </a:pPr>
            <a:r>
              <a:rPr sz="2200" b="1">
                <a:solidFill>
                  <a:srgbClr val="DC5028"/>
                </a:solidFill>
                <a:latin typeface="Microsoft YaHei"/>
              </a:rPr>
              <a:t>规律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4169664"/>
            <a:ext cx="71323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502814"/>
                </a:solidFill>
                <a:latin typeface="Microsoft YaHei"/>
              </a:rPr>
              <a:t>孙悟空先变，二郎神随即以相克之物相对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wuko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C85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wukong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wukong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953304" y="502920"/>
            <a:ext cx="2286000" cy="411480"/>
          </a:xfrm>
          <a:prstGeom prst="roundRect">
            <a:avLst/>
          </a:prstGeom>
          <a:solidFill>
            <a:srgbClr val="FF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3304" y="521208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502814"/>
                </a:solidFill>
                <a:latin typeface="Microsoft YaHei"/>
              </a:rPr>
              <a:t>人物笔记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05156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600" b="1">
                <a:solidFill>
                  <a:srgbClr val="DC5028"/>
                </a:solidFill>
                <a:latin typeface="Microsoft YaHei"/>
              </a:rPr>
              <a:t>人物赏析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691640"/>
            <a:ext cx="5760720" cy="27432"/>
          </a:xfrm>
          <a:prstGeom prst="rect">
            <a:avLst/>
          </a:prstGeom>
          <a:solidFill>
            <a:srgbClr val="FF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49984" y="1810512"/>
            <a:ext cx="9692640" cy="3319272"/>
          </a:xfrm>
          <a:prstGeom prst="roundRect">
            <a:avLst/>
          </a:prstGeom>
          <a:solidFill>
            <a:srgbClr val="FFF8F0"/>
          </a:solidFill>
          <a:ln w="19050">
            <a:solidFill>
              <a:srgbClr val="FF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1920240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1000"/>
              </a:spcAft>
            </a:pPr>
            <a:r>
              <a:rPr sz="2200" b="1">
                <a:solidFill>
                  <a:srgbClr val="DC5028"/>
                </a:solidFill>
                <a:latin typeface="Microsoft YaHei"/>
              </a:rPr>
              <a:t>孙悟空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1920240"/>
            <a:ext cx="71323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502814"/>
                </a:solidFill>
                <a:latin typeface="Microsoft YaHei"/>
              </a:rPr>
              <a:t>机敏善变、好胜不屈，追求自由（证据：连续变化、不肯认输）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670048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1000"/>
              </a:spcAft>
            </a:pPr>
            <a:r>
              <a:rPr sz="2200" b="1">
                <a:solidFill>
                  <a:srgbClr val="DC5028"/>
                </a:solidFill>
                <a:latin typeface="Microsoft YaHei"/>
              </a:rPr>
              <a:t>二郎神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670048"/>
            <a:ext cx="71323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502814"/>
                </a:solidFill>
                <a:latin typeface="Microsoft YaHei"/>
              </a:rPr>
              <a:t>沉着冷静、法力高强，维护天庭秩序（证据：紧追不舍、识破破绽）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19856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1000"/>
              </a:spcAft>
            </a:pPr>
            <a:r>
              <a:rPr sz="2200" b="1">
                <a:solidFill>
                  <a:srgbClr val="DC5028"/>
                </a:solidFill>
                <a:latin typeface="Microsoft YaHei"/>
              </a:rPr>
              <a:t>分析方法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3419856"/>
            <a:ext cx="71323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502814"/>
                </a:solidFill>
                <a:latin typeface="Microsoft YaHei"/>
              </a:rPr>
              <a:t>证据—特点—作用：找细节→概括性格→联系主题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169664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1000"/>
              </a:spcAft>
            </a:pPr>
            <a:r>
              <a:rPr sz="2200" b="1">
                <a:solidFill>
                  <a:srgbClr val="DC5028"/>
                </a:solidFill>
                <a:latin typeface="Microsoft YaHei"/>
              </a:rPr>
              <a:t>变旗竿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4169664"/>
            <a:ext cx="71323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502814"/>
                </a:solidFill>
                <a:latin typeface="Microsoft YaHei"/>
              </a:rPr>
              <a:t>紧张又好笑——神通广大也有露馅之时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wuko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C85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wukong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wukong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953304" y="502920"/>
            <a:ext cx="2286000" cy="411480"/>
          </a:xfrm>
          <a:prstGeom prst="roundRect">
            <a:avLst/>
          </a:prstGeom>
          <a:solidFill>
            <a:srgbClr val="FF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3304" y="521208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502814"/>
                </a:solidFill>
                <a:latin typeface="Microsoft YaHei"/>
              </a:rPr>
              <a:t>主题笔记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05156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600" b="1">
                <a:solidFill>
                  <a:srgbClr val="DC5028"/>
                </a:solidFill>
                <a:latin typeface="Microsoft YaHei"/>
              </a:rPr>
              <a:t>名家点评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691640"/>
            <a:ext cx="5760720" cy="27432"/>
          </a:xfrm>
          <a:prstGeom prst="rect">
            <a:avLst/>
          </a:prstGeom>
          <a:solidFill>
            <a:srgbClr val="FF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49984" y="1810512"/>
            <a:ext cx="9692640" cy="3319272"/>
          </a:xfrm>
          <a:prstGeom prst="roundRect">
            <a:avLst/>
          </a:prstGeom>
          <a:solidFill>
            <a:srgbClr val="FFF8F0"/>
          </a:solidFill>
          <a:ln w="19050">
            <a:solidFill>
              <a:srgbClr val="FF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1920240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1000"/>
              </a:spcAft>
            </a:pPr>
            <a:r>
              <a:rPr sz="2200" b="1">
                <a:solidFill>
                  <a:srgbClr val="DC5028"/>
                </a:solidFill>
                <a:latin typeface="Microsoft YaHei"/>
              </a:rPr>
              <a:t>鲁迅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1920240"/>
            <a:ext cx="71323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502814"/>
                </a:solidFill>
                <a:latin typeface="Microsoft YaHei"/>
              </a:rPr>
              <a:t>「使神魔皆有人情，精魅亦通世故」——神魔也有人的情感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670048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1000"/>
              </a:spcAft>
            </a:pPr>
            <a:r>
              <a:rPr sz="2200" b="1">
                <a:solidFill>
                  <a:srgbClr val="DC5028"/>
                </a:solidFill>
                <a:latin typeface="Microsoft YaHei"/>
              </a:rPr>
              <a:t>林庚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670048"/>
            <a:ext cx="71323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502814"/>
                </a:solidFill>
                <a:latin typeface="Microsoft YaHei"/>
              </a:rPr>
              <a:t>不宜看得过于认真，应看到儿童的心理与行为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19856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1000"/>
              </a:spcAft>
            </a:pPr>
            <a:r>
              <a:rPr sz="2200" b="1">
                <a:solidFill>
                  <a:srgbClr val="DC5028"/>
                </a:solidFill>
                <a:latin typeface="Microsoft YaHei"/>
              </a:rPr>
              <a:t>艺术特色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3419856"/>
            <a:ext cx="71323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502814"/>
                </a:solidFill>
                <a:latin typeface="Microsoft YaHei"/>
              </a:rPr>
              <a:t>想象基于「相克」逻辑，变化链环环相扣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169664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1000"/>
              </a:spcAft>
            </a:pPr>
            <a:r>
              <a:rPr sz="2200" b="1">
                <a:solidFill>
                  <a:srgbClr val="DC5028"/>
                </a:solidFill>
                <a:latin typeface="Microsoft YaHei"/>
              </a:rPr>
              <a:t>策展主题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4169664"/>
            <a:ext cx="71323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502814"/>
                </a:solidFill>
                <a:latin typeface="Microsoft YaHei"/>
              </a:rPr>
              <a:t>自由可贵，但不可无视规则（自由与规则）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wuko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C85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wukong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wukong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953304" y="502920"/>
            <a:ext cx="2286000" cy="411480"/>
          </a:xfrm>
          <a:prstGeom prst="roundRect">
            <a:avLst/>
          </a:prstGeom>
          <a:solidFill>
            <a:srgbClr val="FF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3304" y="521208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502814"/>
                </a:solidFill>
                <a:latin typeface="Microsoft YaHei"/>
              </a:rPr>
              <a:t>课堂活动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05156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600" b="1">
                <a:solidFill>
                  <a:srgbClr val="DC5028"/>
                </a:solidFill>
                <a:latin typeface="Microsoft YaHei"/>
              </a:rPr>
              <a:t>学习任务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691640"/>
            <a:ext cx="5760720" cy="27432"/>
          </a:xfrm>
          <a:prstGeom prst="rect">
            <a:avLst/>
          </a:prstGeom>
          <a:solidFill>
            <a:srgbClr val="FF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95704" y="1737360"/>
            <a:ext cx="9601200" cy="2112264"/>
          </a:xfrm>
          <a:prstGeom prst="roundRect">
            <a:avLst/>
          </a:prstGeom>
          <a:solidFill>
            <a:srgbClr val="FFF8F0"/>
          </a:solidFill>
          <a:ln w="19050">
            <a:solidFill>
              <a:srgbClr val="FF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621584" y="1920240"/>
            <a:ext cx="347472" cy="347472"/>
          </a:xfrm>
          <a:prstGeom prst="ellipse">
            <a:avLst/>
          </a:prstGeom>
          <a:solidFill>
            <a:srgbClr val="DC5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21584" y="1938528"/>
            <a:ext cx="347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8784" y="1901952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502814"/>
                </a:solidFill>
                <a:latin typeface="Microsoft YaHei"/>
              </a:rPr>
              <a:t>填写七十二变对照表，标出相克关系</a:t>
            </a:r>
          </a:p>
        </p:txBody>
      </p:sp>
      <p:sp>
        <p:nvSpPr>
          <p:cNvPr id="14" name="Oval 13"/>
          <p:cNvSpPr/>
          <p:nvPr/>
        </p:nvSpPr>
        <p:spPr>
          <a:xfrm>
            <a:off x="2621584" y="2487168"/>
            <a:ext cx="347472" cy="347472"/>
          </a:xfrm>
          <a:prstGeom prst="ellipse">
            <a:avLst/>
          </a:prstGeom>
          <a:solidFill>
            <a:srgbClr val="DC5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21584" y="2505456"/>
            <a:ext cx="347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78784" y="246888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502814"/>
                </a:solidFill>
                <a:latin typeface="Microsoft YaHei"/>
              </a:rPr>
              <a:t>完成人物档案卡（证据—特点—作用）</a:t>
            </a:r>
          </a:p>
        </p:txBody>
      </p:sp>
      <p:sp>
        <p:nvSpPr>
          <p:cNvPr id="17" name="Oval 16"/>
          <p:cNvSpPr/>
          <p:nvPr/>
        </p:nvSpPr>
        <p:spPr>
          <a:xfrm>
            <a:off x="2621584" y="3054096"/>
            <a:ext cx="347472" cy="347472"/>
          </a:xfrm>
          <a:prstGeom prst="ellipse">
            <a:avLst/>
          </a:prstGeom>
          <a:solidFill>
            <a:srgbClr val="DC5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21584" y="3072384"/>
            <a:ext cx="347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8784" y="3035808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502814"/>
                </a:solidFill>
                <a:latin typeface="Microsoft YaHei"/>
              </a:rPr>
              <a:t>用「孙悟空先……，二郎神便……」复述最精彩一轮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wuko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C85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wukong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wukong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953304" y="502920"/>
            <a:ext cx="2286000" cy="411480"/>
          </a:xfrm>
          <a:prstGeom prst="roundRect">
            <a:avLst/>
          </a:prstGeom>
          <a:solidFill>
            <a:srgbClr val="FF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3304" y="521208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502814"/>
                </a:solidFill>
                <a:latin typeface="Microsoft YaHei"/>
              </a:rPr>
              <a:t>回顾收获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05156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600" b="1">
                <a:solidFill>
                  <a:srgbClr val="DC5028"/>
                </a:solidFill>
                <a:latin typeface="Microsoft YaHei"/>
              </a:rPr>
              <a:t>课堂小结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691640"/>
            <a:ext cx="5760720" cy="27432"/>
          </a:xfrm>
          <a:prstGeom prst="rect">
            <a:avLst/>
          </a:prstGeom>
          <a:solidFill>
            <a:srgbClr val="FF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95704" y="1737360"/>
            <a:ext cx="9601200" cy="1837944"/>
          </a:xfrm>
          <a:prstGeom prst="roundRect">
            <a:avLst/>
          </a:prstGeom>
          <a:solidFill>
            <a:srgbClr val="FFF8F0"/>
          </a:solidFill>
          <a:ln w="19050">
            <a:solidFill>
              <a:srgbClr val="FF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621584" y="1920240"/>
            <a:ext cx="347472" cy="347472"/>
          </a:xfrm>
          <a:prstGeom prst="ellipse">
            <a:avLst/>
          </a:prstGeom>
          <a:solidFill>
            <a:srgbClr val="DC5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21584" y="1938528"/>
            <a:ext cx="347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8784" y="1901952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502814"/>
                </a:solidFill>
                <a:latin typeface="Microsoft YaHei"/>
              </a:rPr>
              <a:t>神魔小说：想象在「相克」中见趣味，在斗法中见人情</a:t>
            </a:r>
          </a:p>
        </p:txBody>
      </p:sp>
      <p:sp>
        <p:nvSpPr>
          <p:cNvPr id="14" name="Oval 13"/>
          <p:cNvSpPr/>
          <p:nvPr/>
        </p:nvSpPr>
        <p:spPr>
          <a:xfrm>
            <a:off x="2621584" y="2395728"/>
            <a:ext cx="347472" cy="347472"/>
          </a:xfrm>
          <a:prstGeom prst="ellipse">
            <a:avLst/>
          </a:prstGeom>
          <a:solidFill>
            <a:srgbClr val="DC5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21584" y="2414016"/>
            <a:ext cx="347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78784" y="237744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502814"/>
                </a:solidFill>
                <a:latin typeface="Microsoft YaHei"/>
              </a:rPr>
              <a:t>变化链是因果回应，不是随意编造</a:t>
            </a:r>
          </a:p>
        </p:txBody>
      </p:sp>
      <p:sp>
        <p:nvSpPr>
          <p:cNvPr id="17" name="Oval 16"/>
          <p:cNvSpPr/>
          <p:nvPr/>
        </p:nvSpPr>
        <p:spPr>
          <a:xfrm>
            <a:off x="2621584" y="2871216"/>
            <a:ext cx="347472" cy="347472"/>
          </a:xfrm>
          <a:prstGeom prst="ellipse">
            <a:avLst/>
          </a:prstGeom>
          <a:solidFill>
            <a:srgbClr val="DC5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21584" y="2889504"/>
            <a:ext cx="347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8784" y="2852928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502814"/>
                </a:solidFill>
                <a:latin typeface="Microsoft YaHei"/>
              </a:rPr>
              <a:t>策展主题一：自由与规则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wuko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C85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wukong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wukong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953304" y="502920"/>
            <a:ext cx="2286000" cy="411480"/>
          </a:xfrm>
          <a:prstGeom prst="roundRect">
            <a:avLst/>
          </a:prstGeom>
          <a:solidFill>
            <a:srgbClr val="FF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3304" y="521208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502814"/>
                </a:solidFill>
                <a:latin typeface="Microsoft YaHei"/>
              </a:rPr>
              <a:t>课后延伸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05156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600" b="1">
                <a:solidFill>
                  <a:srgbClr val="DC5028"/>
                </a:solidFill>
                <a:latin typeface="Microsoft YaHei"/>
              </a:rPr>
              <a:t>课后作业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691640"/>
            <a:ext cx="5760720" cy="27432"/>
          </a:xfrm>
          <a:prstGeom prst="rect">
            <a:avLst/>
          </a:prstGeom>
          <a:solidFill>
            <a:srgbClr val="FF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95704" y="1737360"/>
            <a:ext cx="9601200" cy="1545336"/>
          </a:xfrm>
          <a:prstGeom prst="roundRect">
            <a:avLst/>
          </a:prstGeom>
          <a:solidFill>
            <a:srgbClr val="FFF8F0"/>
          </a:solidFill>
          <a:ln w="19050">
            <a:solidFill>
              <a:srgbClr val="FF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621584" y="1920240"/>
            <a:ext cx="347472" cy="347472"/>
          </a:xfrm>
          <a:prstGeom prst="ellipse">
            <a:avLst/>
          </a:prstGeom>
          <a:solidFill>
            <a:srgbClr val="DC5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21584" y="1938528"/>
            <a:ext cx="347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8784" y="1901952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502814"/>
                </a:solidFill>
                <a:latin typeface="Microsoft YaHei"/>
              </a:rPr>
              <a:t>必做：写80字「赛事快讯」（至少三次变化）</a:t>
            </a:r>
          </a:p>
        </p:txBody>
      </p:sp>
      <p:sp>
        <p:nvSpPr>
          <p:cNvPr id="14" name="Oval 13"/>
          <p:cNvSpPr/>
          <p:nvPr/>
        </p:nvSpPr>
        <p:spPr>
          <a:xfrm>
            <a:off x="2621584" y="2487168"/>
            <a:ext cx="347472" cy="347472"/>
          </a:xfrm>
          <a:prstGeom prst="ellipse">
            <a:avLst/>
          </a:prstGeom>
          <a:solidFill>
            <a:srgbClr val="DC5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21584" y="2505456"/>
            <a:ext cx="347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78784" y="246888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502814"/>
                </a:solidFill>
                <a:latin typeface="Microsoft YaHei"/>
              </a:rPr>
              <a:t>积累：《西游记》作者吴承恩，成书明代；再写一个孙悟空经典情节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