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uny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3C2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01200" y="0"/>
            <a:ext cx="2560320" cy="6858000"/>
          </a:xfrm>
          <a:prstGeom prst="rect">
            <a:avLst/>
          </a:prstGeom>
          <a:solidFill>
            <a:srgbClr val="8C3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828800"/>
            <a:ext cx="77724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5600" b="1">
                <a:solidFill>
                  <a:srgbClr val="3C2D1E"/>
                </a:solidFill>
                <a:latin typeface="Microsoft YaHei"/>
              </a:rPr>
              <a:t>小圣施威降大圣</a:t>
            </a:r>
          </a:p>
          <a:p>
            <a:pPr algn="l">
              <a:spcAft>
                <a:spcPts val="1400"/>
              </a:spcAft>
            </a:pPr>
            <a:r>
              <a:rPr sz="2800" b="0">
                <a:solidFill>
                  <a:srgbClr val="8C3C28"/>
                </a:solidFill>
                <a:latin typeface="Microsoft YaHei"/>
              </a:rPr>
              <a:t>第21课 · 吴承恩《西游记》</a:t>
            </a:r>
          </a:p>
          <a:p>
            <a:pPr algn="l">
              <a:spcAft>
                <a:spcPts val="1400"/>
              </a:spcAft>
            </a:pPr>
            <a:r>
              <a:rPr sz="2200" b="0">
                <a:solidFill>
                  <a:srgbClr val="B4823C"/>
                </a:solidFill>
                <a:latin typeface="Microsoft YaHei"/>
              </a:rPr>
              <a:t>母题：自由与规则</a:t>
            </a:r>
          </a:p>
        </p:txBody>
      </p:sp>
      <p:sp>
        <p:nvSpPr>
          <p:cNvPr id="6" name="Oval 5"/>
          <p:cNvSpPr/>
          <p:nvPr/>
        </p:nvSpPr>
        <p:spPr>
          <a:xfrm>
            <a:off x="10058400" y="2286000"/>
            <a:ext cx="1645920" cy="1645920"/>
          </a:xfrm>
          <a:prstGeom prst="ellipse">
            <a:avLst/>
          </a:prstGeom>
          <a:solidFill>
            <a:srgbClr val="B4823C"/>
          </a:solidFill>
          <a:ln>
            <a:solidFill>
              <a:srgbClr val="3C2D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uny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3C2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640080"/>
            <a:ext cx="4572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4400" b="1">
                <a:solidFill>
                  <a:srgbClr val="3C2D1E"/>
                </a:solidFill>
                <a:latin typeface="Microsoft YaHei"/>
              </a:rPr>
              <a:t>文学常识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1325880"/>
            <a:ext cx="3657600" cy="36576"/>
          </a:xfrm>
          <a:prstGeom prst="rect">
            <a:avLst/>
          </a:prstGeom>
          <a:solidFill>
            <a:srgbClr val="8C3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173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8C3C28"/>
                </a:solidFill>
                <a:latin typeface="Microsoft YaHei"/>
              </a:rPr>
              <a:t>选文背景</a:t>
            </a:r>
          </a:p>
        </p:txBody>
      </p:sp>
      <p:sp>
        <p:nvSpPr>
          <p:cNvPr id="7" name="Rectangle 6"/>
          <p:cNvSpPr/>
          <p:nvPr/>
        </p:nvSpPr>
        <p:spPr>
          <a:xfrm>
            <a:off x="1188720" y="2011680"/>
            <a:ext cx="7132320" cy="4114800"/>
          </a:xfrm>
          <a:prstGeom prst="rect">
            <a:avLst/>
          </a:prstGeom>
          <a:solidFill>
            <a:srgbClr val="FFFCF5"/>
          </a:solidFill>
          <a:ln w="19050">
            <a:solidFill>
              <a:srgbClr val="B48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2194560"/>
            <a:ext cx="2011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>
                <a:solidFill>
                  <a:srgbClr val="8C3C28"/>
                </a:solidFill>
                <a:latin typeface="Microsoft YaHei"/>
              </a:rPr>
              <a:t>【作者】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2194560"/>
            <a:ext cx="4572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0">
                <a:solidFill>
                  <a:srgbClr val="3C2D1E"/>
                </a:solidFill>
                <a:latin typeface="Microsoft YaHei"/>
              </a:rPr>
              <a:t>吴承恩，明代小说家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788920"/>
            <a:ext cx="2011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>
                <a:solidFill>
                  <a:srgbClr val="8C3C28"/>
                </a:solidFill>
                <a:latin typeface="Microsoft YaHei"/>
              </a:rPr>
              <a:t>【出处】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788920"/>
            <a:ext cx="4572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0">
                <a:solidFill>
                  <a:srgbClr val="3C2D1E"/>
                </a:solidFill>
                <a:latin typeface="Microsoft YaHei"/>
              </a:rPr>
              <a:t>章回体长篇小说《西游记》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3383279"/>
            <a:ext cx="2011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>
                <a:solidFill>
                  <a:srgbClr val="8C3C28"/>
                </a:solidFill>
                <a:latin typeface="Microsoft YaHei"/>
              </a:rPr>
              <a:t>【文体】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3383279"/>
            <a:ext cx="4572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0">
                <a:solidFill>
                  <a:srgbClr val="3C2D1E"/>
                </a:solidFill>
                <a:latin typeface="Microsoft YaHei"/>
              </a:rPr>
              <a:t>神魔小说——以神魔斗法写人情世故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3977639"/>
            <a:ext cx="2011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>
                <a:solidFill>
                  <a:srgbClr val="8C3C28"/>
                </a:solidFill>
                <a:latin typeface="Microsoft YaHei"/>
              </a:rPr>
              <a:t>【情节】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977639"/>
            <a:ext cx="4572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0">
                <a:solidFill>
                  <a:srgbClr val="3C2D1E"/>
                </a:solidFill>
                <a:latin typeface="Microsoft YaHei"/>
              </a:rPr>
              <a:t>悟空大闹天宫后，二郎神奉旨捉拿，二人变化斗法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0" y="2011680"/>
            <a:ext cx="2926080" cy="4114800"/>
          </a:xfrm>
          <a:prstGeom prst="rect">
            <a:avLst/>
          </a:prstGeom>
          <a:solidFill>
            <a:srgbClr val="8C3C28"/>
          </a:solidFill>
          <a:ln>
            <a:solidFill>
              <a:srgbClr val="8C3C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69680" y="3200400"/>
            <a:ext cx="25603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</a:pPr>
            <a:r>
              <a:rPr sz="4800" b="1">
                <a:solidFill>
                  <a:srgbClr val="8C3C28"/>
                </a:solidFill>
                <a:latin typeface="Microsoft YaHei"/>
              </a:rPr>
              <a:t>笔
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uny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3C2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640080"/>
            <a:ext cx="4572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4400" b="1">
                <a:solidFill>
                  <a:srgbClr val="3C2D1E"/>
                </a:solidFill>
                <a:latin typeface="Microsoft YaHei"/>
              </a:rPr>
              <a:t>情节梳理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1325880"/>
            <a:ext cx="3657600" cy="36576"/>
          </a:xfrm>
          <a:prstGeom prst="rect">
            <a:avLst/>
          </a:prstGeom>
          <a:solidFill>
            <a:srgbClr val="8C3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173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8C3C28"/>
                </a:solidFill>
                <a:latin typeface="Microsoft YaHei"/>
              </a:rPr>
              <a:t>变化相克</a:t>
            </a:r>
          </a:p>
        </p:txBody>
      </p:sp>
      <p:sp>
        <p:nvSpPr>
          <p:cNvPr id="7" name="Rectangle 6"/>
          <p:cNvSpPr/>
          <p:nvPr/>
        </p:nvSpPr>
        <p:spPr>
          <a:xfrm>
            <a:off x="1188720" y="2011680"/>
            <a:ext cx="7132320" cy="4114800"/>
          </a:xfrm>
          <a:prstGeom prst="rect">
            <a:avLst/>
          </a:prstGeom>
          <a:solidFill>
            <a:srgbClr val="FFFCF5"/>
          </a:solidFill>
          <a:ln w="19050">
            <a:solidFill>
              <a:srgbClr val="B48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2194560"/>
            <a:ext cx="2011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>
                <a:solidFill>
                  <a:srgbClr val="8C3C28"/>
                </a:solidFill>
                <a:latin typeface="Microsoft YaHei"/>
              </a:rPr>
              <a:t>【第1轮】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2194560"/>
            <a:ext cx="4572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0">
                <a:solidFill>
                  <a:srgbClr val="3C2D1E"/>
                </a:solidFill>
                <a:latin typeface="Microsoft YaHei"/>
              </a:rPr>
              <a:t>悟空变鸟→二郎变鹰；悟空变鱼→二郎变鱼鹰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788920"/>
            <a:ext cx="2011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>
                <a:solidFill>
                  <a:srgbClr val="8C3C28"/>
                </a:solidFill>
                <a:latin typeface="Microsoft YaHei"/>
              </a:rPr>
              <a:t>【第2轮】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788920"/>
            <a:ext cx="4572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0">
                <a:solidFill>
                  <a:srgbClr val="3C2D1E"/>
                </a:solidFill>
                <a:latin typeface="Microsoft YaHei"/>
              </a:rPr>
              <a:t>悟空变水蛇→二郎变灰鹤；悟空变花鸨→二郎现原身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3383279"/>
            <a:ext cx="2011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>
                <a:solidFill>
                  <a:srgbClr val="8C3C28"/>
                </a:solidFill>
                <a:latin typeface="Microsoft YaHei"/>
              </a:rPr>
              <a:t>【第3轮】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3383279"/>
            <a:ext cx="4572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0">
                <a:solidFill>
                  <a:srgbClr val="3C2D1E"/>
                </a:solidFill>
                <a:latin typeface="Microsoft YaHei"/>
              </a:rPr>
              <a:t>悟空变庙宇（尾巴变旗竿）→二郎识破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3977639"/>
            <a:ext cx="2011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>
                <a:solidFill>
                  <a:srgbClr val="8C3C28"/>
                </a:solidFill>
                <a:latin typeface="Microsoft YaHei"/>
              </a:rPr>
              <a:t>【规律】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977639"/>
            <a:ext cx="4572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0">
                <a:solidFill>
                  <a:srgbClr val="3C2D1E"/>
                </a:solidFill>
                <a:latin typeface="Microsoft YaHei"/>
              </a:rPr>
              <a:t>孙悟空先变，二郎神以相克之物随即相对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0" y="2011680"/>
            <a:ext cx="2926080" cy="4114800"/>
          </a:xfrm>
          <a:prstGeom prst="rect">
            <a:avLst/>
          </a:prstGeom>
          <a:solidFill>
            <a:srgbClr val="8C3C28"/>
          </a:solidFill>
          <a:ln>
            <a:solidFill>
              <a:srgbClr val="8C3C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69680" y="3200400"/>
            <a:ext cx="25603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</a:pPr>
            <a:r>
              <a:rPr sz="4800" b="1">
                <a:solidFill>
                  <a:srgbClr val="8C3C28"/>
                </a:solidFill>
                <a:latin typeface="Microsoft YaHei"/>
              </a:rPr>
              <a:t>笔
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uny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3C2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502920"/>
            <a:ext cx="9144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</a:pPr>
            <a:r>
              <a:rPr sz="3600" b="1">
                <a:solidFill>
                  <a:srgbClr val="3C2D1E"/>
                </a:solidFill>
                <a:latin typeface="Microsoft YaHei"/>
              </a:rPr>
              <a:t>人物赏析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5303520" cy="4754880"/>
          </a:xfrm>
          <a:prstGeom prst="rect">
            <a:avLst/>
          </a:prstGeom>
          <a:solidFill>
            <a:srgbClr val="FFFCF5"/>
          </a:solidFill>
          <a:ln>
            <a:solidFill>
              <a:srgbClr val="B48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08760"/>
            <a:ext cx="4937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</a:pPr>
            <a:r>
              <a:rPr sz="2800" b="1">
                <a:solidFill>
                  <a:srgbClr val="8C3C28"/>
                </a:solidFill>
                <a:latin typeface="Microsoft YaHei"/>
              </a:rPr>
              <a:t>孙悟空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47548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8C3C28"/>
                </a:solidFill>
                <a:latin typeface="Microsoft YaHei"/>
              </a:rPr>
              <a:t>特点：</a:t>
            </a:r>
            <a:r>
              <a:rPr sz="2000" b="0">
                <a:solidFill>
                  <a:srgbClr val="3C2D1E"/>
                </a:solidFill>
                <a:latin typeface="Microsoft YaHei"/>
              </a:rPr>
              <a:t>机敏善变、好胜不屈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971800"/>
            <a:ext cx="47548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8C3C28"/>
                </a:solidFill>
                <a:latin typeface="Microsoft YaHei"/>
              </a:rPr>
              <a:t>证据：</a:t>
            </a:r>
            <a:r>
              <a:rPr sz="2000" b="0">
                <a:solidFill>
                  <a:srgbClr val="3C2D1E"/>
                </a:solidFill>
                <a:latin typeface="Microsoft YaHei"/>
              </a:rPr>
              <a:t>连续变化、不肯认输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840480"/>
            <a:ext cx="47548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8C3C28"/>
                </a:solidFill>
                <a:latin typeface="Microsoft YaHei"/>
              </a:rPr>
              <a:t>作用：</a:t>
            </a:r>
            <a:r>
              <a:rPr sz="2000" b="0">
                <a:solidFill>
                  <a:srgbClr val="3C2D1E"/>
                </a:solidFill>
                <a:latin typeface="Microsoft YaHei"/>
              </a:rPr>
              <a:t>体现对自由的追求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371600"/>
            <a:ext cx="5303520" cy="4754880"/>
          </a:xfrm>
          <a:prstGeom prst="rect">
            <a:avLst/>
          </a:prstGeom>
          <a:solidFill>
            <a:srgbClr val="FFFCF5"/>
          </a:solidFill>
          <a:ln>
            <a:solidFill>
              <a:srgbClr val="B48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508760"/>
            <a:ext cx="4937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</a:pPr>
            <a:r>
              <a:rPr sz="2800" b="1">
                <a:solidFill>
                  <a:srgbClr val="8C3C28"/>
                </a:solidFill>
                <a:latin typeface="Microsoft YaHei"/>
              </a:rPr>
              <a:t>二郎神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103120"/>
            <a:ext cx="47548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8C3C28"/>
                </a:solidFill>
                <a:latin typeface="Microsoft YaHei"/>
              </a:rPr>
              <a:t>特点：</a:t>
            </a:r>
            <a:r>
              <a:rPr sz="2000" b="0">
                <a:solidFill>
                  <a:srgbClr val="3C2D1E"/>
                </a:solidFill>
                <a:latin typeface="Microsoft YaHei"/>
              </a:rPr>
              <a:t>沉着冷静、维护秩序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971800"/>
            <a:ext cx="47548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8C3C28"/>
                </a:solidFill>
                <a:latin typeface="Microsoft YaHei"/>
              </a:rPr>
              <a:t>证据：</a:t>
            </a:r>
            <a:r>
              <a:rPr sz="2000" b="0">
                <a:solidFill>
                  <a:srgbClr val="3C2D1E"/>
                </a:solidFill>
                <a:latin typeface="Microsoft YaHei"/>
              </a:rPr>
              <a:t>紧追不舍、识破破绽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840480"/>
            <a:ext cx="47548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8C3C28"/>
                </a:solidFill>
                <a:latin typeface="Microsoft YaHei"/>
              </a:rPr>
              <a:t>作用：</a:t>
            </a:r>
            <a:r>
              <a:rPr sz="2000" b="0">
                <a:solidFill>
                  <a:srgbClr val="3C2D1E"/>
                </a:solidFill>
                <a:latin typeface="Microsoft YaHei"/>
              </a:rPr>
              <a:t>体现规则的力量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uny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3C2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640080"/>
            <a:ext cx="4572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4400" b="1">
                <a:solidFill>
                  <a:srgbClr val="3C2D1E"/>
                </a:solidFill>
                <a:latin typeface="Microsoft YaHei"/>
              </a:rPr>
              <a:t>主题探究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1325880"/>
            <a:ext cx="3657600" cy="36576"/>
          </a:xfrm>
          <a:prstGeom prst="rect">
            <a:avLst/>
          </a:prstGeom>
          <a:solidFill>
            <a:srgbClr val="8C3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173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8C3C28"/>
                </a:solidFill>
                <a:latin typeface="Microsoft YaHei"/>
              </a:rPr>
              <a:t>名家点评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88720" y="2011680"/>
            <a:ext cx="7132320" cy="4114800"/>
          </a:xfrm>
          <a:prstGeom prst="rect">
            <a:avLst/>
          </a:prstGeom>
          <a:solidFill>
            <a:srgbClr val="FFFCF5"/>
          </a:solidFill>
          <a:ln w="19050">
            <a:solidFill>
              <a:srgbClr val="B48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2194560"/>
            <a:ext cx="2011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>
                <a:solidFill>
                  <a:srgbClr val="8C3C28"/>
                </a:solidFill>
                <a:latin typeface="Microsoft YaHei"/>
              </a:rPr>
              <a:t>【鲁迅】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2194560"/>
            <a:ext cx="4572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0">
                <a:solidFill>
                  <a:srgbClr val="3C2D1E"/>
                </a:solidFill>
                <a:latin typeface="Microsoft YaHei"/>
              </a:rPr>
              <a:t>「使神魔皆有人情，精魅亦通世故」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788920"/>
            <a:ext cx="2011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>
                <a:solidFill>
                  <a:srgbClr val="8C3C28"/>
                </a:solidFill>
                <a:latin typeface="Microsoft YaHei"/>
              </a:rPr>
              <a:t>【林庚】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788920"/>
            <a:ext cx="4572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0">
                <a:solidFill>
                  <a:srgbClr val="3C2D1E"/>
                </a:solidFill>
                <a:latin typeface="Microsoft YaHei"/>
              </a:rPr>
              <a:t>不宜看得过于认真，应看到儿童的心理与行为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3383279"/>
            <a:ext cx="2011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>
                <a:solidFill>
                  <a:srgbClr val="8C3C28"/>
                </a:solidFill>
                <a:latin typeface="Microsoft YaHei"/>
              </a:rPr>
              <a:t>【方法】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3383279"/>
            <a:ext cx="4572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0">
                <a:solidFill>
                  <a:srgbClr val="3C2D1E"/>
                </a:solidFill>
                <a:latin typeface="Microsoft YaHei"/>
              </a:rPr>
              <a:t>证据—特点—作用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3977639"/>
            <a:ext cx="2011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>
                <a:solidFill>
                  <a:srgbClr val="8C3C28"/>
                </a:solidFill>
                <a:latin typeface="Microsoft YaHei"/>
              </a:rPr>
              <a:t>【策展主题】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977639"/>
            <a:ext cx="4572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0">
                <a:solidFill>
                  <a:srgbClr val="3C2D1E"/>
                </a:solidFill>
                <a:latin typeface="Microsoft YaHei"/>
              </a:rPr>
              <a:t>自由可贵，但不可无视规则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0" y="2011680"/>
            <a:ext cx="2926080" cy="4114800"/>
          </a:xfrm>
          <a:prstGeom prst="rect">
            <a:avLst/>
          </a:prstGeom>
          <a:solidFill>
            <a:srgbClr val="8C3C28"/>
          </a:solidFill>
          <a:ln>
            <a:solidFill>
              <a:srgbClr val="8C3C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69680" y="3200400"/>
            <a:ext cx="25603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</a:pPr>
            <a:r>
              <a:rPr sz="4800" b="1">
                <a:solidFill>
                  <a:srgbClr val="8C3C28"/>
                </a:solidFill>
                <a:latin typeface="Microsoft YaHei"/>
              </a:rPr>
              <a:t>笔
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uny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3C2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548640"/>
            <a:ext cx="9144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8C3C28"/>
                </a:solidFill>
                <a:latin typeface="Microsoft YaHei"/>
              </a:rPr>
              <a:t>▶ 学习任务</a:t>
            </a:r>
          </a:p>
        </p:txBody>
      </p:sp>
      <p:sp>
        <p:nvSpPr>
          <p:cNvPr id="5" name="Oval 4"/>
          <p:cNvSpPr/>
          <p:nvPr/>
        </p:nvSpPr>
        <p:spPr>
          <a:xfrm>
            <a:off x="1371600" y="1463040"/>
            <a:ext cx="365760" cy="365760"/>
          </a:xfrm>
          <a:prstGeom prst="ellipse">
            <a:avLst/>
          </a:prstGeom>
          <a:solidFill>
            <a:srgbClr val="8C3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3657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444752"/>
            <a:ext cx="9144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C2D1E"/>
                </a:solidFill>
                <a:latin typeface="Microsoft YaHei"/>
              </a:rPr>
              <a:t>填写七十二变对照表，标出相克关系</a:t>
            </a:r>
          </a:p>
        </p:txBody>
      </p:sp>
      <p:sp>
        <p:nvSpPr>
          <p:cNvPr id="8" name="Oval 7"/>
          <p:cNvSpPr/>
          <p:nvPr/>
        </p:nvSpPr>
        <p:spPr>
          <a:xfrm>
            <a:off x="1371600" y="2148840"/>
            <a:ext cx="365760" cy="365760"/>
          </a:xfrm>
          <a:prstGeom prst="ellipse">
            <a:avLst/>
          </a:prstGeom>
          <a:solidFill>
            <a:srgbClr val="8C3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167128"/>
            <a:ext cx="3657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30552"/>
            <a:ext cx="9144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C2D1E"/>
                </a:solidFill>
                <a:latin typeface="Microsoft YaHei"/>
              </a:rPr>
              <a:t>完成人物档案卡（证据—特点—作用）</a:t>
            </a:r>
          </a:p>
        </p:txBody>
      </p:sp>
      <p:sp>
        <p:nvSpPr>
          <p:cNvPr id="11" name="Oval 10"/>
          <p:cNvSpPr/>
          <p:nvPr/>
        </p:nvSpPr>
        <p:spPr>
          <a:xfrm>
            <a:off x="1371600" y="2834640"/>
            <a:ext cx="365760" cy="365760"/>
          </a:xfrm>
          <a:prstGeom prst="ellipse">
            <a:avLst/>
          </a:prstGeom>
          <a:solidFill>
            <a:srgbClr val="8C3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2852928"/>
            <a:ext cx="3657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2816352"/>
            <a:ext cx="9144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C2D1E"/>
                </a:solidFill>
                <a:latin typeface="Microsoft YaHei"/>
              </a:rPr>
              <a:t>写80字「赛事快讯」，至少三次变化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