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B4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final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final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B4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329184"/>
            <a:ext cx="11484864" cy="6190488"/>
          </a:xfrm>
          <a:prstGeom prst="rect">
            <a:avLst/>
          </a:prstGeom>
          <a:noFill/>
          <a:ln w="12700">
            <a:solidFill>
              <a:srgbClr val="6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5200" b="1">
                <a:solidFill>
                  <a:srgbClr val="E65096"/>
                </a:solidFill>
                <a:latin typeface="Microsoft YaHei"/>
              </a:rPr>
              <a:t>想象力博物馆开幕</a:t>
            </a:r>
          </a:p>
          <a:p>
            <a:pPr algn="ctr">
              <a:spcAft>
                <a:spcPts val="1000"/>
              </a:spcAft>
            </a:pPr>
            <a:r>
              <a:rPr sz="2600" b="0">
                <a:solidFill>
                  <a:srgbClr val="46325A"/>
                </a:solidFill>
                <a:latin typeface="Microsoft YaHei"/>
              </a:rPr>
              <a:t>第十—十二课时 · 综合·写作·展示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5029200"/>
            <a:ext cx="5760720" cy="27432"/>
          </a:xfrm>
          <a:prstGeom prst="rect">
            <a:avLst/>
          </a:prstGeom>
          <a:solidFill>
            <a:srgbClr val="6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B4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final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final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6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46325A"/>
                </a:solidFill>
                <a:latin typeface="Microsoft YaHei"/>
              </a:rPr>
              <a:t>综合研读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9601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E65096"/>
                </a:solidFill>
                <a:latin typeface="Microsoft YaHei"/>
              </a:rPr>
              <a:t>第十课时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00200"/>
            <a:ext cx="5760720" cy="27432"/>
          </a:xfrm>
          <a:prstGeom prst="rect">
            <a:avLst/>
          </a:prstGeom>
          <a:solidFill>
            <a:srgbClr val="6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95704" y="1645920"/>
            <a:ext cx="9601200" cy="2240280"/>
          </a:xfrm>
          <a:prstGeom prst="roundRect">
            <a:avLst/>
          </a:prstGeom>
          <a:solidFill>
            <a:srgbClr val="FFFAFF"/>
          </a:solidFill>
          <a:ln w="19050">
            <a:solidFill>
              <a:srgbClr val="6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55824" y="1828800"/>
            <a:ext cx="384048" cy="384048"/>
          </a:xfrm>
          <a:prstGeom prst="ellipse">
            <a:avLst/>
          </a:prstGeom>
          <a:solidFill>
            <a:srgbClr val="E6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55824" y="1847088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8744" y="1810512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46325A"/>
                </a:solidFill>
                <a:latin typeface="Microsoft YaHei"/>
              </a:rPr>
              <a:t>比较四类文本想象的依据、表现方式和现实意味</a:t>
            </a:r>
          </a:p>
        </p:txBody>
      </p:sp>
      <p:sp>
        <p:nvSpPr>
          <p:cNvPr id="14" name="Oval 13"/>
          <p:cNvSpPr/>
          <p:nvPr/>
        </p:nvSpPr>
        <p:spPr>
          <a:xfrm>
            <a:off x="2255824" y="2395728"/>
            <a:ext cx="384048" cy="384048"/>
          </a:xfrm>
          <a:prstGeom prst="ellipse">
            <a:avLst/>
          </a:prstGeom>
          <a:solidFill>
            <a:srgbClr val="E6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55824" y="2414016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58744" y="237744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46325A"/>
                </a:solidFill>
                <a:latin typeface="Microsoft YaHei"/>
              </a:rPr>
              <a:t>完成一张有文本依据的「想象说明卡」</a:t>
            </a:r>
          </a:p>
        </p:txBody>
      </p:sp>
      <p:sp>
        <p:nvSpPr>
          <p:cNvPr id="17" name="Oval 16"/>
          <p:cNvSpPr/>
          <p:nvPr/>
        </p:nvSpPr>
        <p:spPr>
          <a:xfrm>
            <a:off x="2255824" y="2962656"/>
            <a:ext cx="384048" cy="384048"/>
          </a:xfrm>
          <a:prstGeom prst="ellipse">
            <a:avLst/>
          </a:prstGeom>
          <a:solidFill>
            <a:srgbClr val="E6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55824" y="2980944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58744" y="294436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46325A"/>
                </a:solidFill>
                <a:latin typeface="Microsoft YaHei"/>
              </a:rPr>
              <a:t>同伴审稿：事实准确？神奇具体？照见了什么？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B4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final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final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6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46325A"/>
                </a:solidFill>
                <a:latin typeface="Microsoft YaHei"/>
              </a:rPr>
              <a:t>比较阅读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9601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E65096"/>
                </a:solidFill>
                <a:latin typeface="Microsoft YaHei"/>
              </a:rPr>
              <a:t>想象的四种面貌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00200"/>
            <a:ext cx="5760720" cy="27432"/>
          </a:xfrm>
          <a:prstGeom prst="rect">
            <a:avLst/>
          </a:prstGeom>
          <a:solidFill>
            <a:srgbClr val="6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95704" y="1645920"/>
            <a:ext cx="9601200" cy="2834640"/>
          </a:xfrm>
          <a:prstGeom prst="roundRect">
            <a:avLst/>
          </a:prstGeom>
          <a:solidFill>
            <a:srgbClr val="FFFAFF"/>
          </a:solidFill>
          <a:ln w="19050">
            <a:solidFill>
              <a:srgbClr val="6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55824" y="1828800"/>
            <a:ext cx="384048" cy="384048"/>
          </a:xfrm>
          <a:prstGeom prst="ellipse">
            <a:avLst/>
          </a:prstGeom>
          <a:solidFill>
            <a:srgbClr val="E6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55824" y="1847088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8744" y="1810512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46325A"/>
                </a:solidFill>
                <a:latin typeface="Microsoft YaHei"/>
              </a:rPr>
              <a:t>神魔小说：变化斗法，人情世故</a:t>
            </a:r>
          </a:p>
        </p:txBody>
      </p:sp>
      <p:sp>
        <p:nvSpPr>
          <p:cNvPr id="14" name="Oval 13"/>
          <p:cNvSpPr/>
          <p:nvPr/>
        </p:nvSpPr>
        <p:spPr>
          <a:xfrm>
            <a:off x="2255824" y="2395728"/>
            <a:ext cx="384048" cy="384048"/>
          </a:xfrm>
          <a:prstGeom prst="ellipse">
            <a:avLst/>
          </a:prstGeom>
          <a:solidFill>
            <a:srgbClr val="E6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55824" y="2414016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58744" y="237744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46325A"/>
                </a:solidFill>
                <a:latin typeface="Microsoft YaHei"/>
              </a:rPr>
              <a:t>童话：夸张反讽，照见人性</a:t>
            </a:r>
          </a:p>
        </p:txBody>
      </p:sp>
      <p:sp>
        <p:nvSpPr>
          <p:cNvPr id="17" name="Oval 16"/>
          <p:cNvSpPr/>
          <p:nvPr/>
        </p:nvSpPr>
        <p:spPr>
          <a:xfrm>
            <a:off x="2255824" y="2962656"/>
            <a:ext cx="384048" cy="384048"/>
          </a:xfrm>
          <a:prstGeom prst="ellipse">
            <a:avLst/>
          </a:prstGeom>
          <a:solidFill>
            <a:srgbClr val="E6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55824" y="2980944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58744" y="294436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46325A"/>
                </a:solidFill>
                <a:latin typeface="Microsoft YaHei"/>
              </a:rPr>
              <a:t>神话：创世温情，生命礼赞</a:t>
            </a:r>
          </a:p>
        </p:txBody>
      </p:sp>
      <p:sp>
        <p:nvSpPr>
          <p:cNvPr id="20" name="Oval 19"/>
          <p:cNvSpPr/>
          <p:nvPr/>
        </p:nvSpPr>
        <p:spPr>
          <a:xfrm>
            <a:off x="2255824" y="3529584"/>
            <a:ext cx="384048" cy="384048"/>
          </a:xfrm>
          <a:prstGeom prst="ellipse">
            <a:avLst/>
          </a:prstGeom>
          <a:solidFill>
            <a:srgbClr val="E6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55824" y="3547872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58744" y="3511296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46325A"/>
                </a:solidFill>
                <a:latin typeface="Microsoft YaHei"/>
              </a:rPr>
              <a:t>寓言：简短警醒，寓意深远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B4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final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final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6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46325A"/>
                </a:solidFill>
                <a:latin typeface="Microsoft YaHei"/>
              </a:rPr>
              <a:t>写作训练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9601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E65096"/>
                </a:solidFill>
                <a:latin typeface="Microsoft YaHei"/>
              </a:rPr>
              <a:t>第十一课时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00200"/>
            <a:ext cx="5760720" cy="27432"/>
          </a:xfrm>
          <a:prstGeom prst="rect">
            <a:avLst/>
          </a:prstGeom>
          <a:solidFill>
            <a:srgbClr val="6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95704" y="1645920"/>
            <a:ext cx="9601200" cy="2240280"/>
          </a:xfrm>
          <a:prstGeom prst="roundRect">
            <a:avLst/>
          </a:prstGeom>
          <a:solidFill>
            <a:srgbClr val="FFFAFF"/>
          </a:solidFill>
          <a:ln w="19050">
            <a:solidFill>
              <a:srgbClr val="6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55824" y="1828800"/>
            <a:ext cx="384048" cy="384048"/>
          </a:xfrm>
          <a:prstGeom prst="ellipse">
            <a:avLst/>
          </a:prstGeom>
          <a:solidFill>
            <a:srgbClr val="E6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55824" y="1847088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8744" y="1810512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46325A"/>
                </a:solidFill>
                <a:latin typeface="Microsoft YaHei"/>
              </a:rPr>
              <a:t>朗读《天上的街市》，辨析联想与想象</a:t>
            </a:r>
          </a:p>
        </p:txBody>
      </p:sp>
      <p:sp>
        <p:nvSpPr>
          <p:cNvPr id="14" name="Oval 13"/>
          <p:cNvSpPr/>
          <p:nvPr/>
        </p:nvSpPr>
        <p:spPr>
          <a:xfrm>
            <a:off x="2255824" y="2395728"/>
            <a:ext cx="384048" cy="384048"/>
          </a:xfrm>
          <a:prstGeom prst="ellipse">
            <a:avLst/>
          </a:prstGeom>
          <a:solidFill>
            <a:srgbClr val="E6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55824" y="2414016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58744" y="237744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46325A"/>
                </a:solidFill>
                <a:latin typeface="Microsoft YaHei"/>
              </a:rPr>
              <a:t>三项要求：有依据、合逻辑、有新意</a:t>
            </a:r>
          </a:p>
        </p:txBody>
      </p:sp>
      <p:sp>
        <p:nvSpPr>
          <p:cNvPr id="17" name="Oval 16"/>
          <p:cNvSpPr/>
          <p:nvPr/>
        </p:nvSpPr>
        <p:spPr>
          <a:xfrm>
            <a:off x="2255824" y="2962656"/>
            <a:ext cx="384048" cy="384048"/>
          </a:xfrm>
          <a:prstGeom prst="ellipse">
            <a:avLst/>
          </a:prstGeom>
          <a:solidFill>
            <a:srgbClr val="E6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55824" y="2980944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58744" y="294436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46325A"/>
                </a:solidFill>
                <a:latin typeface="Microsoft YaHei"/>
              </a:rPr>
              <a:t>完成创作提纲，独立写作不少于300字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B4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final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final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3304" y="1005840"/>
            <a:ext cx="2286000" cy="411480"/>
          </a:xfrm>
          <a:prstGeom prst="roundRect">
            <a:avLst/>
          </a:prstGeom>
          <a:solidFill>
            <a:srgbClr val="6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304" y="102412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46325A"/>
                </a:solidFill>
                <a:latin typeface="Microsoft YaHei"/>
              </a:rPr>
              <a:t>想一想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60020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200" b="1">
                <a:solidFill>
                  <a:srgbClr val="E65096"/>
                </a:solidFill>
                <a:latin typeface="Microsoft YaHei"/>
              </a:rPr>
              <a:t>联想是搭桥，想象是飞翔
你的作品从哪里起飞？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4389120"/>
            <a:ext cx="5760720" cy="27432"/>
          </a:xfrm>
          <a:prstGeom prst="rect">
            <a:avLst/>
          </a:prstGeom>
          <a:solidFill>
            <a:srgbClr val="6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466344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0">
                <a:solidFill>
                  <a:srgbClr val="E65096"/>
                </a:solidFill>
                <a:latin typeface="Microsoft YaHei"/>
              </a:rPr>
              <a:t>续写童话 / 改写寓言 / 十年后的我 / 课本剧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B4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final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final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6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46325A"/>
                </a:solidFill>
                <a:latin typeface="Microsoft YaHei"/>
              </a:rPr>
              <a:t>成果展示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9601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E65096"/>
                </a:solidFill>
                <a:latin typeface="Microsoft YaHei"/>
              </a:rPr>
              <a:t>第十二课时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00200"/>
            <a:ext cx="5760720" cy="27432"/>
          </a:xfrm>
          <a:prstGeom prst="rect">
            <a:avLst/>
          </a:prstGeom>
          <a:solidFill>
            <a:srgbClr val="6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95704" y="1645920"/>
            <a:ext cx="9601200" cy="2240280"/>
          </a:xfrm>
          <a:prstGeom prst="roundRect">
            <a:avLst/>
          </a:prstGeom>
          <a:solidFill>
            <a:srgbClr val="FFFAFF"/>
          </a:solidFill>
          <a:ln w="19050">
            <a:solidFill>
              <a:srgbClr val="6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55824" y="1828800"/>
            <a:ext cx="384048" cy="384048"/>
          </a:xfrm>
          <a:prstGeom prst="ellipse">
            <a:avLst/>
          </a:prstGeom>
          <a:solidFill>
            <a:srgbClr val="E6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55824" y="1847088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8744" y="1810512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46325A"/>
                </a:solidFill>
                <a:latin typeface="Microsoft YaHei"/>
              </a:rPr>
              <a:t>布展：说明卡 + 创作作品，附一句「请看我如何从文本出发」</a:t>
            </a:r>
          </a:p>
        </p:txBody>
      </p:sp>
      <p:sp>
        <p:nvSpPr>
          <p:cNvPr id="14" name="Oval 13"/>
          <p:cNvSpPr/>
          <p:nvPr/>
        </p:nvSpPr>
        <p:spPr>
          <a:xfrm>
            <a:off x="2255824" y="2395728"/>
            <a:ext cx="384048" cy="384048"/>
          </a:xfrm>
          <a:prstGeom prst="ellipse">
            <a:avLst/>
          </a:prstGeom>
          <a:solidFill>
            <a:srgbClr val="E6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55824" y="2414016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58744" y="237744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46325A"/>
                </a:solidFill>
                <a:latin typeface="Microsoft YaHei"/>
              </a:rPr>
              <a:t>讲解：30秒依据 + 60秒亮点 + 30秒思考</a:t>
            </a:r>
          </a:p>
        </p:txBody>
      </p:sp>
      <p:sp>
        <p:nvSpPr>
          <p:cNvPr id="17" name="Oval 16"/>
          <p:cNvSpPr/>
          <p:nvPr/>
        </p:nvSpPr>
        <p:spPr>
          <a:xfrm>
            <a:off x="2255824" y="2962656"/>
            <a:ext cx="384048" cy="384048"/>
          </a:xfrm>
          <a:prstGeom prst="ellipse">
            <a:avLst/>
          </a:prstGeom>
          <a:solidFill>
            <a:srgbClr val="E6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55824" y="2980944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58744" y="294436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46325A"/>
                </a:solidFill>
                <a:latin typeface="Microsoft YaHei"/>
              </a:rPr>
              <a:t>参观者投「发现卡」并写理由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B4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final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final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6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46325A"/>
                </a:solidFill>
                <a:latin typeface="Microsoft YaHei"/>
              </a:rPr>
              <a:t>单元总结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9601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E65096"/>
                </a:solidFill>
                <a:latin typeface="Microsoft YaHei"/>
              </a:rPr>
              <a:t>回望母题链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00200"/>
            <a:ext cx="5760720" cy="27432"/>
          </a:xfrm>
          <a:prstGeom prst="rect">
            <a:avLst/>
          </a:prstGeom>
          <a:solidFill>
            <a:srgbClr val="6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95704" y="1645920"/>
            <a:ext cx="9601200" cy="2240280"/>
          </a:xfrm>
          <a:prstGeom prst="roundRect">
            <a:avLst/>
          </a:prstGeom>
          <a:solidFill>
            <a:srgbClr val="FFFAFF"/>
          </a:solidFill>
          <a:ln w="19050">
            <a:solidFill>
              <a:srgbClr val="6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55824" y="1828800"/>
            <a:ext cx="384048" cy="384048"/>
          </a:xfrm>
          <a:prstGeom prst="ellipse">
            <a:avLst/>
          </a:prstGeom>
          <a:solidFill>
            <a:srgbClr val="E6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55824" y="1847088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8744" y="1810512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46325A"/>
                </a:solidFill>
                <a:latin typeface="Microsoft YaHei"/>
              </a:rPr>
              <a:t>自由 → 真实 → 创造 → 智慧</a:t>
            </a:r>
          </a:p>
        </p:txBody>
      </p:sp>
      <p:sp>
        <p:nvSpPr>
          <p:cNvPr id="14" name="Oval 13"/>
          <p:cNvSpPr/>
          <p:nvPr/>
        </p:nvSpPr>
        <p:spPr>
          <a:xfrm>
            <a:off x="2255824" y="2395728"/>
            <a:ext cx="384048" cy="384048"/>
          </a:xfrm>
          <a:prstGeom prst="ellipse">
            <a:avLst/>
          </a:prstGeom>
          <a:solidFill>
            <a:srgbClr val="E6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55824" y="2414016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58744" y="237744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46325A"/>
                </a:solidFill>
                <a:latin typeface="Microsoft YaHei"/>
              </a:rPr>
              <a:t>成长就是在四者间不断寻找平衡</a:t>
            </a:r>
          </a:p>
        </p:txBody>
      </p:sp>
      <p:sp>
        <p:nvSpPr>
          <p:cNvPr id="17" name="Oval 16"/>
          <p:cNvSpPr/>
          <p:nvPr/>
        </p:nvSpPr>
        <p:spPr>
          <a:xfrm>
            <a:off x="2255824" y="2962656"/>
            <a:ext cx="384048" cy="384048"/>
          </a:xfrm>
          <a:prstGeom prst="ellipse">
            <a:avLst/>
          </a:prstGeom>
          <a:solidFill>
            <a:srgbClr val="E6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55824" y="2980944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58744" y="294436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46325A"/>
                </a:solidFill>
                <a:latin typeface="Microsoft YaHei"/>
              </a:rPr>
              <a:t>填写自评表，整理学习档案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B4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final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final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6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46325A"/>
                </a:solidFill>
                <a:latin typeface="Microsoft YaHei"/>
              </a:rPr>
              <a:t>回顾收获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9601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E65096"/>
                </a:solidFill>
                <a:latin typeface="Microsoft YaHei"/>
              </a:rPr>
              <a:t>课堂小结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00200"/>
            <a:ext cx="5760720" cy="27432"/>
          </a:xfrm>
          <a:prstGeom prst="rect">
            <a:avLst/>
          </a:prstGeom>
          <a:solidFill>
            <a:srgbClr val="6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95704" y="1645920"/>
            <a:ext cx="9601200" cy="1645920"/>
          </a:xfrm>
          <a:prstGeom prst="roundRect">
            <a:avLst/>
          </a:prstGeom>
          <a:solidFill>
            <a:srgbClr val="FFFAFF"/>
          </a:solidFill>
          <a:ln w="19050">
            <a:solidFill>
              <a:srgbClr val="6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55824" y="1828800"/>
            <a:ext cx="384048" cy="384048"/>
          </a:xfrm>
          <a:prstGeom prst="ellipse">
            <a:avLst/>
          </a:prstGeom>
          <a:solidFill>
            <a:srgbClr val="E6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55824" y="1847088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8744" y="1810512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46325A"/>
                </a:solidFill>
                <a:latin typeface="Microsoft YaHei"/>
              </a:rPr>
              <a:t>想象既是阅读能力，也是表达能力</a:t>
            </a:r>
          </a:p>
        </p:txBody>
      </p:sp>
      <p:sp>
        <p:nvSpPr>
          <p:cNvPr id="14" name="Oval 13"/>
          <p:cNvSpPr/>
          <p:nvPr/>
        </p:nvSpPr>
        <p:spPr>
          <a:xfrm>
            <a:off x="2255824" y="2395728"/>
            <a:ext cx="384048" cy="384048"/>
          </a:xfrm>
          <a:prstGeom prst="ellipse">
            <a:avLst/>
          </a:prstGeom>
          <a:solidFill>
            <a:srgbClr val="E6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55824" y="2414016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58744" y="237744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46325A"/>
                </a:solidFill>
                <a:latin typeface="Microsoft YaHei"/>
              </a:rPr>
              <a:t>尊重文本和生活的逻辑，看见习以为常之外的世界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B4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final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final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6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46325A"/>
                </a:solidFill>
                <a:latin typeface="Microsoft YaHei"/>
              </a:rPr>
              <a:t>课后延伸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9601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E65096"/>
                </a:solidFill>
                <a:latin typeface="Microsoft YaHei"/>
              </a:rPr>
              <a:t>单元作业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00200"/>
            <a:ext cx="5760720" cy="27432"/>
          </a:xfrm>
          <a:prstGeom prst="rect">
            <a:avLst/>
          </a:prstGeom>
          <a:solidFill>
            <a:srgbClr val="6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95704" y="1645920"/>
            <a:ext cx="9601200" cy="2240280"/>
          </a:xfrm>
          <a:prstGeom prst="roundRect">
            <a:avLst/>
          </a:prstGeom>
          <a:solidFill>
            <a:srgbClr val="FFFAFF"/>
          </a:solidFill>
          <a:ln w="19050">
            <a:solidFill>
              <a:srgbClr val="6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55824" y="1828800"/>
            <a:ext cx="384048" cy="384048"/>
          </a:xfrm>
          <a:prstGeom prst="ellipse">
            <a:avLst/>
          </a:prstGeom>
          <a:solidFill>
            <a:srgbClr val="E6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55824" y="1847088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8744" y="1810512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46325A"/>
                </a:solidFill>
                <a:latin typeface="Microsoft YaHei"/>
              </a:rPr>
              <a:t>阅读：完善策展卡，600字想象主题作文</a:t>
            </a:r>
          </a:p>
        </p:txBody>
      </p:sp>
      <p:sp>
        <p:nvSpPr>
          <p:cNvPr id="14" name="Oval 13"/>
          <p:cNvSpPr/>
          <p:nvPr/>
        </p:nvSpPr>
        <p:spPr>
          <a:xfrm>
            <a:off x="2255824" y="2395728"/>
            <a:ext cx="384048" cy="384048"/>
          </a:xfrm>
          <a:prstGeom prst="ellipse">
            <a:avLst/>
          </a:prstGeom>
          <a:solidFill>
            <a:srgbClr val="E6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55824" y="2414016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58744" y="237744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46325A"/>
                </a:solidFill>
                <a:latin typeface="Microsoft YaHei"/>
              </a:rPr>
              <a:t>或：5分钟以内课本剧脚本</a:t>
            </a:r>
          </a:p>
        </p:txBody>
      </p:sp>
      <p:sp>
        <p:nvSpPr>
          <p:cNvPr id="17" name="Oval 16"/>
          <p:cNvSpPr/>
          <p:nvPr/>
        </p:nvSpPr>
        <p:spPr>
          <a:xfrm>
            <a:off x="2255824" y="2962656"/>
            <a:ext cx="384048" cy="384048"/>
          </a:xfrm>
          <a:prstGeom prst="ellipse">
            <a:avLst/>
          </a:prstGeom>
          <a:solidFill>
            <a:srgbClr val="E6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55824" y="2980944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58744" y="294436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46325A"/>
                </a:solidFill>
                <a:latin typeface="Microsoft YaHei"/>
              </a:rPr>
              <a:t>要求：有依据、合逻辑、有新意，体现策展主题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