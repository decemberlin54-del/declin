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303520"/>
            <a:ext cx="4114800" cy="73152"/>
          </a:xfrm>
          <a:prstGeom prst="rect">
            <a:avLst/>
          </a:prstGeom>
          <a:solidFill>
            <a:srgbClr val="E07B39"/>
          </a:solidFill>
          <a:ln w="15240">
            <a:solidFill>
              <a:srgbClr val="E07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想象与真实：基于核心素养的单元学历案设计与实践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0604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B8D4E8"/>
                </a:solidFill>
                <a:latin typeface="Microsoft YaHei"/>
              </a:rPr>
              <a:t>统编版语文七年级上册第六单元教学设计汇报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4612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汇报人：朱琳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977639"/>
            <a:ext cx="8686800" cy="594360"/>
          </a:xfrm>
          <a:prstGeom prst="rect">
            <a:avLst/>
          </a:prstGeom>
          <a:solidFill>
            <a:srgbClr val="2D5A4A"/>
          </a:solidFill>
          <a:ln w="15240">
            <a:solidFill>
              <a:srgbClr val="2D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069080"/>
            <a:ext cx="8321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设计理念：理论支撑 · 情境驱动 · 支架赋能 · 评教一体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5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A3A5C"/>
                </a:solidFill>
                <a:latin typeface="Microsoft YaHei"/>
              </a:rPr>
              <a:t>理论基石与设计逻辑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B8C"/>
                </a:solidFill>
                <a:latin typeface="Microsoft YaHei"/>
              </a:rPr>
              <a:t>Theoretical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5524347" cy="2148840"/>
          </a:xfrm>
          <a:prstGeom prst="rect">
            <a:avLst/>
          </a:prstGeom>
          <a:solidFill>
            <a:srgbClr val="E9EEF4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188720"/>
            <a:ext cx="5250027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3A5C"/>
                </a:solidFill>
                <a:latin typeface="Microsoft YaHei"/>
              </a:rPr>
              <a:t>逆向教学设计 (UbD)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07B39"/>
                </a:solidFill>
                <a:latin typeface="Microsoft YaHei"/>
              </a:rPr>
              <a:t>威金斯 &amp; 麦克泰格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C3E50"/>
                </a:solidFill>
                <a:latin typeface="Microsoft Ya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  <a:latin typeface="Microsoft YaHei"/>
              </a:rPr>
              <a:t>以终为始：目标 → 评估证据 → 学习体验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1587" y="1051560"/>
            <a:ext cx="5524347" cy="2148840"/>
          </a:xfrm>
          <a:prstGeom prst="rect">
            <a:avLst/>
          </a:prstGeom>
          <a:solidFill>
            <a:srgbClr val="E8F0EC"/>
          </a:solidFill>
          <a:ln w="15240">
            <a:solidFill>
              <a:srgbClr val="2D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6179" y="1188720"/>
            <a:ext cx="5250027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D5A4A"/>
                </a:solidFill>
                <a:latin typeface="Microsoft YaHei"/>
              </a:rPr>
              <a:t>情境学习理论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07B39"/>
                </a:solidFill>
                <a:latin typeface="Microsoft YaHei"/>
              </a:rPr>
              <a:t>让·莱夫 &amp; 埃蒂安·温格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C3E50"/>
                </a:solidFill>
                <a:latin typeface="Microsoft Ya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  <a:latin typeface="Microsoft YaHei"/>
              </a:rPr>
              <a:t>真实角色驱动：「想象力博物馆」策展人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37560"/>
            <a:ext cx="5524347" cy="2148840"/>
          </a:xfrm>
          <a:prstGeom prst="rect">
            <a:avLst/>
          </a:prstGeom>
          <a:solidFill>
            <a:srgbClr val="E9EEF4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474720"/>
            <a:ext cx="5250027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3A5C"/>
                </a:solidFill>
                <a:latin typeface="Microsoft YaHei"/>
              </a:rPr>
              <a:t>支架式教学理论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07B39"/>
                </a:solidFill>
                <a:latin typeface="Microsoft YaHei"/>
              </a:rPr>
              <a:t>维果茨基最近发展区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C3E50"/>
                </a:solidFill>
                <a:latin typeface="Microsoft Ya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  <a:latin typeface="Microsoft YaHei"/>
              </a:rPr>
              <a:t>显性思维工具：推理图、证据卡、联想桥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1587" y="3337560"/>
            <a:ext cx="5524347" cy="2148840"/>
          </a:xfrm>
          <a:prstGeom prst="rect">
            <a:avLst/>
          </a:prstGeom>
          <a:solidFill>
            <a:srgbClr val="E8F0EC"/>
          </a:solidFill>
          <a:ln w="15240">
            <a:solidFill>
              <a:srgbClr val="2D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6179" y="3474720"/>
            <a:ext cx="5250027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D5A4A"/>
                </a:solidFill>
                <a:latin typeface="Microsoft YaHei"/>
              </a:rPr>
              <a:t>《语文课程标准》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07B39"/>
                </a:solidFill>
                <a:latin typeface="Microsoft YaHei"/>
              </a:rPr>
              <a:t>实践导向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C3E50"/>
                </a:solidFill>
                <a:latin typeface="Microsoft Ya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  <a:latin typeface="Microsoft YaHei"/>
              </a:rPr>
              <a:t>核心素养统领，学习任务群集成整合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B8C"/>
                </a:solidFill>
                <a:latin typeface="Microsoft YaHei"/>
              </a:rP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A3A5C"/>
                </a:solidFill>
                <a:latin typeface="Microsoft YaHei"/>
              </a:rPr>
              <a:t>维度一：创新课程设计——大观念与大任务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11185855" cy="960120"/>
          </a:xfrm>
          <a:prstGeom prst="rect">
            <a:avLst/>
          </a:prstGeom>
          <a:solidFill>
            <a:srgbClr val="E9EEF4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1072865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07B39"/>
                </a:solidFill>
                <a:latin typeface="Microsoft YaHei"/>
              </a:rPr>
              <a:t>核心大观念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2C3E50"/>
                </a:solidFill>
                <a:latin typeface="Microsoft YaHei"/>
              </a:rPr>
              <a:t>整体重构单元，探究「想象与真实」的隐秘联系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Microsoft YaHei"/>
              </a:rPr>
              <a:t>大任务情境：「想象力博物馆」策展人（9课时整体规划）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524347" cy="3977639"/>
          </a:xfrm>
          <a:prstGeom prst="rect">
            <a:avLst/>
          </a:prstGeom>
          <a:solidFill>
            <a:srgbClr val="E8F0EC"/>
          </a:solidFill>
          <a:ln w="15240">
            <a:solidFill>
              <a:srgbClr val="2D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520430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D5A4A"/>
                </a:solidFill>
                <a:latin typeface="Microsoft YaHei"/>
              </a:rPr>
              <a:t>任务一 · 走进想象世界（1—7课时）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C3E50"/>
                </a:solidFill>
                <a:latin typeface="Microsoft Ya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  <a:latin typeface="Microsoft YaHei"/>
              </a:rPr>
              <a:t>《小圣施威降大圣》—— 自由与规则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  <a:latin typeface="Microsoft YaHei"/>
              </a:rPr>
              <a:t>《皇帝的新装》—— 真实与虚假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  <a:latin typeface="Microsoft YaHei"/>
              </a:rPr>
              <a:t>《女娲造人》—— 创造与生命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  <a:latin typeface="Microsoft YaHei"/>
              </a:rPr>
              <a:t>《寓言四则》—— 智慧与局限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1587" y="2103120"/>
            <a:ext cx="5524347" cy="3977639"/>
          </a:xfrm>
          <a:prstGeom prst="rect">
            <a:avLst/>
          </a:prstGeom>
          <a:solidFill>
            <a:srgbClr val="E9EEF4"/>
          </a:solidFill>
          <a:ln w="15240">
            <a:solidFill>
              <a:srgbClr val="E07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4467" y="2240280"/>
            <a:ext cx="520430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07B39"/>
                </a:solidFill>
                <a:latin typeface="Microsoft YaHei"/>
              </a:rPr>
              <a:t>任务二 · 把想象变成作品（8—9课时）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C3E50"/>
                </a:solidFill>
                <a:latin typeface="Microsoft Ya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Microsoft YaHei"/>
              </a:rPr>
              <a:t>制作「想象说明卡」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C3E50"/>
                </a:solidFill>
                <a:latin typeface="Microsoft Ya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  <a:latin typeface="Microsoft YaHei"/>
              </a:rPr>
              <a:t>创意写作 / 续写 / 改写 / 课本剧实践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2C3E50"/>
                </a:solidFill>
                <a:latin typeface="Microsoft Ya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D5A4A"/>
                </a:solidFill>
                <a:latin typeface="Microsoft YaHei"/>
              </a:rPr>
              <a:t>双重任务递进：读懂 → 创编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B8C"/>
                </a:solidFill>
                <a:latin typeface="Microsoft YaHei"/>
              </a:rP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5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A3A5C"/>
                </a:solidFill>
                <a:latin typeface="Microsoft YaHei"/>
              </a:rPr>
              <a:t>维度二：以学生为主体——显性认知支架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1185855" cy="685800"/>
          </a:xfrm>
          <a:prstGeom prst="rect">
            <a:avLst/>
          </a:prstGeom>
          <a:solidFill>
            <a:srgbClr val="FFC107"/>
          </a:solidFill>
          <a:ln w="15240">
            <a:solidFill>
              <a:srgbClr val="E07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24128"/>
            <a:ext cx="1072865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C3E50"/>
                </a:solidFill>
                <a:latin typeface="Microsoft YaHei"/>
              </a:rPr>
              <a:t>问题痛点：七年级学生易沉溺于「情节热闹」，忽视「隐喻真实」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94360" cy="868680"/>
          </a:xfrm>
          <a:prstGeom prst="rect">
            <a:avLst/>
          </a:prstGeom>
          <a:solidFill>
            <a:srgbClr val="1A3A5C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94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828800"/>
            <a:ext cx="10180015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920240"/>
            <a:ext cx="9951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3A5C"/>
                </a:solidFill>
                <a:latin typeface="Microsoft YaHei"/>
              </a:rPr>
              <a:t>阅读速度与概括支架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B8C"/>
                </a:solidFill>
                <a:latin typeface="Microsoft YaHei"/>
              </a:rPr>
              <a:t>「节点词+简洁句」快速默读表（≥400字/分）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594360" cy="868680"/>
          </a:xfrm>
          <a:prstGeom prst="rect">
            <a:avLst/>
          </a:prstGeom>
          <a:solidFill>
            <a:srgbClr val="1A3A5C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35808"/>
            <a:ext cx="594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834640"/>
            <a:ext cx="10180015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D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2926080"/>
            <a:ext cx="9951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3A5C"/>
                </a:solidFill>
                <a:latin typeface="Microsoft YaHei"/>
              </a:rPr>
              <a:t>深度思维推理支架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B8C"/>
                </a:solidFill>
                <a:latin typeface="Microsoft YaHei"/>
              </a:rPr>
              <a:t>七十二变「环境—形态—对手」限度推理图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40480"/>
            <a:ext cx="594360" cy="868680"/>
          </a:xfrm>
          <a:prstGeom prst="rect">
            <a:avLst/>
          </a:prstGeom>
          <a:solidFill>
            <a:srgbClr val="1A3A5C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41648"/>
            <a:ext cx="594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840480"/>
            <a:ext cx="10180015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3931920"/>
            <a:ext cx="9951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3A5C"/>
                </a:solidFill>
                <a:latin typeface="Microsoft YaHei"/>
              </a:rPr>
              <a:t>文本鉴赏分析支架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B8C"/>
                </a:solidFill>
                <a:latin typeface="Microsoft YaHei"/>
              </a:rPr>
              <a:t>人物鉴赏「证据—特点—作用」三步表达法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846320"/>
            <a:ext cx="594360" cy="868680"/>
          </a:xfrm>
          <a:prstGeom prst="rect">
            <a:avLst/>
          </a:prstGeom>
          <a:solidFill>
            <a:srgbClr val="1A3A5C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047488"/>
            <a:ext cx="594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846320"/>
            <a:ext cx="10180015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D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4937760"/>
            <a:ext cx="9951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3A5C"/>
                </a:solidFill>
                <a:latin typeface="Microsoft YaHei"/>
              </a:rPr>
              <a:t>创意表达迁移支架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B8C"/>
                </a:solidFill>
                <a:latin typeface="Microsoft YaHei"/>
              </a:rPr>
              <a:t>写作发散「联想桥」四维模型（形状/功能/情感/场景）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B8C"/>
                </a:solidFill>
                <a:latin typeface="Microsoft YaHei"/>
              </a:rP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A3A5C"/>
                </a:solidFill>
                <a:latin typeface="Microsoft YaHei"/>
              </a:rPr>
              <a:t>维度三：评价多元化——教-学-评一体化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3637178" cy="2286000"/>
          </a:xfrm>
          <a:prstGeom prst="rect">
            <a:avLst/>
          </a:prstGeom>
          <a:solidFill>
            <a:srgbClr val="E9EEF4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340857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A3A5C"/>
                </a:solidFill>
                <a:latin typeface="Microsoft YaHei"/>
              </a:rPr>
              <a:t>诊断性评价</a:t>
            </a:r>
          </a:p>
          <a:p>
            <a:pPr algn="ctr">
              <a:spcAft>
                <a:spcPts val="400"/>
              </a:spcAft>
            </a:pPr>
            <a:r>
              <a:rPr sz="600" b="0">
                <a:solidFill>
                  <a:srgbClr val="2C3E50"/>
                </a:solidFill>
                <a:latin typeface="Microsoft YaHei"/>
              </a:rPr>
              <a:t/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  <a:latin typeface="Microsoft YaHei"/>
              </a:rPr>
              <a:t>课前热身情境思考，激活既有经验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4418" y="960120"/>
            <a:ext cx="3637178" cy="2286000"/>
          </a:xfrm>
          <a:prstGeom prst="rect">
            <a:avLst/>
          </a:prstGeom>
          <a:solidFill>
            <a:srgbClr val="E8F0EC"/>
          </a:solidFill>
          <a:ln w="15240">
            <a:solidFill>
              <a:srgbClr val="2D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1097280"/>
            <a:ext cx="340857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D5A4A"/>
                </a:solidFill>
                <a:latin typeface="Microsoft YaHei"/>
              </a:rPr>
              <a:t>形成性评价</a:t>
            </a:r>
          </a:p>
          <a:p>
            <a:pPr algn="ctr">
              <a:spcAft>
                <a:spcPts val="400"/>
              </a:spcAft>
            </a:pPr>
            <a:r>
              <a:rPr sz="600" b="0">
                <a:solidFill>
                  <a:srgbClr val="2C3E50"/>
                </a:solidFill>
                <a:latin typeface="Microsoft YaHei"/>
              </a:rPr>
              <a:t/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  <a:latin typeface="Microsoft YaHei"/>
              </a:rPr>
              <a:t>课堂嵌入式「评价任务」+ 人物证据卡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8756" y="960120"/>
            <a:ext cx="3637178" cy="2286000"/>
          </a:xfrm>
          <a:prstGeom prst="rect">
            <a:avLst/>
          </a:prstGeom>
          <a:solidFill>
            <a:srgbClr val="FDF0E6"/>
          </a:solidFill>
          <a:ln w="15240">
            <a:solidFill>
              <a:srgbClr val="E07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5916" y="1097280"/>
            <a:ext cx="340857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07B39"/>
                </a:solidFill>
                <a:latin typeface="Microsoft YaHei"/>
              </a:rPr>
              <a:t>总结性评价</a:t>
            </a:r>
          </a:p>
          <a:p>
            <a:pPr algn="ctr">
              <a:spcAft>
                <a:spcPts val="400"/>
              </a:spcAft>
            </a:pPr>
            <a:r>
              <a:rPr sz="600" b="0">
                <a:solidFill>
                  <a:srgbClr val="2C3E50"/>
                </a:solidFill>
                <a:latin typeface="Microsoft YaHei"/>
              </a:rPr>
              <a:t/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  <a:latin typeface="Microsoft YaHei"/>
              </a:rPr>
              <a:t>终极成果「想象说明卡」+ 创作作品量表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0440"/>
            <a:ext cx="11185855" cy="2331720"/>
          </a:xfrm>
          <a:prstGeom prst="rect">
            <a:avLst/>
          </a:prstGeom>
          <a:solidFill>
            <a:srgbClr val="E8F0EC"/>
          </a:solidFill>
          <a:ln w="15240">
            <a:solidFill>
              <a:srgbClr val="2D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10728655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D5A4A"/>
                </a:solidFill>
                <a:latin typeface="Microsoft YaHei"/>
              </a:rPr>
              <a:t>多元主体参与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  <a:latin typeface="Microsoft YaHei"/>
              </a:rPr>
              <a:t>制定细化的自评与互评星级量表</a:t>
            </a:r>
          </a:p>
          <a:p>
            <a:pPr algn="ctr">
              <a:spcAft>
                <a:spcPts val="400"/>
              </a:spcAft>
            </a:pPr>
            <a:r>
              <a:rPr sz="1300" b="1">
                <a:solidFill>
                  <a:srgbClr val="E07B39"/>
                </a:solidFill>
                <a:latin typeface="Microsoft YaHei"/>
              </a:rPr>
              <a:t>文本依据 / 想象逻辑 / 主题提升 / 语言表达</a:t>
            </a:r>
          </a:p>
          <a:p>
            <a:pPr algn="ctr">
              <a:spcAft>
                <a:spcPts val="400"/>
              </a:spcAft>
            </a:pPr>
            <a:r>
              <a:rPr sz="600" b="0">
                <a:solidFill>
                  <a:srgbClr val="2C3E50"/>
                </a:solidFill>
                <a:latin typeface="Microsoft YaHei"/>
              </a:rPr>
              <a:t/>
            </a:r>
          </a:p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A3A5C"/>
                </a:solidFill>
                <a:latin typeface="Microsoft YaHei"/>
              </a:rPr>
              <a:t>实现「以评促学」「以评促改」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B8C"/>
                </a:solidFill>
                <a:latin typeface="Microsoft YaHei"/>
              </a:rP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总结与反思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8D4E8"/>
                </a:solidFill>
                <a:latin typeface="Microsoft YaHe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10789920" cy="960120"/>
          </a:xfrm>
          <a:prstGeom prst="rect">
            <a:avLst/>
          </a:prstGeom>
          <a:solidFill>
            <a:srgbClr val="224A6E"/>
          </a:solidFill>
          <a:ln w="15240">
            <a:solidFill>
              <a:srgbClr val="2D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C107"/>
                </a:solidFill>
                <a:latin typeface="Microsoft YaHei"/>
              </a:rPr>
              <a:t>教学方式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B8D4E8"/>
                </a:solidFill>
                <a:latin typeface="Microsoft YaHei"/>
              </a:rPr>
              <a:t>从「教课文」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E07B39"/>
                </a:solidFill>
                <a:latin typeface="Microsoft YaHei"/>
              </a:rPr>
              <a:t>  →  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走向「引导语文实践活动」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14600"/>
            <a:ext cx="10789920" cy="960120"/>
          </a:xfrm>
          <a:prstGeom prst="rect">
            <a:avLst/>
          </a:prstGeom>
          <a:solidFill>
            <a:srgbClr val="224A6E"/>
          </a:solidFill>
          <a:ln w="15240">
            <a:solidFill>
              <a:srgbClr val="2D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C107"/>
                </a:solidFill>
                <a:latin typeface="Microsoft YaHei"/>
              </a:rPr>
              <a:t>评价方式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B8D4E8"/>
                </a:solidFill>
                <a:latin typeface="Microsoft YaHei"/>
              </a:rPr>
              <a:t>从「单向测试」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E07B39"/>
                </a:solidFill>
                <a:latin typeface="Microsoft YaHei"/>
              </a:rPr>
              <a:t>  →  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走向「多元表现性评价」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611880"/>
            <a:ext cx="10789920" cy="960120"/>
          </a:xfrm>
          <a:prstGeom prst="rect">
            <a:avLst/>
          </a:prstGeom>
          <a:solidFill>
            <a:srgbClr val="224A6E"/>
          </a:solidFill>
          <a:ln w="15240">
            <a:solidFill>
              <a:srgbClr val="2D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49040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C107"/>
                </a:solidFill>
                <a:latin typeface="Microsoft YaHei"/>
              </a:rPr>
              <a:t>课堂主体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B8D4E8"/>
                </a:solidFill>
                <a:latin typeface="Microsoft YaHei"/>
              </a:rPr>
              <a:t>从「教师主导」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E07B39"/>
                </a:solidFill>
                <a:latin typeface="Microsoft YaHei"/>
              </a:rPr>
              <a:t>  →  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走向「学生自主建构」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892040"/>
            <a:ext cx="10789920" cy="1234440"/>
          </a:xfrm>
          <a:prstGeom prst="rect">
            <a:avLst/>
          </a:prstGeom>
          <a:solidFill>
            <a:srgbClr val="2D5A4A"/>
          </a:solidFill>
          <a:ln w="15240">
            <a:solidFill>
              <a:srgbClr val="E07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07492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C107"/>
                </a:solidFill>
                <a:latin typeface="Microsoft YaHei"/>
              </a:rPr>
              <a:t>核心落脚点</a:t>
            </a:r>
          </a:p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在文学想象的光影中照见生活，在真实的语文实践中</a:t>
            </a:r>
          </a:p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培养独立批判与创造能力。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B8C"/>
                </a:solidFill>
                <a:latin typeface="Microsoft YaHei"/>
              </a:rP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