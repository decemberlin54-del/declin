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320040"/>
            <a:ext cx="4206240" cy="256032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2011680"/>
            <a:ext cx="3108960" cy="2011680"/>
          </a:xfrm>
          <a:prstGeom prst="rect">
            <a:avLst/>
          </a:prstGeom>
          <a:solidFill>
            <a:srgbClr val="E6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3474720" cy="169164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2377440" cy="3108960"/>
          </a:xfrm>
          <a:prstGeom prst="rect">
            <a:avLst/>
          </a:prstGeom>
          <a:solidFill>
            <a:srgbClr val="F5F0E6"/>
          </a:solidFill>
          <a:ln w="10160">
            <a:solidFill>
              <a:srgbClr val="9B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1051560"/>
            <a:ext cx="2011680" cy="27432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1371600"/>
            <a:ext cx="1737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5A6A72"/>
                </a:solidFill>
                <a:latin typeface="KaiTi"/>
              </a:rPr>
              <a:t>书</a:t>
            </a:r>
          </a:p>
          <a:p>
            <a:pPr algn="ctr">
              <a:spcAft>
                <a:spcPts val="400"/>
              </a:spcAft>
            </a:pPr>
            <a:r>
              <a:rPr sz="2800" b="1">
                <a:solidFill>
                  <a:srgbClr val="5A6A72"/>
                </a:solidFill>
                <a:latin typeface="Microsoft YaHei"/>
              </a:rPr>
              <a:t>页</a:t>
            </a:r>
          </a:p>
          <a:p>
            <a:pPr algn="ctr">
              <a:spcAft>
                <a:spcPts val="400"/>
              </a:spcAft>
            </a:pPr>
            <a:r>
              <a:rPr sz="2800" b="1">
                <a:solidFill>
                  <a:srgbClr val="5A6A72"/>
                </a:solidFill>
                <a:latin typeface="Microsoft YaHei"/>
              </a:rPr>
              <a:t>隐</a:t>
            </a:r>
          </a:p>
          <a:p>
            <a:pPr algn="ctr">
              <a:spcAft>
                <a:spcPts val="400"/>
              </a:spcAft>
            </a:pPr>
            <a:r>
              <a:rPr sz="2800" b="1">
                <a:solidFill>
                  <a:srgbClr val="5A6A72"/>
                </a:solidFill>
                <a:latin typeface="Microsoft YaHei"/>
              </a:rPr>
              <a:t>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4048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404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3C23"/>
                </a:solidFill>
                <a:latin typeface="KaiTi"/>
              </a:rPr>
              <a:t>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17320"/>
            <a:ext cx="7498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E1E1E"/>
                </a:solidFill>
                <a:latin typeface="KaiTi"/>
              </a:rPr>
              <a:t>在想象的光影里，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3D5A73"/>
                </a:solidFill>
                <a:latin typeface="KaiTi"/>
              </a:rPr>
              <a:t>照见真实的自己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29000"/>
            <a:ext cx="2926080" cy="59436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493008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A6A72"/>
                </a:solidFill>
                <a:latin typeface="Microsoft YaHei"/>
              </a:rPr>
              <a:t>基于核心素养的七年级上册第六单元学历案设计与实践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572000"/>
            <a:ext cx="7772400" cy="9144"/>
          </a:xfrm>
          <a:prstGeom prst="rect">
            <a:avLst/>
          </a:prstGeom>
          <a:solidFill>
            <a:srgbClr val="5A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50799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6A7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00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B6B4A"/>
                </a:solidFill>
                <a:latin typeface="Microsoft YaHei"/>
              </a:rPr>
              <a:t>汇报人 · 朱琳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89320"/>
            <a:ext cx="108749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4A7C6F"/>
                </a:solidFill>
                <a:latin typeface="Microsoft YaHei"/>
              </a:rPr>
              <a:t>一切想象都有来处，奇幻故事照见生活本色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384048"/>
            <a:ext cx="782997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1E1E"/>
                </a:solidFill>
                <a:latin typeface="KaiTi"/>
              </a:rPr>
              <a:t>立意 · 课程重构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768096"/>
            <a:ext cx="782997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B6B4A"/>
                </a:solidFill>
                <a:latin typeface="Microsoft YaHei"/>
              </a:rPr>
              <a:t>幻境寻真：在奇思妙想中认出生活本色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0836" y="384048"/>
            <a:ext cx="23924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A6A72"/>
                </a:solidFill>
                <a:latin typeface="Microsoft YaHei"/>
              </a:rPr>
              <a:t>卷 2/5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133856"/>
            <a:ext cx="10874959" cy="9144"/>
          </a:xfrm>
          <a:prstGeom prst="rect">
            <a:avLst/>
          </a:prstGeom>
          <a:solidFill>
            <a:srgbClr val="5A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69848"/>
            <a:ext cx="108749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6A7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solidFill>
            <a:srgbClr val="E4EAEF"/>
          </a:solidFill>
          <a:ln w="1905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024128"/>
            <a:ext cx="1041775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核心母题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Microsoft YaHei"/>
              </a:rPr>
              <a:t>一切想象都有来处，奇幻故事是现实生活的延伸与隐喻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B6B4A"/>
                </a:solidFill>
                <a:latin typeface="Microsoft YaHei"/>
              </a:rPr>
              <a:t>大任务驱动：「想象力博物馆」策展人（9课时递进游廊）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48840"/>
            <a:ext cx="5355183" cy="141732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148840"/>
            <a:ext cx="5355183" cy="1417320"/>
          </a:xfrm>
          <a:prstGeom prst="rect">
            <a:avLst/>
          </a:prstGeom>
          <a:solidFill>
            <a:srgbClr val="E4EAEF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148840"/>
            <a:ext cx="45720" cy="1417320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76856"/>
            <a:ext cx="509915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KaiTi"/>
              </a:rPr>
              <a:t>《小圣施威降大圣》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变化之局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辨析自由与规则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143" y="2148840"/>
            <a:ext cx="5355183" cy="1417320"/>
          </a:xfrm>
          <a:prstGeom prst="rect">
            <a:avLst/>
          </a:prstGeom>
          <a:solidFill>
            <a:srgbClr val="E6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143" y="2148840"/>
            <a:ext cx="5355183" cy="1417320"/>
          </a:xfrm>
          <a:prstGeom prst="rect">
            <a:avLst/>
          </a:prstGeom>
          <a:solidFill>
            <a:srgbClr val="E6EDE9"/>
          </a:solidFill>
          <a:ln w="1270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8143" y="2148840"/>
            <a:ext cx="45720" cy="14173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2735" y="2276856"/>
            <a:ext cx="509915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KaiTi"/>
              </a:rPr>
              <a:t>《皇帝的新装》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虚妄之镜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洞察真实与虚假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703320"/>
            <a:ext cx="5355183" cy="141732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5355183" cy="1417320"/>
          </a:xfrm>
          <a:prstGeom prst="rect">
            <a:avLst/>
          </a:prstGeom>
          <a:solidFill>
            <a:srgbClr val="E4EAEF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703320"/>
            <a:ext cx="45720" cy="1417320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31336"/>
            <a:ext cx="509915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KaiTi"/>
              </a:rPr>
              <a:t>《女娲造人》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生灵之爱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感悟创造与生命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8143" y="3703320"/>
            <a:ext cx="5355183" cy="1417320"/>
          </a:xfrm>
          <a:prstGeom prst="rect">
            <a:avLst/>
          </a:prstGeom>
          <a:solidFill>
            <a:srgbClr val="E6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8143" y="3703320"/>
            <a:ext cx="5355183" cy="1417320"/>
          </a:xfrm>
          <a:prstGeom prst="rect">
            <a:avLst/>
          </a:prstGeom>
          <a:solidFill>
            <a:srgbClr val="E6EDE9"/>
          </a:solidFill>
          <a:ln w="1270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8143" y="3703320"/>
            <a:ext cx="45720" cy="14173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831336"/>
            <a:ext cx="509915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KaiTi"/>
              </a:rPr>
              <a:t>《寓言四则》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人世之鉴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审视智慧与局限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074920"/>
            <a:ext cx="10874959" cy="868680"/>
          </a:xfrm>
          <a:prstGeom prst="rect">
            <a:avLst/>
          </a:prstGeom>
          <a:solidFill>
            <a:srgbClr val="F5F0E6"/>
          </a:solidFill>
          <a:ln w="12700">
            <a:solidFill>
              <a:srgbClr val="9B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193792"/>
            <a:ext cx="1047262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理论支撑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UbD 逆向设计（以终为始）  ·  情境学习理论（真实角色驱动）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384048"/>
            <a:ext cx="782997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1E1E"/>
                </a:solidFill>
                <a:latin typeface="KaiTi"/>
              </a:rPr>
              <a:t>实践 · 课堂探索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768096"/>
            <a:ext cx="782997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B6B4A"/>
                </a:solidFill>
                <a:latin typeface="Microsoft YaHei"/>
              </a:rPr>
              <a:t>架桥通冥：以理性的支架托举飞扬的思维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0836" y="384048"/>
            <a:ext cx="23924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A6A72"/>
                </a:solidFill>
                <a:latin typeface="Microsoft YaHei"/>
              </a:rPr>
              <a:t>卷 3/5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133856"/>
            <a:ext cx="10874959" cy="9144"/>
          </a:xfrm>
          <a:prstGeom prst="rect">
            <a:avLst/>
          </a:prstGeom>
          <a:solidFill>
            <a:srgbClr val="5A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69848"/>
            <a:ext cx="108749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6A7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914400"/>
            <a:ext cx="10874959" cy="658368"/>
          </a:xfrm>
          <a:prstGeom prst="rect">
            <a:avLst/>
          </a:prstGeom>
          <a:solidFill>
            <a:srgbClr val="E6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914400"/>
            <a:ext cx="10874959" cy="658368"/>
          </a:xfrm>
          <a:prstGeom prst="rect">
            <a:avLst/>
          </a:prstGeom>
          <a:solidFill>
            <a:srgbClr val="E6EDE9"/>
          </a:solidFill>
          <a:ln w="1270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024128"/>
            <a:ext cx="104726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E1E1E"/>
                </a:solidFill>
                <a:latin typeface="KaiTi"/>
              </a:rPr>
              <a:t>教学痛点：避开「看热闹」的浮光掠影，走向「悟门道」的理性思维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901952"/>
            <a:ext cx="347472" cy="34747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90195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" y="1828800"/>
            <a:ext cx="10399471" cy="896112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3856" y="1828800"/>
            <a:ext cx="10399471" cy="896112"/>
          </a:xfrm>
          <a:prstGeom prst="rect">
            <a:avLst/>
          </a:prstGeom>
          <a:solidFill>
            <a:srgbClr val="E4EAEF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3856" y="1828800"/>
            <a:ext cx="45720" cy="896112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1956816"/>
            <a:ext cx="10143439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KaiTi"/>
              </a:rPr>
              <a:t>风云互变 · 推理链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Microsoft YaHei"/>
              </a:rPr>
              <a:t>探寻《降大圣》中因果相克逻辑，悟「自由须受因果限制」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26080"/>
            <a:ext cx="347472" cy="34747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2608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3856" y="2852928"/>
            <a:ext cx="10399471" cy="896112"/>
          </a:xfrm>
          <a:prstGeom prst="rect">
            <a:avLst/>
          </a:prstGeom>
          <a:solidFill>
            <a:srgbClr val="E6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33856" y="2852928"/>
            <a:ext cx="10399471" cy="896112"/>
          </a:xfrm>
          <a:prstGeom prst="rect">
            <a:avLst/>
          </a:prstGeom>
          <a:solidFill>
            <a:srgbClr val="E6EDE9"/>
          </a:solidFill>
          <a:ln w="1270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3856" y="2852928"/>
            <a:ext cx="45720" cy="896112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2980944"/>
            <a:ext cx="10143439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7C6F"/>
                </a:solidFill>
                <a:latin typeface="KaiTi"/>
              </a:rPr>
              <a:t>荒诞隐喻 · 心理图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Microsoft YaHei"/>
              </a:rPr>
              <a:t>剖析《新装》中的集体说谎，探「真话困境」的现实土壤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950208"/>
            <a:ext cx="347472" cy="34747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50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3856" y="3877056"/>
            <a:ext cx="10399471" cy="896112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3856" y="3877056"/>
            <a:ext cx="10399471" cy="896112"/>
          </a:xfrm>
          <a:prstGeom prst="rect">
            <a:avLst/>
          </a:prstGeom>
          <a:solidFill>
            <a:srgbClr val="E4EAEF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3856" y="3877056"/>
            <a:ext cx="45720" cy="896112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4005072"/>
            <a:ext cx="10143439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KaiTi"/>
              </a:rPr>
              <a:t>温情注脚 · 情感谱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Microsoft YaHei"/>
              </a:rPr>
              <a:t>对比《女娲造人》古籍原典，体会声声「妈妈」的生命温度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74336"/>
            <a:ext cx="347472" cy="34747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974336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3856" y="4901184"/>
            <a:ext cx="10399471" cy="896112"/>
          </a:xfrm>
          <a:prstGeom prst="rect">
            <a:avLst/>
          </a:prstGeom>
          <a:solidFill>
            <a:srgbClr val="E6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3856" y="4901184"/>
            <a:ext cx="10399471" cy="896112"/>
          </a:xfrm>
          <a:prstGeom prst="rect">
            <a:avLst/>
          </a:prstGeom>
          <a:solidFill>
            <a:srgbClr val="E6EDE9"/>
          </a:solidFill>
          <a:ln w="1270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33856" y="4901184"/>
            <a:ext cx="45720" cy="896112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98448" y="5029200"/>
            <a:ext cx="10143439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7C6F"/>
                </a:solidFill>
                <a:latin typeface="KaiTi"/>
              </a:rPr>
              <a:t>意象迁移 · 联想桥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Microsoft YaHei"/>
              </a:rPr>
              <a:t>从「伞」的四维联想（形/用/情/境），助推合情合理之想象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989320"/>
            <a:ext cx="108749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B6B4A"/>
                </a:solidFill>
                <a:latin typeface="Microsoft YaHei"/>
              </a:rPr>
              <a:t>理论支撑：维果茨基最近发展区  ·  支架式教学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384048"/>
            <a:ext cx="782997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1E1E"/>
                </a:solidFill>
                <a:latin typeface="KaiTi"/>
              </a:rPr>
              <a:t>评价 · 多元化育人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768096"/>
            <a:ext cx="782997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B6B4A"/>
                </a:solidFill>
                <a:latin typeface="Microsoft YaHei"/>
              </a:rPr>
              <a:t>明镜照心：在教-学-评一体中见证生命生长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0836" y="384048"/>
            <a:ext cx="23924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A6A72"/>
                </a:solidFill>
                <a:latin typeface="Microsoft YaHei"/>
              </a:rPr>
              <a:t>卷 4/5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133856"/>
            <a:ext cx="10874959" cy="9144"/>
          </a:xfrm>
          <a:prstGeom prst="rect">
            <a:avLst/>
          </a:prstGeom>
          <a:solidFill>
            <a:srgbClr val="5A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69848"/>
            <a:ext cx="108749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6A7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14400"/>
            <a:ext cx="108749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KaiTi"/>
              </a:rPr>
              <a:t>评价哲学：告别终场裁判，让评价成为贯穿全流程的探照灯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508760"/>
            <a:ext cx="3533546" cy="214884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508760"/>
            <a:ext cx="3533546" cy="2148840"/>
          </a:xfrm>
          <a:prstGeom prst="rect">
            <a:avLst/>
          </a:prstGeom>
          <a:solidFill>
            <a:srgbClr val="E4EAEF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508760"/>
            <a:ext cx="45720" cy="2148840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636776"/>
            <a:ext cx="3277514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3C23"/>
                </a:solidFill>
                <a:latin typeface="KaiTi"/>
              </a:rPr>
              <a:t>课前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Microsoft YaHei"/>
              </a:rPr>
              <a:t>唤醒经验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情境激趣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9074" y="1508760"/>
            <a:ext cx="3533546" cy="214884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9074" y="1508760"/>
            <a:ext cx="3533546" cy="2148840"/>
          </a:xfrm>
          <a:prstGeom prst="rect">
            <a:avLst/>
          </a:prstGeom>
          <a:solidFill>
            <a:srgbClr val="E4EAEF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9074" y="1508760"/>
            <a:ext cx="45720" cy="2148840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3666" y="1636776"/>
            <a:ext cx="3277514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3C23"/>
                </a:solidFill>
                <a:latin typeface="KaiTi"/>
              </a:rPr>
              <a:t>课中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Microsoft YaHei"/>
              </a:rPr>
              <a:t>嵌入任务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人物证据卡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9780" y="1508760"/>
            <a:ext cx="3533546" cy="214884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9780" y="1508760"/>
            <a:ext cx="3533546" cy="2148840"/>
          </a:xfrm>
          <a:prstGeom prst="rect">
            <a:avLst/>
          </a:prstGeom>
          <a:solidFill>
            <a:srgbClr val="E4EAEF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9780" y="1508760"/>
            <a:ext cx="45720" cy="2148840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4372" y="1636776"/>
            <a:ext cx="3277514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3C23"/>
                </a:solidFill>
                <a:latin typeface="KaiTi"/>
              </a:rPr>
              <a:t>课终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D5A73"/>
                </a:solidFill>
                <a:latin typeface="Microsoft YaHei"/>
              </a:rPr>
              <a:t>表现创作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「想象说明卡」+ 星级量表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86200"/>
            <a:ext cx="10874959" cy="1874519"/>
          </a:xfrm>
          <a:prstGeom prst="rect">
            <a:avLst/>
          </a:prstGeom>
          <a:solidFill>
            <a:srgbClr val="E6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886200"/>
            <a:ext cx="10874959" cy="1874519"/>
          </a:xfrm>
          <a:prstGeom prst="rect">
            <a:avLst/>
          </a:prstGeom>
          <a:solidFill>
            <a:srgbClr val="E6EDE9"/>
          </a:solidFill>
          <a:ln w="12700">
            <a:solidFill>
              <a:srgbClr val="9B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86200"/>
            <a:ext cx="45720" cy="1874519"/>
          </a:xfrm>
          <a:prstGeom prst="rect">
            <a:avLst/>
          </a:prstGeom>
          <a:solidFill>
            <a:srgbClr val="9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14216"/>
            <a:ext cx="10618927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7C6F"/>
                </a:solidFill>
                <a:latin typeface="KaiTi"/>
              </a:rPr>
              <a:t>多元互评机制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  <a:latin typeface="Microsoft YaHei"/>
              </a:rPr>
              <a:t>依据「依据、逻辑、立意、文采」四维量表自评互评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Microsoft YaHei"/>
              </a:rPr>
              <a:t>促使学生从「被评价者」转变为「自我矫正的思考者」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384048"/>
            <a:ext cx="782997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1E1E"/>
                </a:solidFill>
                <a:latin typeface="KaiTi"/>
              </a:rPr>
              <a:t>结语 · 育人本色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768096"/>
            <a:ext cx="782997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B6B4A"/>
                </a:solidFill>
                <a:latin typeface="Microsoft YaHei"/>
              </a:rPr>
              <a:t>文以化人：让语文素养在真实与创造中扎根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0836" y="384048"/>
            <a:ext cx="23924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A6A72"/>
                </a:solidFill>
                <a:latin typeface="Microsoft YaHei"/>
              </a:rPr>
              <a:t>卷 5/5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133856"/>
            <a:ext cx="10874959" cy="9144"/>
          </a:xfrm>
          <a:prstGeom prst="rect">
            <a:avLst/>
          </a:prstGeom>
          <a:solidFill>
            <a:srgbClr val="5A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69848"/>
            <a:ext cx="108749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6A7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960120"/>
            <a:ext cx="9418320" cy="3200400"/>
          </a:xfrm>
          <a:prstGeom prst="rect">
            <a:avLst/>
          </a:prstGeom>
          <a:solidFill>
            <a:srgbClr val="E4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051560"/>
            <a:ext cx="10874959" cy="233172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051560"/>
            <a:ext cx="10874959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3D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051560"/>
            <a:ext cx="45720" cy="2331720"/>
          </a:xfrm>
          <a:prstGeom prst="rect">
            <a:avLst/>
          </a:prstGeom>
          <a:solidFill>
            <a:srgbClr val="3D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179576"/>
            <a:ext cx="10618927" cy="2130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核心反思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读奇幻故事，并非逃避现实，而是为了洞察生活的真相；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经历语文实践，不只积累语言，更为培养独立思考与纯真批判。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03320"/>
            <a:ext cx="10874959" cy="9144"/>
          </a:xfrm>
          <a:prstGeom prst="rect">
            <a:avLst/>
          </a:prstGeom>
          <a:solidFill>
            <a:srgbClr val="5A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39312"/>
            <a:ext cx="108749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6A7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9888" y="3977639"/>
            <a:ext cx="9411919" cy="1691640"/>
          </a:xfrm>
          <a:prstGeom prst="rect">
            <a:avLst/>
          </a:prstGeom>
          <a:solidFill>
            <a:srgbClr val="F5F0E6"/>
          </a:solidFill>
          <a:ln w="1905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4160520"/>
            <a:ext cx="90461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B6B4A"/>
                </a:solidFill>
                <a:latin typeface="KaiTi"/>
              </a:rPr>
              <a:t>卷尾落款</a:t>
            </a:r>
          </a:p>
          <a:p>
            <a:pPr algn="ctr">
              <a:spcAft>
                <a:spcPts val="400"/>
              </a:spcAft>
            </a:pPr>
            <a:r>
              <a:rPr sz="8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3D5A73"/>
                </a:solidFill>
                <a:latin typeface="Microsoft YaHei"/>
              </a:rPr>
              <a:t>「让一个想象从书页中继续生长，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3D5A73"/>
                </a:solidFill>
                <a:latin typeface="Microsoft YaHei"/>
              </a:rPr>
              <a:t>也让一个生命在语言的润泽下巍然拔节。」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89320"/>
            <a:ext cx="108749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6A72"/>
                </a:solidFill>
                <a:latin typeface="Microsoft YaHei"/>
              </a:rPr>
              <a:t>想象与真实 · 单元学历案 · 教研汇报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