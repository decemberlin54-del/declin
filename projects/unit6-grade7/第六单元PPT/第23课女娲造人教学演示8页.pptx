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09847" y="1752600"/>
            <a:ext cx="4572000" cy="457200"/>
          </a:xfrm>
          <a:prstGeom prst="roundRect">
            <a:avLst/>
          </a:prstGeom>
          <a:solidFill>
            <a:srgbClr val="6B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09847" y="1798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七年级语文上册第六单元 · 第23课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10312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2B2D42"/>
                </a:solidFill>
                <a:latin typeface="Microsoft YaHei"/>
              </a:rPr>
              <a:t>《女娲造人》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2608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6B9080"/>
                </a:solidFill>
                <a:latin typeface="Microsoft YaHei"/>
              </a:rPr>
              <a:t>远古的设想与生命的赞歌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57600"/>
            <a:ext cx="11048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C757D"/>
                </a:solidFill>
                <a:latin typeface="Microsoft YaHei"/>
              </a:rPr>
              <a:t>改写：袁珂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828652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B9080"/>
                </a:solidFill>
                <a:latin typeface="Microsoft YaHei"/>
              </a:rPr>
              <a:t>古今文本对比：从梗概到神话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38200"/>
            <a:ext cx="11048695" cy="25400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429" y="426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C757D"/>
                </a:solidFill>
                <a:latin typeface="Microsoft YaHei"/>
              </a:rP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066800"/>
            <a:ext cx="5432907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" y="132283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" y="1231392"/>
            <a:ext cx="50671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古籍《风俗通》原典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“俗说天地开辟，未有人民，女娲抟黄土作人。剧务，力不暇供，乃引绳于泥中，举以为人。”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特点：语言极简，仅记录基本骨架，无情绪与细节描述。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066800"/>
            <a:ext cx="5432907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447" y="132283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3319" y="1231392"/>
            <a:ext cx="50671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袁珂改编的现代神话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增加了女娲池边孤独的心理描绘。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细化了捏泥人、赋予生命的过程。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融入了人类开口叫“妈妈”的温馨场景。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本质：用合理的想象填补历史的空白。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828652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B9080"/>
                </a:solidFill>
                <a:latin typeface="Microsoft YaHei"/>
              </a:rPr>
              <a:t>想象的 4 个扩写维度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38200"/>
            <a:ext cx="11048695" cy="25400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429" y="426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C757D"/>
                </a:solidFill>
                <a:latin typeface="Microsoft YaHei"/>
              </a:rPr>
              <a:t>03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12520"/>
            <a:ext cx="265930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" y="1277112"/>
            <a:ext cx="229354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9080"/>
                </a:solidFill>
                <a:latin typeface="Microsoft YaHei"/>
              </a:rPr>
              <a:t>1. 动机赋予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因荒凉与孤独而萌生创造同伴的渴望。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7963" y="1112520"/>
            <a:ext cx="265930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5123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3995" y="1277112"/>
            <a:ext cx="229354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9080"/>
                </a:solidFill>
                <a:latin typeface="Microsoft YaHei"/>
              </a:rPr>
              <a:t>2. 过程细节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揉团黄泥、池水映照、挥洒泥浆等动作描写。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112520"/>
            <a:ext cx="265930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1587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0459" y="1277112"/>
            <a:ext cx="229354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9080"/>
                </a:solidFill>
                <a:latin typeface="Microsoft YaHei"/>
              </a:rPr>
              <a:t>3. 人性注入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展现女娲如母亲般慈爱、欣喜与疲惫的心情。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0891" y="1112520"/>
            <a:ext cx="265930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051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6923" y="1277112"/>
            <a:ext cx="229354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9080"/>
                </a:solidFill>
                <a:latin typeface="Microsoft YaHei"/>
              </a:rPr>
              <a:t>4. 繁衍逻辑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区分男女，设立婚姻，解决人类世代绵延问题。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828652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B9080"/>
                </a:solidFill>
                <a:latin typeface="Microsoft YaHei"/>
              </a:rPr>
              <a:t>远古先民的现实依托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38200"/>
            <a:ext cx="11048695" cy="25400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429" y="426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C757D"/>
                </a:solidFill>
                <a:latin typeface="Microsoft YaHei"/>
              </a:rP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12520"/>
            <a:ext cx="359145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" y="1277112"/>
            <a:ext cx="32256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现象：人从何而来？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现实依托：泥土是孕育万物的基础，且具有极高的可塑性。因此想象出“黄泥造人”。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0118" y="1112520"/>
            <a:ext cx="359145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7278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150" y="1277112"/>
            <a:ext cx="32256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现象：为什么人有贫富？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现实依托：手揉泥人精致，藤条洒泥粗糙。以此解释现实中的阶级差异。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736" y="1112520"/>
            <a:ext cx="359145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65896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768" y="1277112"/>
            <a:ext cx="32256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现象：人类如何繁衍？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现实依托：观察到男女交配与婚姻制度，推演为女娲安排男女婚配。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828652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B9080"/>
                </a:solidFill>
                <a:latin typeface="Microsoft YaHei"/>
              </a:rPr>
              <a:t>形象剖析：神性与人性的交融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38200"/>
            <a:ext cx="11048695" cy="25400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429" y="426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C757D"/>
                </a:solidFill>
                <a:latin typeface="Microsoft YaHei"/>
              </a:rP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066800"/>
            <a:ext cx="5432907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" y="132283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" y="1231392"/>
            <a:ext cx="50671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神性维度（造物主）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神通广大、变幻莫测。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具有创造生命的至高权力。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挥绳洒泥即可化为活生生的人。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066800"/>
            <a:ext cx="5432907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447" y="132283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3319" y="1231392"/>
            <a:ext cx="50671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人性维度（伟大的母亲）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会感到寂寞与孤独。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看到作品时充满成功与满足感。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工作累了会疲倦。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神性为骨，人性为血肉。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828652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B9080"/>
                </a:solidFill>
                <a:latin typeface="Microsoft YaHei"/>
              </a:rPr>
              <a:t>神话思维的本质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38200"/>
            <a:ext cx="11048695" cy="25400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429" y="426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C757D"/>
                </a:solidFill>
                <a:latin typeface="Microsoft YaHei"/>
              </a:rPr>
              <a:t>06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58240"/>
            <a:ext cx="1104869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1752600"/>
            <a:ext cx="10134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6B9080"/>
                </a:solidFill>
                <a:latin typeface="Microsoft YaHei"/>
              </a:rPr>
              <a:t>神话 = 现实困惑 + 现实对应物 + 浪漫推演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3020" y="2667000"/>
            <a:ext cx="9585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2D42"/>
                </a:solidFill>
                <a:latin typeface="Microsoft YaHei"/>
              </a:rPr>
              <a:t>神话绝非胡言乱语，而是远古先民在科技极度不发达的时代，基于对自然与社会的客观观察，运用强大想象力对世界做出的浪漫解释。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828652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B9080"/>
                </a:solidFill>
                <a:latin typeface="Microsoft YaHei"/>
              </a:rPr>
              <a:t>“好想象”的评分三要素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38200"/>
            <a:ext cx="11048695" cy="25400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429" y="426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C757D"/>
                </a:solidFill>
                <a:latin typeface="Microsoft YaHei"/>
              </a:rPr>
              <a:t>07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12520"/>
            <a:ext cx="359145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" y="1277112"/>
            <a:ext cx="32256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1. 有依托（40%）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必须能在生活中找到影子，不能凭空捏造。例如：泥土的可塑性。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0118" y="1112520"/>
            <a:ext cx="359145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7278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150" y="1277112"/>
            <a:ext cx="32256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2. 有逻辑（30%）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因果链条严密。例如：因为孤独所以造人，因为太累所以改用藤条。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736" y="1112520"/>
            <a:ext cx="359145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65896" y="136855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768" y="1277112"/>
            <a:ext cx="32256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3. 有新奇（30%）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提供意料之外却情理之中的视角。例如：泥人落地即能喊“妈妈”。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828652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B9080"/>
                </a:solidFill>
                <a:latin typeface="Microsoft YaHei"/>
              </a:rPr>
              <a:t>拓展与创意表达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38200"/>
            <a:ext cx="11048695" cy="25400"/>
          </a:xfrm>
          <a:prstGeom prst="rect">
            <a:avLst/>
          </a:prstGeom>
          <a:solidFill>
            <a:srgbClr val="E2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429" y="426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C757D"/>
                </a:solidFill>
                <a:latin typeface="Microsoft YaHei"/>
              </a:rPr>
              <a:t>08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066800"/>
            <a:ext cx="110486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" y="1322832"/>
            <a:ext cx="50800" cy="320040"/>
          </a:xfrm>
          <a:prstGeom prst="rect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" y="1231392"/>
            <a:ext cx="106829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6B9080"/>
                </a:solidFill>
                <a:latin typeface="Microsoft YaHei"/>
              </a:rPr>
              <a:t>微型神话创作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选答题目：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• 请选择一个自然现象（例如：为什么会有四季、太阳为什么东升西落、雷电是如何产生的）。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任务要求：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1. 假想你自己是一名远古先民。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2. 找到一个现实依托，展开合理想象。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3. 写一段 150 字左右的远古神话片段。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