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65134" y="1207008"/>
            <a:ext cx="4861425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5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" y="566928"/>
            <a:ext cx="11048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600" b="1">
                <a:solidFill>
                  <a:srgbClr val="2C3E6B"/>
                </a:solidFill>
                <a:latin typeface="Microsoft YaHei"/>
              </a:rPr>
              <a:t>《寓言四则》——短故事，大镜子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069848"/>
            <a:ext cx="110486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0">
                <a:solidFill>
                  <a:srgbClr val="6B7B8C"/>
                </a:solidFill>
                <a:latin typeface="Microsoft YaHei"/>
              </a:rPr>
              <a:t>课时六、七  教学演示文稿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23934" y="1389888"/>
            <a:ext cx="2430712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3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9654" y="1499616"/>
            <a:ext cx="220973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2C3E6B"/>
                </a:solidFill>
                <a:latin typeface="Microsoft YaHei"/>
              </a:rPr>
              <a:t>赫耳墨斯
和雕像者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26560" y="1389888"/>
            <a:ext cx="2430712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3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2280" y="1499616"/>
            <a:ext cx="220973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2C3E6B"/>
                </a:solidFill>
                <a:latin typeface="Microsoft YaHei"/>
              </a:rPr>
              <a:t>蚊子
和狮子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23934" y="3584448"/>
            <a:ext cx="2430712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3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69654" y="3694176"/>
            <a:ext cx="220973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2C3E6B"/>
                </a:solidFill>
                <a:latin typeface="Microsoft YaHei"/>
              </a:rPr>
              <a:t>穿井
得一人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26560" y="3584448"/>
            <a:ext cx="2430712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3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72280" y="3694176"/>
            <a:ext cx="220973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2C3E6B"/>
                </a:solidFill>
                <a:latin typeface="Microsoft YaHei"/>
              </a:rPr>
              <a:t>杞人
忧天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6217920"/>
            <a:ext cx="110486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C45C4A"/>
                </a:solidFill>
                <a:latin typeface="Microsoft YaHei"/>
              </a:rPr>
              <a:t>短故事照见人心 · 大镜子折射现实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384048"/>
            <a:ext cx="773408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2C3E6B"/>
                </a:solidFill>
                <a:latin typeface="Microsoft YaHei"/>
              </a:rPr>
              <a:t>情境导入与课时目标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58021" y="384048"/>
            <a:ext cx="276217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>
                <a:solidFill>
                  <a:srgbClr val="6B7B8C"/>
                </a:solidFill>
                <a:latin typeface="Microsoft YaHei"/>
              </a:rPr>
              <a:t>02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731520"/>
            <a:ext cx="11048695" cy="27432"/>
          </a:xfrm>
          <a:prstGeom prst="rect">
            <a:avLst/>
          </a:prstGeom>
          <a:solidFill>
            <a:srgbClr val="C4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71500" y="886968"/>
            <a:ext cx="11048695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5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8660" y="978408"/>
            <a:ext cx="107743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F3E46"/>
                </a:solidFill>
                <a:latin typeface="Microsoft YaHei"/>
              </a:rPr>
              <a:t>为什么《赫耳墨斯》中雕像者的一句话会让他难堪？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2F3E46"/>
                </a:solidFill>
                <a:latin typeface="Microsoft YaHei"/>
              </a:rPr>
              <a:t>为什么《穿井得一人》的一句话会在国都传开？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1984248"/>
            <a:ext cx="5432907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3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" y="2075688"/>
            <a:ext cx="5213451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C3E6B"/>
                </a:solidFill>
                <a:latin typeface="Microsoft YaHei"/>
              </a:rPr>
              <a:t>【课时目标】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2F3E46"/>
                </a:solidFill>
                <a:latin typeface="Microsoft YaHei"/>
              </a:rPr>
              <a:t>1. 归纳寓言文体特点，理解各则寓意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2F3E46"/>
                </a:solidFill>
                <a:latin typeface="Microsoft YaHei"/>
              </a:rPr>
              <a:t>2. 疏通文言，积累重点词语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2F3E46"/>
                </a:solidFill>
                <a:latin typeface="Microsoft YaHei"/>
              </a:rPr>
              <a:t>3. 分析情节与寓意关系，探究多种理解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7287" y="1984248"/>
            <a:ext cx="5432907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5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7015" y="2075688"/>
            <a:ext cx="5213451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45C4A"/>
                </a:solidFill>
                <a:latin typeface="Microsoft YaHei"/>
              </a:rPr>
              <a:t>【评价任务】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2F3E46"/>
                </a:solidFill>
                <a:latin typeface="Microsoft YaHei"/>
              </a:rPr>
              <a:t>① 完成寓言档案卡（目标1）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2F3E46"/>
                </a:solidFill>
                <a:latin typeface="Microsoft YaHei"/>
              </a:rPr>
              <a:t>② 翻译重点句，解释文言词（目标2）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2F3E46"/>
                </a:solidFill>
                <a:latin typeface="Microsoft YaHei"/>
              </a:rPr>
              <a:t>③ 分析寓意，联系生活谈启示（目标3）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384048"/>
            <a:ext cx="773408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2C3E6B"/>
                </a:solidFill>
                <a:latin typeface="Microsoft YaHei"/>
              </a:rPr>
              <a:t>学习任务一 · 寓言档案卡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58021" y="384048"/>
            <a:ext cx="276217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>
                <a:solidFill>
                  <a:srgbClr val="6B7B8C"/>
                </a:solidFill>
                <a:latin typeface="Microsoft YaHei"/>
              </a:rPr>
              <a:t>03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731520"/>
            <a:ext cx="11048695" cy="27432"/>
          </a:xfrm>
          <a:prstGeom prst="rect">
            <a:avLst/>
          </a:prstGeom>
          <a:solidFill>
            <a:srgbClr val="C4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71500" y="886968"/>
            <a:ext cx="1952189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3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7220" y="941832"/>
            <a:ext cx="189732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篇目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265" y="886968"/>
            <a:ext cx="2394136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3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5985" y="941832"/>
            <a:ext cx="23392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人物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90978" y="886968"/>
            <a:ext cx="3499006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3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36698" y="941832"/>
            <a:ext cx="344414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情节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26560" y="886968"/>
            <a:ext cx="3057058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3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72280" y="941832"/>
            <a:ext cx="300219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寓意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1316736"/>
            <a:ext cx="1952189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7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" y="1371600"/>
            <a:ext cx="189732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F3E46"/>
                </a:solidFill>
                <a:latin typeface="Microsoft YaHei"/>
              </a:rPr>
              <a:t>赫耳墨斯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0265" y="1316736"/>
            <a:ext cx="2394136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7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05985" y="1371600"/>
            <a:ext cx="23392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F3E46"/>
                </a:solidFill>
                <a:latin typeface="Microsoft YaHei"/>
              </a:rPr>
              <a:t>赫耳墨斯、雕像者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90978" y="1316736"/>
            <a:ext cx="3499006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7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36698" y="1371600"/>
            <a:ext cx="344414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F3E46"/>
                </a:solidFill>
                <a:latin typeface="Microsoft YaHei"/>
              </a:rPr>
              <a:t>问价自取其辱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26560" y="1316736"/>
            <a:ext cx="3057058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7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72280" y="1371600"/>
            <a:ext cx="300219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F3E46"/>
                </a:solidFill>
                <a:latin typeface="Microsoft YaHei"/>
              </a:rPr>
              <a:t>讽刺妄自尊大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1746504"/>
            <a:ext cx="1952189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7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" y="1801368"/>
            <a:ext cx="189732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F3E46"/>
                </a:solidFill>
                <a:latin typeface="Microsoft YaHei"/>
              </a:rPr>
              <a:t>蚊子和狮子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60265" y="1746504"/>
            <a:ext cx="2394136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7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05985" y="1801368"/>
            <a:ext cx="23392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F3E46"/>
                </a:solidFill>
                <a:latin typeface="Microsoft YaHei"/>
              </a:rPr>
              <a:t>蚊子、狮子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90978" y="1746504"/>
            <a:ext cx="3499006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7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36698" y="1801368"/>
            <a:ext cx="344414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F3E46"/>
                </a:solidFill>
                <a:latin typeface="Microsoft YaHei"/>
              </a:rPr>
              <a:t>胜后骄纵被蛛网困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26560" y="1746504"/>
            <a:ext cx="3057058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7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72280" y="1801368"/>
            <a:ext cx="300219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F3E46"/>
                </a:solidFill>
                <a:latin typeface="Microsoft YaHei"/>
              </a:rPr>
              <a:t>骄兵必败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1500" y="2176272"/>
            <a:ext cx="1952189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7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7220" y="2231136"/>
            <a:ext cx="189732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F3E46"/>
                </a:solidFill>
                <a:latin typeface="Microsoft YaHei"/>
              </a:rPr>
              <a:t>穿井得一人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60265" y="2176272"/>
            <a:ext cx="2394136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7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05985" y="2231136"/>
            <a:ext cx="23392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F3E46"/>
                </a:solidFill>
                <a:latin typeface="Microsoft YaHei"/>
              </a:rPr>
              <a:t>丁氏、宋君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90978" y="2176272"/>
            <a:ext cx="3499006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7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36698" y="2231136"/>
            <a:ext cx="344414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F3E46"/>
                </a:solidFill>
                <a:latin typeface="Microsoft YaHei"/>
              </a:rPr>
              <a:t>传言失真宋君求证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26560" y="2176272"/>
            <a:ext cx="3057058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7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72280" y="2231136"/>
            <a:ext cx="300219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F3E46"/>
                </a:solidFill>
                <a:latin typeface="Microsoft YaHei"/>
              </a:rPr>
              <a:t>以讹传讹须求证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1500" y="2606040"/>
            <a:ext cx="1952189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7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7220" y="2660904"/>
            <a:ext cx="189732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F3E46"/>
                </a:solidFill>
                <a:latin typeface="Microsoft YaHei"/>
              </a:rPr>
              <a:t>杞人忧天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560265" y="2606040"/>
            <a:ext cx="2394136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7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05985" y="2660904"/>
            <a:ext cx="23392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F3E46"/>
                </a:solidFill>
                <a:latin typeface="Microsoft YaHei"/>
              </a:rPr>
              <a:t>杞人、晓之者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990978" y="2606040"/>
            <a:ext cx="3499006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7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36698" y="2660904"/>
            <a:ext cx="344414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F3E46"/>
                </a:solidFill>
                <a:latin typeface="Microsoft YaHei"/>
              </a:rPr>
              <a:t>忧天被开导释然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526560" y="2606040"/>
            <a:ext cx="3057058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7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72280" y="2660904"/>
            <a:ext cx="300219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F3E46"/>
                </a:solidFill>
                <a:latin typeface="Microsoft YaHei"/>
              </a:rPr>
              <a:t>不必杞人忧天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71500" y="3127248"/>
            <a:ext cx="11048695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5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1228" y="3200400"/>
            <a:ext cx="10829239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45C4A"/>
                </a:solidFill>
                <a:latin typeface="Microsoft YaHei"/>
              </a:rPr>
              <a:t>寓言文体特点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2F3E46"/>
                </a:solidFill>
                <a:latin typeface="Microsoft YaHei"/>
              </a:rPr>
              <a:t>篇幅：短小精悍  |  人物：典型鲜明  |  写法：拟人、夸张、反转  |  作用：寄寓道理、警醒世人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384048"/>
            <a:ext cx="773408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2C3E6B"/>
                </a:solidFill>
                <a:latin typeface="Microsoft YaHei"/>
              </a:rPr>
              <a:t>学习任务二 · 品味情节，读懂寓意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58021" y="384048"/>
            <a:ext cx="276217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>
                <a:solidFill>
                  <a:srgbClr val="6B7B8C"/>
                </a:solidFill>
                <a:latin typeface="Microsoft YaHei"/>
              </a:rPr>
              <a:t>04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731520"/>
            <a:ext cx="11048695" cy="27432"/>
          </a:xfrm>
          <a:prstGeom prst="rect">
            <a:avLst/>
          </a:prstGeom>
          <a:solidFill>
            <a:srgbClr val="C4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71500" y="886968"/>
            <a:ext cx="5455767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3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" y="978408"/>
            <a:ext cx="5272887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C3E6B"/>
                </a:solidFill>
                <a:latin typeface="Microsoft YaHei"/>
              </a:rPr>
              <a:t>情节 → 寓意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2F3E46"/>
                </a:solidFill>
                <a:latin typeface="Microsoft YaHei"/>
              </a:rPr>
              <a:t>赫耳墨斯：「白送」→ 讽刺自高自大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2F3E46"/>
                </a:solidFill>
                <a:latin typeface="Microsoft YaHei"/>
              </a:rPr>
              <a:t>蚊子：凯歌后被粘 → 骄兵必败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2F3E46"/>
                </a:solidFill>
                <a:latin typeface="Microsoft YaHei"/>
              </a:rPr>
              <a:t>丁氏：澄清误会 → 勿以讹传讹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4427" y="886968"/>
            <a:ext cx="5455767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5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55867" y="978408"/>
            <a:ext cx="5272887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45C4A"/>
                </a:solidFill>
                <a:latin typeface="Microsoft YaHei"/>
              </a:rPr>
              <a:t>改写探究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2F3E46"/>
                </a:solidFill>
                <a:latin typeface="Microsoft YaHei"/>
              </a:rPr>
              <a:t>若蚊子战胜后悄悄离开……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2F3E46"/>
                </a:solidFill>
                <a:latin typeface="Microsoft YaHei"/>
              </a:rPr>
              <a:t>寓意或变为「懂得适可而止」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2F3E46"/>
                </a:solidFill>
                <a:latin typeface="Microsoft YaHei"/>
              </a:rPr>
              <a:t>说明：寓意与情节设计密切相关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2852928"/>
            <a:ext cx="11048695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3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" y="2944368"/>
            <a:ext cx="10829239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C3E6B"/>
                </a:solidFill>
                <a:latin typeface="Microsoft YaHei"/>
              </a:rPr>
              <a:t>联系生活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2F3E46"/>
                </a:solidFill>
                <a:latin typeface="Microsoft YaHei"/>
              </a:rPr>
              <a:t>① 未经核实转发消息 → 《穿井得一人》  ② 成绩好看不起同学 → 《赫耳墨斯》  ③ 风声就焦虑 → 《杞人忧天》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384048"/>
            <a:ext cx="773408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2C3E6B"/>
                </a:solidFill>
                <a:latin typeface="Microsoft YaHei"/>
              </a:rPr>
              <a:t>学习任务三 · 疏通文言，积累词语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58021" y="384048"/>
            <a:ext cx="276217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>
                <a:solidFill>
                  <a:srgbClr val="6B7B8C"/>
                </a:solidFill>
                <a:latin typeface="Microsoft YaHei"/>
              </a:rPr>
              <a:t>05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731520"/>
            <a:ext cx="11048695" cy="27432"/>
          </a:xfrm>
          <a:prstGeom prst="rect">
            <a:avLst/>
          </a:prstGeom>
          <a:solidFill>
            <a:srgbClr val="C4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71500" y="886968"/>
            <a:ext cx="20116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3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" y="950976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C3E6B"/>
                </a:solidFill>
                <a:latin typeface="Microsoft YaHei"/>
              </a:rPr>
              <a:t>闻：听说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20340" y="886968"/>
            <a:ext cx="20116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3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93492" y="950976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C3E6B"/>
                </a:solidFill>
                <a:latin typeface="Microsoft YaHei"/>
              </a:rPr>
              <a:t>道：讲述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69180" y="886968"/>
            <a:ext cx="20116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3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42332" y="950976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C3E6B"/>
                </a:solidFill>
                <a:latin typeface="Microsoft YaHei"/>
              </a:rPr>
              <a:t>亡：同「无」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18020" y="886968"/>
            <a:ext cx="20116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3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91172" y="950976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C3E6B"/>
                </a:solidFill>
                <a:latin typeface="Microsoft YaHei"/>
              </a:rPr>
              <a:t>晓：开导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66860" y="886968"/>
            <a:ext cx="20116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3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40012" y="950976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C3E6B"/>
                </a:solidFill>
                <a:latin typeface="Microsoft YaHei"/>
              </a:rPr>
              <a:t>舍然：释然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1847088"/>
            <a:ext cx="11048695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5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" y="1956816"/>
            <a:ext cx="10829239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45C4A"/>
                </a:solidFill>
                <a:latin typeface="Microsoft YaHei"/>
              </a:rPr>
              <a:t>重点句翻译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2F3E46"/>
                </a:solidFill>
                <a:latin typeface="Microsoft YaHei"/>
              </a:rPr>
              <a:t>（1）得一人之使，非得一人于井中也。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2F3E46"/>
                </a:solidFill>
                <a:latin typeface="Microsoft YaHei"/>
              </a:rPr>
              <a:t>（2）求闻之若此，不若无闻也。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2F3E46"/>
                </a:solidFill>
                <a:latin typeface="Microsoft YaHei"/>
              </a:rPr>
              <a:t>（3）若屈伸呼吸，终日在天中行止，奈何忧崩坠乎？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384048"/>
            <a:ext cx="773408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2C3E6B"/>
                </a:solidFill>
                <a:latin typeface="Microsoft YaHei"/>
              </a:rPr>
              <a:t>「杞人忧天」的多视角解读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58021" y="384048"/>
            <a:ext cx="276217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>
                <a:solidFill>
                  <a:srgbClr val="6B7B8C"/>
                </a:solidFill>
                <a:latin typeface="Microsoft YaHei"/>
              </a:rPr>
              <a:t>06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731520"/>
            <a:ext cx="11048695" cy="27432"/>
          </a:xfrm>
          <a:prstGeom prst="rect">
            <a:avLst/>
          </a:prstGeom>
          <a:solidFill>
            <a:srgbClr val="C4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71500" y="886968"/>
            <a:ext cx="5455767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3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" y="978408"/>
            <a:ext cx="5272887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C3E6B"/>
                </a:solidFill>
                <a:latin typeface="Microsoft YaHei"/>
              </a:rPr>
              <a:t>视角 A：讽刺不必要的杞忧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2F3E46"/>
                </a:solidFill>
                <a:latin typeface="Microsoft YaHei"/>
              </a:rPr>
              <a:t>依据：「废寝食者」「奈何忧崩坠乎」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2F3E46"/>
                </a:solidFill>
                <a:latin typeface="Microsoft YaHei"/>
              </a:rPr>
              <a:t>启示：遇事应实事求是，勿凭空忧虑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4427" y="886968"/>
            <a:ext cx="5455767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5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55867" y="978408"/>
            <a:ext cx="5272887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45C4A"/>
                </a:solidFill>
                <a:latin typeface="Microsoft YaHei"/>
              </a:rPr>
              <a:t>视角 B：体现忧患意识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2F3E46"/>
                </a:solidFill>
                <a:latin typeface="Microsoft YaHei"/>
              </a:rPr>
              <a:t>依据：「忧天地崩坠，身亡所寄」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2F3E46"/>
                </a:solidFill>
                <a:latin typeface="Microsoft YaHei"/>
              </a:rPr>
              <a:t>启示：对未知保持审慎，亦需理性求证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384048"/>
            <a:ext cx="773408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2C3E6B"/>
                </a:solidFill>
                <a:latin typeface="Microsoft YaHei"/>
              </a:rPr>
              <a:t>给古人一条今天的建议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58021" y="384048"/>
            <a:ext cx="276217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>
                <a:solidFill>
                  <a:srgbClr val="6B7B8C"/>
                </a:solidFill>
                <a:latin typeface="Microsoft YaHei"/>
              </a:rPr>
              <a:t>07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731520"/>
            <a:ext cx="11048695" cy="27432"/>
          </a:xfrm>
          <a:prstGeom prst="rect">
            <a:avLst/>
          </a:prstGeom>
          <a:solidFill>
            <a:srgbClr val="C4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71500" y="932688"/>
            <a:ext cx="228600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3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7220" y="1024128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2C3E6B"/>
                </a:solidFill>
                <a:latin typeface="Microsoft YaHei"/>
              </a:rPr>
              <a:t>丁氏原话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57500" y="1069848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C45C4A"/>
                </a:solidFill>
                <a:latin typeface="Microsoft YaHe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77540" y="932688"/>
            <a:ext cx="228600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3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23260" y="1024128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2C3E6B"/>
                </a:solidFill>
                <a:latin typeface="Microsoft YaHei"/>
              </a:rPr>
              <a:t>传言失真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63540" y="1069848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C45C4A"/>
                </a:solidFill>
                <a:latin typeface="Microsoft YaHe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83580" y="932688"/>
            <a:ext cx="228600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3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29300" y="1024128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2C3E6B"/>
                </a:solidFill>
                <a:latin typeface="Microsoft YaHei"/>
              </a:rPr>
              <a:t>国人传播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69580" y="1069848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C45C4A"/>
                </a:solidFill>
                <a:latin typeface="Microsoft YaHe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9620" y="932688"/>
            <a:ext cx="228600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3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5340" y="1024128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2C3E6B"/>
                </a:solidFill>
                <a:latin typeface="Microsoft YaHei"/>
              </a:rPr>
              <a:t>宋君求证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" y="1847088"/>
            <a:ext cx="11048695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5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228" y="1938528"/>
            <a:ext cx="108292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45C4A"/>
                </a:solidFill>
                <a:latin typeface="Microsoft YaHei"/>
              </a:rPr>
              <a:t>面对网络信息：核对来源 · 理性判断 · 不传谣言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2944368"/>
            <a:ext cx="11048695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3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228" y="3035808"/>
            <a:ext cx="1082923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C3E6B"/>
                </a:solidFill>
                <a:latin typeface="Microsoft YaHei"/>
              </a:rPr>
              <a:t>课堂小结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2F3E46"/>
                </a:solidFill>
                <a:latin typeface="Microsoft YaHei"/>
              </a:rPr>
              <a:t>两则文言寓言警示我们：信息须求证，忧虑须理性，智慧照见局限。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384048"/>
            <a:ext cx="773408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2C3E6B"/>
                </a:solidFill>
                <a:latin typeface="Microsoft YaHei"/>
              </a:rPr>
              <a:t>作业与检测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58021" y="384048"/>
            <a:ext cx="276217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>
                <a:solidFill>
                  <a:srgbClr val="6B7B8C"/>
                </a:solidFill>
                <a:latin typeface="Microsoft YaHei"/>
              </a:rPr>
              <a:t>08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731520"/>
            <a:ext cx="11048695" cy="27432"/>
          </a:xfrm>
          <a:prstGeom prst="rect">
            <a:avLst/>
          </a:prstGeom>
          <a:solidFill>
            <a:srgbClr val="C4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71500" y="886968"/>
            <a:ext cx="5455767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3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" y="978408"/>
            <a:ext cx="5272887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C3E6B"/>
                </a:solidFill>
                <a:latin typeface="Microsoft YaHei"/>
              </a:rPr>
              <a:t>必做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2F3E46"/>
                </a:solidFill>
                <a:latin typeface="Microsoft YaHei"/>
              </a:rPr>
              <a:t>1. 用「这则寓言告诉我们……」写《蚊子和狮子》启示（80字）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2F3E46"/>
                </a:solidFill>
                <a:latin typeface="Microsoft YaHei"/>
              </a:rPr>
              <a:t>2. 背诵：得一人之使，非得一人于井中也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4427" y="886968"/>
            <a:ext cx="5455767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5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55867" y="978408"/>
            <a:ext cx="5272887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45C4A"/>
                </a:solidFill>
                <a:latin typeface="Microsoft YaHei"/>
              </a:rPr>
              <a:t>延伸拓展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2F3E46"/>
                </a:solidFill>
                <a:latin typeface="Microsoft YaHei"/>
              </a:rPr>
              <a:t>选做：任选一则寓言新编（100—200字）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2F3E46"/>
                </a:solidFill>
                <a:latin typeface="Microsoft YaHei"/>
              </a:rPr>
              <a:t>拓展：搜集一则网络谣言案例，与《穿井得一人》对比分析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