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1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845820" y="838200"/>
            <a:ext cx="10500055" cy="51816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6B90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303020" y="1478280"/>
            <a:ext cx="9585655" cy="1097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600"/>
              </a:spcAft>
            </a:pPr>
            <a:r>
              <a:rPr sz="4000" b="1">
                <a:solidFill>
                  <a:srgbClr val="6B9080"/>
                </a:solidFill>
                <a:latin typeface="Microsoft YaHei"/>
              </a:rPr>
              <a:t>皇帝的新装</a:t>
            </a:r>
          </a:p>
          <a:p>
            <a:pPr>
              <a:spcAft>
                <a:spcPts val="600"/>
              </a:spcAft>
            </a:pPr>
            <a:r>
              <a:rPr sz="2800" b="0">
                <a:solidFill>
                  <a:srgbClr val="2B2D42"/>
                </a:solidFill>
                <a:latin typeface="Microsoft YaHei"/>
              </a:rPr>
              <a:t>现实的讽刺与人性的镜子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303020" y="2758440"/>
            <a:ext cx="9585655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600"/>
              </a:spcAft>
            </a:pPr>
            <a:r>
              <a:rPr sz="1800" b="0">
                <a:solidFill>
                  <a:srgbClr val="84A98C"/>
                </a:solidFill>
                <a:latin typeface="Microsoft YaHei"/>
              </a:rPr>
              <a:t>统编版七年级上册第六单元第22课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1303020" y="3489960"/>
            <a:ext cx="3840480" cy="1463040"/>
          </a:xfrm>
          <a:prstGeom prst="roundRect">
            <a:avLst/>
          </a:prstGeom>
          <a:solidFill>
            <a:srgbClr val="E8E5DA"/>
          </a:solidFill>
          <a:ln>
            <a:solidFill>
              <a:srgbClr val="B5838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485900" y="3627120"/>
            <a:ext cx="3474720" cy="11887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600"/>
              </a:spcAft>
            </a:pPr>
            <a:r>
              <a:rPr sz="2000" b="1">
                <a:solidFill>
                  <a:srgbClr val="B5838D"/>
                </a:solidFill>
                <a:latin typeface="Microsoft YaHei"/>
              </a:rPr>
              <a:t>［丹麦］安徒生</a:t>
            </a:r>
          </a:p>
          <a:p>
            <a:pPr>
              <a:spcAft>
                <a:spcPts val="600"/>
              </a:spcAft>
            </a:pPr>
            <a:r>
              <a:rPr sz="1600" b="0">
                <a:solidFill>
                  <a:srgbClr val="2B2D42"/>
                </a:solidFill>
                <a:latin typeface="Microsoft YaHei"/>
              </a:rPr>
              <a:t>世界儿童文学巨匠</a:t>
            </a:r>
          </a:p>
          <a:p>
            <a:pPr>
              <a:spcAft>
                <a:spcPts val="600"/>
              </a:spcAft>
            </a:pPr>
            <a:r>
              <a:rPr sz="1600" b="0">
                <a:solidFill>
                  <a:srgbClr val="84A98C"/>
                </a:solidFill>
                <a:latin typeface="Microsoft YaHei"/>
              </a:rPr>
              <a:t>以夸张想象揭示人性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600700" y="3672840"/>
            <a:ext cx="5943600" cy="10972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spcAft>
                <a:spcPts val="600"/>
              </a:spcAft>
            </a:pPr>
            <a:r>
              <a:rPr sz="2200" b="1">
                <a:solidFill>
                  <a:srgbClr val="E09F68"/>
                </a:solidFill>
                <a:latin typeface="Microsoft YaHei"/>
              </a:rPr>
              <a:t>二级母题：真实与虚假</a:t>
            </a:r>
          </a:p>
          <a:p>
            <a:pPr>
              <a:spcAft>
                <a:spcPts val="600"/>
              </a:spcAft>
            </a:pPr>
            <a:r>
              <a:rPr sz="1800" b="0">
                <a:solidFill>
                  <a:srgbClr val="2B2D42"/>
                </a:solidFill>
                <a:latin typeface="Microsoft YaHei"/>
              </a:rPr>
              <a:t>想象与真实 · 想象力博物馆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1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71500" y="381000"/>
            <a:ext cx="11048695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600"/>
              </a:spcAft>
            </a:pPr>
            <a:r>
              <a:rPr sz="3200" b="1">
                <a:solidFill>
                  <a:srgbClr val="6B9080"/>
                </a:solidFill>
                <a:latin typeface="Microsoft YaHei"/>
              </a:rPr>
              <a:t>单元情境与学习目标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71500" y="1203960"/>
            <a:ext cx="5387187" cy="438912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6B90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233007" y="1203960"/>
            <a:ext cx="5387187" cy="438912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09F6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00100" y="1386840"/>
            <a:ext cx="4929987" cy="40233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600"/>
              </a:spcAft>
            </a:pPr>
            <a:r>
              <a:rPr sz="2400" b="1">
                <a:solidFill>
                  <a:srgbClr val="6B9080"/>
                </a:solidFill>
                <a:latin typeface="Microsoft YaHei"/>
              </a:rPr>
              <a:t>【单元情境】</a:t>
            </a:r>
          </a:p>
          <a:p>
            <a:pPr>
              <a:spcAft>
                <a:spcPts val="600"/>
              </a:spcAft>
            </a:pPr>
            <a:r>
              <a:rPr sz="800" b="0">
                <a:solidFill>
                  <a:srgbClr val="2B2D42"/>
                </a:solidFill>
                <a:latin typeface="Microsoft YaHei"/>
              </a:rPr>
              <a:t/>
            </a:r>
          </a:p>
          <a:p>
            <a:pPr>
              <a:spcAft>
                <a:spcPts val="600"/>
              </a:spcAft>
            </a:pPr>
            <a:r>
              <a:rPr sz="2000" b="0">
                <a:solidFill>
                  <a:srgbClr val="2B2D42"/>
                </a:solidFill>
                <a:latin typeface="Microsoft YaHei"/>
              </a:rPr>
              <a:t>探索“想象与现实”的交融世界。</a:t>
            </a:r>
          </a:p>
          <a:p>
            <a:pPr>
              <a:spcAft>
                <a:spcPts val="600"/>
              </a:spcAft>
            </a:pPr>
            <a:r>
              <a:rPr sz="800" b="0">
                <a:solidFill>
                  <a:srgbClr val="2B2D42"/>
                </a:solidFill>
                <a:latin typeface="Microsoft YaHei"/>
              </a:rPr>
              <a:t/>
            </a:r>
          </a:p>
          <a:p>
            <a:pPr>
              <a:spcAft>
                <a:spcPts val="600"/>
              </a:spcAft>
            </a:pPr>
            <a:r>
              <a:rPr sz="1800" b="0">
                <a:solidFill>
                  <a:srgbClr val="2B2D42"/>
                </a:solidFill>
                <a:latin typeface="Microsoft YaHei"/>
              </a:rPr>
              <a:t>本单元以“想象力博物馆”为情境，</a:t>
            </a:r>
          </a:p>
          <a:p>
            <a:pPr>
              <a:spcAft>
                <a:spcPts val="600"/>
              </a:spcAft>
            </a:pPr>
            <a:r>
              <a:rPr sz="1800" b="0">
                <a:solidFill>
                  <a:srgbClr val="2B2D42"/>
                </a:solidFill>
                <a:latin typeface="Microsoft YaHei"/>
              </a:rPr>
              <a:t>在荒诞童话中照见真实，</a:t>
            </a:r>
          </a:p>
          <a:p>
            <a:pPr>
              <a:spcAft>
                <a:spcPts val="600"/>
              </a:spcAft>
            </a:pPr>
            <a:r>
              <a:rPr sz="1800" b="0">
                <a:solidFill>
                  <a:srgbClr val="2B2D42"/>
                </a:solidFill>
                <a:latin typeface="Microsoft YaHei"/>
              </a:rPr>
              <a:t>在虚构故事里审视人心。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61607" y="1386840"/>
            <a:ext cx="4929987" cy="40233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600"/>
              </a:spcAft>
            </a:pPr>
            <a:r>
              <a:rPr sz="2400" b="1">
                <a:solidFill>
                  <a:srgbClr val="E09F68"/>
                </a:solidFill>
                <a:latin typeface="Microsoft YaHei"/>
              </a:rPr>
              <a:t>【本课目标】</a:t>
            </a:r>
          </a:p>
          <a:p>
            <a:pPr>
              <a:spcAft>
                <a:spcPts val="600"/>
              </a:spcAft>
            </a:pPr>
            <a:r>
              <a:rPr sz="800" b="0">
                <a:solidFill>
                  <a:srgbClr val="2B2D42"/>
                </a:solidFill>
                <a:latin typeface="Microsoft YaHei"/>
              </a:rPr>
              <a:t/>
            </a:r>
          </a:p>
          <a:p>
            <a:pPr>
              <a:spcAft>
                <a:spcPts val="600"/>
              </a:spcAft>
            </a:pPr>
            <a:r>
              <a:rPr sz="1800" b="0">
                <a:solidFill>
                  <a:srgbClr val="2B2D42"/>
                </a:solidFill>
                <a:latin typeface="Microsoft YaHei"/>
              </a:rPr>
              <a:t>1. 理清“受骗—展骗—穿骗—看骗—揭骗”情节线索。</a:t>
            </a:r>
          </a:p>
          <a:p>
            <a:pPr>
              <a:spcAft>
                <a:spcPts val="600"/>
              </a:spcAft>
            </a:pPr>
            <a:r>
              <a:rPr sz="600" b="0">
                <a:solidFill>
                  <a:srgbClr val="2B2D42"/>
                </a:solidFill>
                <a:latin typeface="Microsoft YaHei"/>
              </a:rPr>
              <a:t/>
            </a:r>
          </a:p>
          <a:p>
            <a:pPr>
              <a:spcAft>
                <a:spcPts val="600"/>
              </a:spcAft>
            </a:pPr>
            <a:r>
              <a:rPr sz="1800" b="0">
                <a:solidFill>
                  <a:srgbClr val="2B2D42"/>
                </a:solidFill>
                <a:latin typeface="Microsoft YaHei"/>
              </a:rPr>
              <a:t>2. 分析皇帝、大臣、百姓及孩子心理，</a:t>
            </a:r>
          </a:p>
          <a:p>
            <a:pPr>
              <a:spcAft>
                <a:spcPts val="600"/>
              </a:spcAft>
            </a:pPr>
            <a:r>
              <a:rPr sz="1800" b="0">
                <a:solidFill>
                  <a:srgbClr val="2B2D42"/>
                </a:solidFill>
                <a:latin typeface="Microsoft YaHei"/>
              </a:rPr>
              <a:t>   剖析童话讽刺意味。</a:t>
            </a:r>
          </a:p>
          <a:p>
            <a:pPr>
              <a:spcAft>
                <a:spcPts val="600"/>
              </a:spcAft>
            </a:pPr>
            <a:r>
              <a:rPr sz="600" b="0">
                <a:solidFill>
                  <a:srgbClr val="2B2D42"/>
                </a:solidFill>
                <a:latin typeface="Microsoft YaHei"/>
              </a:rPr>
              <a:t/>
            </a:r>
          </a:p>
          <a:p>
            <a:pPr>
              <a:spcAft>
                <a:spcPts val="600"/>
              </a:spcAft>
            </a:pPr>
            <a:r>
              <a:rPr sz="1800" b="0">
                <a:solidFill>
                  <a:srgbClr val="2B2D42"/>
                </a:solidFill>
                <a:latin typeface="Microsoft YaHei"/>
              </a:rPr>
              <a:t>3. 理解“虚伪与真实”的现实对应。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1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71500" y="381000"/>
            <a:ext cx="11048695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600"/>
              </a:spcAft>
            </a:pPr>
            <a:r>
              <a:rPr sz="3200" b="1">
                <a:solidFill>
                  <a:srgbClr val="6B9080"/>
                </a:solidFill>
                <a:latin typeface="Microsoft YaHei"/>
              </a:rPr>
              <a:t>故事推演脉络图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54380" y="1478280"/>
            <a:ext cx="1828800" cy="128016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6B90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45820" y="1798320"/>
            <a:ext cx="164592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600"/>
              </a:spcAft>
            </a:pPr>
            <a:r>
              <a:rPr sz="1800" b="1">
                <a:solidFill>
                  <a:srgbClr val="2B2D42"/>
                </a:solidFill>
                <a:latin typeface="Microsoft YaHei"/>
              </a:rPr>
              <a:t>骗子做衣</a:t>
            </a:r>
          </a:p>
        </p:txBody>
      </p:sp>
      <p:sp>
        <p:nvSpPr>
          <p:cNvPr id="6" name="Right Arrow 5"/>
          <p:cNvSpPr/>
          <p:nvPr/>
        </p:nvSpPr>
        <p:spPr>
          <a:xfrm>
            <a:off x="2601468" y="1981200"/>
            <a:ext cx="283464" cy="320040"/>
          </a:xfrm>
          <a:prstGeom prst="rightArrow">
            <a:avLst/>
          </a:prstGeom>
          <a:solidFill>
            <a:srgbClr val="E09F6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2903220" y="1478280"/>
            <a:ext cx="1828800" cy="128016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6B90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2994660" y="1798320"/>
            <a:ext cx="164592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600"/>
              </a:spcAft>
            </a:pPr>
            <a:r>
              <a:rPr sz="1800" b="1">
                <a:solidFill>
                  <a:srgbClr val="2B2D42"/>
                </a:solidFill>
                <a:latin typeface="Microsoft YaHei"/>
              </a:rPr>
              <a:t>大臣探访</a:t>
            </a:r>
          </a:p>
        </p:txBody>
      </p:sp>
      <p:sp>
        <p:nvSpPr>
          <p:cNvPr id="9" name="Right Arrow 8"/>
          <p:cNvSpPr/>
          <p:nvPr/>
        </p:nvSpPr>
        <p:spPr>
          <a:xfrm>
            <a:off x="4750308" y="1981200"/>
            <a:ext cx="283464" cy="320040"/>
          </a:xfrm>
          <a:prstGeom prst="rightArrow">
            <a:avLst/>
          </a:prstGeom>
          <a:solidFill>
            <a:srgbClr val="E09F6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5052060" y="1478280"/>
            <a:ext cx="1828800" cy="128016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6B90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143500" y="1798320"/>
            <a:ext cx="164592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600"/>
              </a:spcAft>
            </a:pPr>
            <a:r>
              <a:rPr sz="1800" b="1">
                <a:solidFill>
                  <a:srgbClr val="2B2D42"/>
                </a:solidFill>
                <a:latin typeface="Microsoft YaHei"/>
              </a:rPr>
              <a:t>皇帝试穿</a:t>
            </a:r>
          </a:p>
        </p:txBody>
      </p:sp>
      <p:sp>
        <p:nvSpPr>
          <p:cNvPr id="12" name="Right Arrow 11"/>
          <p:cNvSpPr/>
          <p:nvPr/>
        </p:nvSpPr>
        <p:spPr>
          <a:xfrm>
            <a:off x="6899148" y="1981200"/>
            <a:ext cx="283464" cy="320040"/>
          </a:xfrm>
          <a:prstGeom prst="rightArrow">
            <a:avLst/>
          </a:prstGeom>
          <a:solidFill>
            <a:srgbClr val="E09F6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7200900" y="1478280"/>
            <a:ext cx="1828800" cy="128016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6B90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292340" y="1798320"/>
            <a:ext cx="164592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600"/>
              </a:spcAft>
            </a:pPr>
            <a:r>
              <a:rPr sz="1800" b="1">
                <a:solidFill>
                  <a:srgbClr val="2B2D42"/>
                </a:solidFill>
                <a:latin typeface="Microsoft YaHei"/>
              </a:rPr>
              <a:t>游行大典</a:t>
            </a:r>
          </a:p>
        </p:txBody>
      </p:sp>
      <p:sp>
        <p:nvSpPr>
          <p:cNvPr id="15" name="Right Arrow 14"/>
          <p:cNvSpPr/>
          <p:nvPr/>
        </p:nvSpPr>
        <p:spPr>
          <a:xfrm>
            <a:off x="9047988" y="1981200"/>
            <a:ext cx="283464" cy="320040"/>
          </a:xfrm>
          <a:prstGeom prst="rightArrow">
            <a:avLst/>
          </a:prstGeom>
          <a:solidFill>
            <a:srgbClr val="E09F6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9349740" y="1478280"/>
            <a:ext cx="1828800" cy="128016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B5838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441180" y="1798320"/>
            <a:ext cx="164592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600"/>
              </a:spcAft>
            </a:pPr>
            <a:r>
              <a:rPr sz="1800" b="1">
                <a:solidFill>
                  <a:srgbClr val="2B2D42"/>
                </a:solidFill>
                <a:latin typeface="Microsoft YaHei"/>
              </a:rPr>
              <a:t>小孩揭穿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71500" y="3124200"/>
            <a:ext cx="11048695" cy="20116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B5838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37260" y="3307080"/>
            <a:ext cx="10317175" cy="1645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spcAft>
                <a:spcPts val="600"/>
              </a:spcAft>
            </a:pPr>
            <a:r>
              <a:rPr sz="2200" b="1">
                <a:solidFill>
                  <a:srgbClr val="B5838D"/>
                </a:solidFill>
                <a:latin typeface="Microsoft YaHei"/>
              </a:rPr>
              <a:t>核心矛盾</a:t>
            </a:r>
          </a:p>
          <a:p>
            <a:pPr>
              <a:spcAft>
                <a:spcPts val="600"/>
              </a:spcAft>
            </a:pPr>
            <a:r>
              <a:rPr sz="2800" b="1">
                <a:solidFill>
                  <a:srgbClr val="2B2D42"/>
                </a:solidFill>
                <a:latin typeface="Microsoft YaHei"/>
              </a:rPr>
              <a:t>虚荣心  vs  真实事实</a:t>
            </a:r>
          </a:p>
          <a:p>
            <a:pPr>
              <a:spcAft>
                <a:spcPts val="600"/>
              </a:spcAft>
            </a:pPr>
            <a:r>
              <a:rPr sz="1800" b="0">
                <a:solidFill>
                  <a:srgbClr val="84A98C"/>
                </a:solidFill>
                <a:latin typeface="Microsoft YaHei"/>
              </a:rPr>
              <a:t>谎言因“不敢承认看不见”而运转，真话因“孩子无畏”而刺破。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1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71500" y="381000"/>
            <a:ext cx="11048695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600"/>
              </a:spcAft>
            </a:pPr>
            <a:r>
              <a:rPr sz="3200" b="1">
                <a:solidFill>
                  <a:srgbClr val="6B9080"/>
                </a:solidFill>
                <a:latin typeface="Microsoft YaHei"/>
              </a:rPr>
              <a:t>人物图鉴与心理剖析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71500" y="1203960"/>
            <a:ext cx="3560978" cy="438912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6B90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54380" y="1432560"/>
            <a:ext cx="3195218" cy="3931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600"/>
              </a:spcAft>
            </a:pPr>
            <a:r>
              <a:rPr sz="2600" b="1">
                <a:solidFill>
                  <a:srgbClr val="6B9080"/>
                </a:solidFill>
                <a:latin typeface="Microsoft YaHei"/>
              </a:rPr>
              <a:t>皇帝</a:t>
            </a:r>
          </a:p>
          <a:p>
            <a:pPr>
              <a:spcAft>
                <a:spcPts val="600"/>
              </a:spcAft>
            </a:pPr>
            <a:r>
              <a:rPr sz="800" b="0">
                <a:solidFill>
                  <a:srgbClr val="2B2D42"/>
                </a:solidFill>
                <a:latin typeface="Microsoft YaHei"/>
              </a:rPr>
              <a:t/>
            </a:r>
          </a:p>
          <a:p>
            <a:pPr>
              <a:spcAft>
                <a:spcPts val="600"/>
              </a:spcAft>
            </a:pPr>
            <a:r>
              <a:rPr sz="1800" b="0">
                <a:solidFill>
                  <a:srgbClr val="2B2D42"/>
                </a:solidFill>
                <a:latin typeface="Microsoft YaHei"/>
              </a:rPr>
              <a:t>性格：极致虚荣、愚蠢自私</a:t>
            </a:r>
          </a:p>
          <a:p>
            <a:pPr>
              <a:spcAft>
                <a:spcPts val="600"/>
              </a:spcAft>
            </a:pPr>
            <a:r>
              <a:rPr sz="800" b="0">
                <a:solidFill>
                  <a:srgbClr val="2B2D42"/>
                </a:solidFill>
                <a:latin typeface="Microsoft YaHei"/>
              </a:rPr>
              <a:t/>
            </a:r>
          </a:p>
          <a:p>
            <a:pPr>
              <a:spcAft>
                <a:spcPts val="600"/>
              </a:spcAft>
            </a:pPr>
            <a:r>
              <a:rPr sz="1800" b="0">
                <a:solidFill>
                  <a:srgbClr val="2B2D42"/>
                </a:solidFill>
                <a:latin typeface="Microsoft YaHei"/>
              </a:rPr>
              <a:t>心理：怕被认为不聪明、不称职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315358" y="1203960"/>
            <a:ext cx="3560978" cy="438912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09F6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498238" y="1432560"/>
            <a:ext cx="3195218" cy="3931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600"/>
              </a:spcAft>
            </a:pPr>
            <a:r>
              <a:rPr sz="2600" b="1">
                <a:solidFill>
                  <a:srgbClr val="E09F68"/>
                </a:solidFill>
                <a:latin typeface="Microsoft YaHei"/>
              </a:rPr>
              <a:t>大臣们</a:t>
            </a:r>
          </a:p>
          <a:p>
            <a:pPr>
              <a:spcAft>
                <a:spcPts val="600"/>
              </a:spcAft>
            </a:pPr>
            <a:r>
              <a:rPr sz="800" b="0">
                <a:solidFill>
                  <a:srgbClr val="2B2D42"/>
                </a:solidFill>
                <a:latin typeface="Microsoft YaHei"/>
              </a:rPr>
              <a:t/>
            </a:r>
          </a:p>
          <a:p>
            <a:pPr>
              <a:spcAft>
                <a:spcPts val="600"/>
              </a:spcAft>
            </a:pPr>
            <a:r>
              <a:rPr sz="1800" b="0">
                <a:solidFill>
                  <a:srgbClr val="2B2D42"/>
                </a:solidFill>
                <a:latin typeface="Microsoft YaHei"/>
              </a:rPr>
              <a:t>性格：自保阿谀、盲从从众</a:t>
            </a:r>
          </a:p>
          <a:p>
            <a:pPr>
              <a:spcAft>
                <a:spcPts val="600"/>
              </a:spcAft>
            </a:pPr>
            <a:r>
              <a:rPr sz="800" b="0">
                <a:solidFill>
                  <a:srgbClr val="2B2D42"/>
                </a:solidFill>
                <a:latin typeface="Microsoft YaHei"/>
              </a:rPr>
              <a:t/>
            </a:r>
          </a:p>
          <a:p>
            <a:pPr>
              <a:spcAft>
                <a:spcPts val="600"/>
              </a:spcAft>
            </a:pPr>
            <a:r>
              <a:rPr sz="1800" b="0">
                <a:solidFill>
                  <a:srgbClr val="2B2D42"/>
                </a:solidFill>
                <a:latin typeface="Microsoft YaHei"/>
              </a:rPr>
              <a:t>心理：怕失去官位与恩宠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059216" y="1203960"/>
            <a:ext cx="3560978" cy="438912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B5838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242096" y="1432560"/>
            <a:ext cx="3195218" cy="3931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600"/>
              </a:spcAft>
            </a:pPr>
            <a:r>
              <a:rPr sz="2600" b="1">
                <a:solidFill>
                  <a:srgbClr val="B5838D"/>
                </a:solidFill>
                <a:latin typeface="Microsoft YaHei"/>
              </a:rPr>
              <a:t>骗子</a:t>
            </a:r>
          </a:p>
          <a:p>
            <a:pPr>
              <a:spcAft>
                <a:spcPts val="600"/>
              </a:spcAft>
            </a:pPr>
            <a:r>
              <a:rPr sz="800" b="0">
                <a:solidFill>
                  <a:srgbClr val="2B2D42"/>
                </a:solidFill>
                <a:latin typeface="Microsoft YaHei"/>
              </a:rPr>
              <a:t/>
            </a:r>
          </a:p>
          <a:p>
            <a:pPr>
              <a:spcAft>
                <a:spcPts val="600"/>
              </a:spcAft>
            </a:pPr>
            <a:r>
              <a:rPr sz="1800" b="0">
                <a:solidFill>
                  <a:srgbClr val="2B2D42"/>
                </a:solidFill>
                <a:latin typeface="Microsoft YaHei"/>
              </a:rPr>
              <a:t>性格：狡黠敏锐、利用弱点</a:t>
            </a:r>
          </a:p>
          <a:p>
            <a:pPr>
              <a:spcAft>
                <a:spcPts val="600"/>
              </a:spcAft>
            </a:pPr>
            <a:r>
              <a:rPr sz="800" b="0">
                <a:solidFill>
                  <a:srgbClr val="2B2D42"/>
                </a:solidFill>
                <a:latin typeface="Microsoft YaHei"/>
              </a:rPr>
              <a:t/>
            </a:r>
          </a:p>
          <a:p>
            <a:pPr>
              <a:spcAft>
                <a:spcPts val="600"/>
              </a:spcAft>
            </a:pPr>
            <a:r>
              <a:rPr sz="1800" b="0">
                <a:solidFill>
                  <a:srgbClr val="2B2D42"/>
                </a:solidFill>
                <a:latin typeface="Microsoft YaHei"/>
              </a:rPr>
              <a:t>心理：精准猎杀人性虚荣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1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71500" y="381000"/>
            <a:ext cx="11048695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600"/>
              </a:spcAft>
            </a:pPr>
            <a:r>
              <a:rPr sz="3200" b="1">
                <a:solidFill>
                  <a:srgbClr val="6B9080"/>
                </a:solidFill>
                <a:latin typeface="Microsoft YaHei"/>
              </a:rPr>
              <a:t>关键道具与意象：“新装”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71500" y="975360"/>
            <a:ext cx="11048695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600"/>
              </a:spcAft>
            </a:pPr>
            <a:r>
              <a:rPr sz="2000" b="0">
                <a:solidFill>
                  <a:srgbClr val="B5838D"/>
                </a:solidFill>
                <a:latin typeface="Microsoft YaHei"/>
              </a:rPr>
              <a:t>不存在的衣服，何以成为人性的“试金石”？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71500" y="1569720"/>
            <a:ext cx="5387187" cy="38404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6B90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6233007" y="1569720"/>
            <a:ext cx="5387187" cy="38404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B5838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00100" y="1752600"/>
            <a:ext cx="4929987" cy="34747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600"/>
              </a:spcAft>
            </a:pPr>
            <a:r>
              <a:rPr sz="2200" b="1">
                <a:solidFill>
                  <a:srgbClr val="6B9080"/>
                </a:solidFill>
                <a:latin typeface="Microsoft YaHei"/>
              </a:rPr>
              <a:t>【新装的特征】</a:t>
            </a:r>
          </a:p>
          <a:p>
            <a:pPr>
              <a:spcAft>
                <a:spcPts val="600"/>
              </a:spcAft>
            </a:pPr>
            <a:r>
              <a:rPr sz="600" b="0">
                <a:solidFill>
                  <a:srgbClr val="2B2D42"/>
                </a:solidFill>
                <a:latin typeface="Microsoft YaHei"/>
              </a:rPr>
              <a:t/>
            </a:r>
          </a:p>
          <a:p>
            <a:pPr>
              <a:spcAft>
                <a:spcPts val="600"/>
              </a:spcAft>
            </a:pPr>
            <a:r>
              <a:rPr sz="1800" b="0">
                <a:solidFill>
                  <a:srgbClr val="2B2D42"/>
                </a:solidFill>
                <a:latin typeface="Microsoft YaHei"/>
              </a:rPr>
              <a:t>· 愚蠢或不称职的人看不见</a:t>
            </a:r>
          </a:p>
          <a:p>
            <a:pPr>
              <a:spcAft>
                <a:spcPts val="600"/>
              </a:spcAft>
            </a:pPr>
            <a:r>
              <a:rPr sz="1800" b="0">
                <a:solidFill>
                  <a:srgbClr val="2B2D42"/>
                </a:solidFill>
                <a:latin typeface="Microsoft YaHei"/>
              </a:rPr>
              <a:t>· 检验“聪明”与“称职”</a:t>
            </a:r>
          </a:p>
          <a:p>
            <a:pPr>
              <a:spcAft>
                <a:spcPts val="600"/>
              </a:spcAft>
            </a:pPr>
            <a:r>
              <a:rPr sz="1800" b="0">
                <a:solidFill>
                  <a:srgbClr val="2B2D42"/>
                </a:solidFill>
                <a:latin typeface="Microsoft YaHei"/>
              </a:rPr>
              <a:t>· 以“看不见”制造恐惧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61607" y="1752600"/>
            <a:ext cx="4929987" cy="34747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600"/>
              </a:spcAft>
            </a:pPr>
            <a:r>
              <a:rPr sz="2200" b="1">
                <a:solidFill>
                  <a:srgbClr val="B5838D"/>
                </a:solidFill>
                <a:latin typeface="Microsoft YaHei"/>
              </a:rPr>
              <a:t>【新装的实质】</a:t>
            </a:r>
          </a:p>
          <a:p>
            <a:pPr>
              <a:spcAft>
                <a:spcPts val="600"/>
              </a:spcAft>
            </a:pPr>
            <a:r>
              <a:rPr sz="600" b="0">
                <a:solidFill>
                  <a:srgbClr val="2B2D42"/>
                </a:solidFill>
                <a:latin typeface="Microsoft YaHei"/>
              </a:rPr>
              <a:t/>
            </a:r>
          </a:p>
          <a:p>
            <a:pPr>
              <a:spcAft>
                <a:spcPts val="600"/>
              </a:spcAft>
            </a:pPr>
            <a:r>
              <a:rPr sz="1800" b="0">
                <a:solidFill>
                  <a:srgbClr val="2B2D42"/>
                </a:solidFill>
                <a:latin typeface="Microsoft YaHei"/>
              </a:rPr>
              <a:t>· 权力压迫下的群体谎言</a:t>
            </a:r>
          </a:p>
          <a:p>
            <a:pPr>
              <a:spcAft>
                <a:spcPts val="600"/>
              </a:spcAft>
            </a:pPr>
            <a:r>
              <a:rPr sz="1800" b="0">
                <a:solidFill>
                  <a:srgbClr val="2B2D42"/>
                </a:solidFill>
                <a:latin typeface="Microsoft YaHei"/>
              </a:rPr>
              <a:t>· 虚荣与怯懦的遮羞布</a:t>
            </a:r>
          </a:p>
          <a:p>
            <a:pPr>
              <a:spcAft>
                <a:spcPts val="600"/>
              </a:spcAft>
            </a:pPr>
            <a:r>
              <a:rPr sz="1800" b="0">
                <a:solidFill>
                  <a:srgbClr val="2B2D42"/>
                </a:solidFill>
                <a:latin typeface="Microsoft YaHei"/>
              </a:rPr>
              <a:t>· 沉默共谋的符号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1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71500" y="381000"/>
            <a:ext cx="11048695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600"/>
              </a:spcAft>
            </a:pPr>
            <a:r>
              <a:rPr sz="3200" b="1">
                <a:solidFill>
                  <a:srgbClr val="6B9080"/>
                </a:solidFill>
                <a:latin typeface="Microsoft YaHei"/>
              </a:rPr>
              <a:t>为什么只有小孩敢说真话？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71500" y="1203960"/>
            <a:ext cx="5387187" cy="41148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B5838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233007" y="1203960"/>
            <a:ext cx="5387187" cy="41148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6B90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00100" y="1386840"/>
            <a:ext cx="4929987" cy="3749039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600"/>
              </a:spcAft>
            </a:pPr>
            <a:r>
              <a:rPr sz="2400" b="1">
                <a:solidFill>
                  <a:srgbClr val="B5838D"/>
                </a:solidFill>
                <a:latin typeface="Microsoft YaHei"/>
              </a:rPr>
              <a:t>成人的世界</a:t>
            </a:r>
          </a:p>
          <a:p>
            <a:pPr>
              <a:spcAft>
                <a:spcPts val="600"/>
              </a:spcAft>
            </a:pPr>
            <a:r>
              <a:rPr sz="600" b="0">
                <a:solidFill>
                  <a:srgbClr val="2B2D42"/>
                </a:solidFill>
                <a:latin typeface="Microsoft YaHei"/>
              </a:rPr>
              <a:t/>
            </a:r>
          </a:p>
          <a:p>
            <a:pPr>
              <a:spcAft>
                <a:spcPts val="600"/>
              </a:spcAft>
            </a:pPr>
            <a:r>
              <a:rPr sz="1800" b="0">
                <a:solidFill>
                  <a:srgbClr val="2B2D42"/>
                </a:solidFill>
                <a:latin typeface="Microsoft YaHei"/>
              </a:rPr>
              <a:t>· 利益捆绑</a:t>
            </a:r>
          </a:p>
          <a:p>
            <a:pPr>
              <a:spcAft>
                <a:spcPts val="600"/>
              </a:spcAft>
            </a:pPr>
            <a:r>
              <a:rPr sz="1800" b="0">
                <a:solidFill>
                  <a:srgbClr val="2B2D42"/>
                </a:solidFill>
                <a:latin typeface="Microsoft YaHei"/>
              </a:rPr>
              <a:t>· 社会化恐惧</a:t>
            </a:r>
          </a:p>
          <a:p>
            <a:pPr>
              <a:spcAft>
                <a:spcPts val="600"/>
              </a:spcAft>
            </a:pPr>
            <a:r>
              <a:rPr sz="1800" b="0">
                <a:solidFill>
                  <a:srgbClr val="2B2D42"/>
                </a:solidFill>
                <a:latin typeface="Microsoft YaHei"/>
              </a:rPr>
              <a:t>· 虚伪掩面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61607" y="1386840"/>
            <a:ext cx="4929987" cy="3749039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600"/>
              </a:spcAft>
            </a:pPr>
            <a:r>
              <a:rPr sz="2400" b="1">
                <a:solidFill>
                  <a:srgbClr val="6B9080"/>
                </a:solidFill>
                <a:latin typeface="Microsoft YaHei"/>
              </a:rPr>
              <a:t>孩子的世界</a:t>
            </a:r>
          </a:p>
          <a:p>
            <a:pPr>
              <a:spcAft>
                <a:spcPts val="600"/>
              </a:spcAft>
            </a:pPr>
            <a:r>
              <a:rPr sz="600" b="0">
                <a:solidFill>
                  <a:srgbClr val="2B2D42"/>
                </a:solidFill>
                <a:latin typeface="Microsoft YaHei"/>
              </a:rPr>
              <a:t/>
            </a:r>
          </a:p>
          <a:p>
            <a:pPr>
              <a:spcAft>
                <a:spcPts val="600"/>
              </a:spcAft>
            </a:pPr>
            <a:r>
              <a:rPr sz="1800" b="0">
                <a:solidFill>
                  <a:srgbClr val="2B2D42"/>
                </a:solidFill>
                <a:latin typeface="Microsoft YaHei"/>
              </a:rPr>
              <a:t>· 无利益纠葛</a:t>
            </a:r>
          </a:p>
          <a:p>
            <a:pPr>
              <a:spcAft>
                <a:spcPts val="600"/>
              </a:spcAft>
            </a:pPr>
            <a:r>
              <a:rPr sz="1800" b="0">
                <a:solidFill>
                  <a:srgbClr val="2B2D42"/>
                </a:solidFill>
                <a:latin typeface="Microsoft YaHei"/>
              </a:rPr>
              <a:t>· 保持直觉</a:t>
            </a:r>
          </a:p>
          <a:p>
            <a:pPr>
              <a:spcAft>
                <a:spcPts val="600"/>
              </a:spcAft>
            </a:pPr>
            <a:r>
              <a:rPr sz="1800" b="0">
                <a:solidFill>
                  <a:srgbClr val="2B2D42"/>
                </a:solidFill>
                <a:latin typeface="Microsoft YaHei"/>
              </a:rPr>
              <a:t>· 纯真赤诚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2857500" y="5593080"/>
            <a:ext cx="5029200" cy="640080"/>
          </a:xfrm>
          <a:prstGeom prst="roundRect">
            <a:avLst/>
          </a:prstGeom>
          <a:solidFill>
            <a:srgbClr val="F0E0E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040380" y="5638800"/>
            <a:ext cx="46634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spcAft>
                <a:spcPts val="600"/>
              </a:spcAft>
            </a:pPr>
            <a:r>
              <a:rPr sz="2200" b="1">
                <a:solidFill>
                  <a:srgbClr val="B5838D"/>
                </a:solidFill>
                <a:latin typeface="Microsoft YaHei"/>
              </a:rPr>
              <a:t>重点：无私者无畏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1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71500" y="381000"/>
            <a:ext cx="11048695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600"/>
              </a:spcAft>
            </a:pPr>
            <a:r>
              <a:rPr sz="3000" b="1">
                <a:solidFill>
                  <a:srgbClr val="6B9080"/>
                </a:solidFill>
                <a:latin typeface="Microsoft YaHei"/>
              </a:rPr>
              <a:t>现实的镜子——童话中的现实批判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71500" y="1249680"/>
            <a:ext cx="11048695" cy="13716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6B90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91540" y="1478280"/>
            <a:ext cx="10408615" cy="10058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spcAft>
                <a:spcPts val="600"/>
              </a:spcAft>
            </a:pPr>
            <a:r>
              <a:rPr sz="2200" b="1">
                <a:solidFill>
                  <a:srgbClr val="6B9080"/>
                </a:solidFill>
                <a:latin typeface="Microsoft YaHei"/>
              </a:rPr>
              <a:t>1. 官场生态</a:t>
            </a:r>
          </a:p>
          <a:p>
            <a:pPr>
              <a:spcAft>
                <a:spcPts val="600"/>
              </a:spcAft>
            </a:pPr>
            <a:r>
              <a:rPr sz="2000" b="0">
                <a:solidFill>
                  <a:srgbClr val="2B2D42"/>
                </a:solidFill>
                <a:latin typeface="Microsoft YaHei"/>
              </a:rPr>
              <a:t>上行下效的谄媚文化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71500" y="2849880"/>
            <a:ext cx="11048695" cy="13716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09F6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91540" y="3078480"/>
            <a:ext cx="10408615" cy="10058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spcAft>
                <a:spcPts val="600"/>
              </a:spcAft>
            </a:pPr>
            <a:r>
              <a:rPr sz="2200" b="1">
                <a:solidFill>
                  <a:srgbClr val="E09F68"/>
                </a:solidFill>
                <a:latin typeface="Microsoft YaHei"/>
              </a:rPr>
              <a:t>2. 社会心理</a:t>
            </a:r>
          </a:p>
          <a:p>
            <a:pPr>
              <a:spcAft>
                <a:spcPts val="600"/>
              </a:spcAft>
            </a:pPr>
            <a:r>
              <a:rPr sz="2000" b="0">
                <a:solidFill>
                  <a:srgbClr val="2B2D42"/>
                </a:solidFill>
                <a:latin typeface="Microsoft YaHei"/>
              </a:rPr>
              <a:t>群体无意识与沉默的螺旋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71500" y="4450080"/>
            <a:ext cx="11048695" cy="13716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B5838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91540" y="4678680"/>
            <a:ext cx="10408615" cy="10058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spcAft>
                <a:spcPts val="600"/>
              </a:spcAft>
            </a:pPr>
            <a:r>
              <a:rPr sz="2200" b="1">
                <a:solidFill>
                  <a:srgbClr val="B5838D"/>
                </a:solidFill>
                <a:latin typeface="Microsoft YaHei"/>
              </a:rPr>
              <a:t>3. 权力困境</a:t>
            </a:r>
          </a:p>
          <a:p>
            <a:pPr>
              <a:spcAft>
                <a:spcPts val="600"/>
              </a:spcAft>
            </a:pPr>
            <a:r>
              <a:rPr sz="2000" b="0">
                <a:solidFill>
                  <a:srgbClr val="2B2D42"/>
                </a:solidFill>
                <a:latin typeface="Microsoft YaHei"/>
              </a:rPr>
              <a:t>失去真实反馈的上位者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1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71500" y="381000"/>
            <a:ext cx="11048695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600"/>
              </a:spcAft>
            </a:pPr>
            <a:r>
              <a:rPr sz="3200" b="1">
                <a:solidFill>
                  <a:srgbClr val="6B9080"/>
                </a:solidFill>
                <a:latin typeface="Microsoft YaHei"/>
              </a:rPr>
              <a:t>想象力的构建机制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71500" y="1752600"/>
            <a:ext cx="3291840" cy="256032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6B90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54380" y="2072640"/>
            <a:ext cx="2926080" cy="19202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600"/>
              </a:spcAft>
            </a:pPr>
            <a:r>
              <a:rPr sz="2200" b="1">
                <a:solidFill>
                  <a:srgbClr val="6B9080"/>
                </a:solidFill>
                <a:latin typeface="Microsoft YaHei"/>
              </a:rPr>
              <a:t>现实基础</a:t>
            </a:r>
          </a:p>
          <a:p>
            <a:pPr>
              <a:spcAft>
                <a:spcPts val="600"/>
              </a:spcAft>
            </a:pPr>
            <a:r>
              <a:rPr sz="600" b="0">
                <a:solidFill>
                  <a:srgbClr val="2B2D42"/>
                </a:solidFill>
                <a:latin typeface="Microsoft YaHei"/>
              </a:rPr>
              <a:t/>
            </a:r>
          </a:p>
          <a:p>
            <a:pPr>
              <a:spcAft>
                <a:spcPts val="600"/>
              </a:spcAft>
            </a:pPr>
            <a:r>
              <a:rPr sz="1800" b="0">
                <a:solidFill>
                  <a:srgbClr val="2B2D42"/>
                </a:solidFill>
                <a:latin typeface="Microsoft YaHei"/>
              </a:rPr>
              <a:t>社会上的虚伪现象与谄媚风气</a:t>
            </a:r>
          </a:p>
        </p:txBody>
      </p:sp>
      <p:sp>
        <p:nvSpPr>
          <p:cNvPr id="6" name="Right Arrow 5"/>
          <p:cNvSpPr/>
          <p:nvPr/>
        </p:nvSpPr>
        <p:spPr>
          <a:xfrm>
            <a:off x="3909060" y="2804160"/>
            <a:ext cx="320040" cy="365760"/>
          </a:xfrm>
          <a:prstGeom prst="rightArrow">
            <a:avLst/>
          </a:prstGeom>
          <a:solidFill>
            <a:srgbClr val="84A9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4274820" y="1752600"/>
            <a:ext cx="3291840" cy="256032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09F6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457700" y="2072640"/>
            <a:ext cx="2926080" cy="19202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600"/>
              </a:spcAft>
            </a:pPr>
            <a:r>
              <a:rPr sz="2200" b="1">
                <a:solidFill>
                  <a:srgbClr val="E09F68"/>
                </a:solidFill>
                <a:latin typeface="Microsoft YaHei"/>
              </a:rPr>
              <a:t>夸张想象</a:t>
            </a:r>
          </a:p>
          <a:p>
            <a:pPr>
              <a:spcAft>
                <a:spcPts val="600"/>
              </a:spcAft>
            </a:pPr>
            <a:r>
              <a:rPr sz="600" b="0">
                <a:solidFill>
                  <a:srgbClr val="2B2D42"/>
                </a:solidFill>
                <a:latin typeface="Microsoft YaHei"/>
              </a:rPr>
              <a:t/>
            </a:r>
          </a:p>
          <a:p>
            <a:pPr>
              <a:spcAft>
                <a:spcPts val="600"/>
              </a:spcAft>
            </a:pPr>
            <a:r>
              <a:rPr sz="1800" b="0">
                <a:solidFill>
                  <a:srgbClr val="2B2D42"/>
                </a:solidFill>
                <a:latin typeface="Microsoft YaHei"/>
              </a:rPr>
              <a:t>将“虚伪”实体化为“不存在的衣服”</a:t>
            </a:r>
          </a:p>
        </p:txBody>
      </p:sp>
      <p:sp>
        <p:nvSpPr>
          <p:cNvPr id="9" name="Right Arrow 8"/>
          <p:cNvSpPr/>
          <p:nvPr/>
        </p:nvSpPr>
        <p:spPr>
          <a:xfrm>
            <a:off x="7612380" y="2804160"/>
            <a:ext cx="320040" cy="365760"/>
          </a:xfrm>
          <a:prstGeom prst="rightArrow">
            <a:avLst/>
          </a:prstGeom>
          <a:solidFill>
            <a:srgbClr val="84A9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7978140" y="1752600"/>
            <a:ext cx="3291840" cy="256032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B5838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161020" y="2072640"/>
            <a:ext cx="2926080" cy="19202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600"/>
              </a:spcAft>
            </a:pPr>
            <a:r>
              <a:rPr sz="2200" b="1">
                <a:solidFill>
                  <a:srgbClr val="B5838D"/>
                </a:solidFill>
                <a:latin typeface="Microsoft YaHei"/>
              </a:rPr>
              <a:t>逻辑闭环</a:t>
            </a:r>
          </a:p>
          <a:p>
            <a:pPr>
              <a:spcAft>
                <a:spcPts val="600"/>
              </a:spcAft>
            </a:pPr>
            <a:r>
              <a:rPr sz="600" b="0">
                <a:solidFill>
                  <a:srgbClr val="2B2D42"/>
                </a:solidFill>
                <a:latin typeface="Microsoft YaHei"/>
              </a:rPr>
              <a:t/>
            </a:r>
          </a:p>
          <a:p>
            <a:pPr>
              <a:spcAft>
                <a:spcPts val="600"/>
              </a:spcAft>
            </a:pPr>
            <a:r>
              <a:rPr sz="1800" b="0">
                <a:solidFill>
                  <a:srgbClr val="2B2D42"/>
                </a:solidFill>
                <a:latin typeface="Microsoft YaHei"/>
              </a:rPr>
              <a:t>只要人人害怕承认，谎言就能完美运转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71500" y="4587240"/>
            <a:ext cx="11048695" cy="118872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6B90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45820" y="4724400"/>
            <a:ext cx="10500055" cy="9144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spcAft>
                <a:spcPts val="600"/>
              </a:spcAft>
            </a:pPr>
            <a:r>
              <a:rPr sz="2000" b="0">
                <a:solidFill>
                  <a:srgbClr val="2B2D42"/>
                </a:solidFill>
                <a:latin typeface="Microsoft YaHei"/>
              </a:rPr>
              <a:t>想象源于现实，夸张服务于讽刺，逻辑闭环维系谎言。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1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71500" y="381000"/>
            <a:ext cx="11048695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600"/>
              </a:spcAft>
            </a:pPr>
            <a:r>
              <a:rPr sz="3200" b="1">
                <a:solidFill>
                  <a:srgbClr val="6B9080"/>
                </a:solidFill>
                <a:latin typeface="Microsoft YaHei"/>
              </a:rPr>
              <a:t>课堂拓展与写作任务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71500" y="1158240"/>
            <a:ext cx="11048695" cy="45720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09F6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37260" y="1386840"/>
            <a:ext cx="10317175" cy="4114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600"/>
              </a:spcAft>
            </a:pPr>
            <a:r>
              <a:rPr sz="2400" b="1">
                <a:solidFill>
                  <a:srgbClr val="E09F68"/>
                </a:solidFill>
                <a:latin typeface="Microsoft YaHei"/>
              </a:rPr>
              <a:t>【任务】</a:t>
            </a:r>
          </a:p>
          <a:p>
            <a:pPr>
              <a:spcAft>
                <a:spcPts val="600"/>
              </a:spcAft>
            </a:pPr>
            <a:r>
              <a:rPr sz="2000" b="0">
                <a:solidFill>
                  <a:srgbClr val="2B2D42"/>
                </a:solidFill>
                <a:latin typeface="Microsoft YaHei"/>
              </a:rPr>
              <a:t>为《皇帝的新装》续写一个 200 字结尾。</a:t>
            </a:r>
          </a:p>
          <a:p>
            <a:pPr>
              <a:spcAft>
                <a:spcPts val="600"/>
              </a:spcAft>
            </a:pPr>
            <a:r>
              <a:rPr sz="800" b="0">
                <a:solidFill>
                  <a:srgbClr val="2B2D42"/>
                </a:solidFill>
                <a:latin typeface="Microsoft YaHei"/>
              </a:rPr>
              <a:t/>
            </a:r>
          </a:p>
          <a:p>
            <a:pPr>
              <a:spcAft>
                <a:spcPts val="600"/>
              </a:spcAft>
            </a:pPr>
            <a:r>
              <a:rPr sz="2200" b="1">
                <a:solidFill>
                  <a:srgbClr val="6B9080"/>
                </a:solidFill>
                <a:latin typeface="Microsoft YaHei"/>
              </a:rPr>
              <a:t>【提示】</a:t>
            </a:r>
          </a:p>
          <a:p>
            <a:pPr>
              <a:spcAft>
                <a:spcPts val="600"/>
              </a:spcAft>
            </a:pPr>
            <a:r>
              <a:rPr sz="1800" b="0">
                <a:solidFill>
                  <a:srgbClr val="2B2D42"/>
                </a:solidFill>
                <a:latin typeface="Microsoft YaHei"/>
              </a:rPr>
              <a:t>游行大典结束后，皇帝回到宫中会发生什么？</a:t>
            </a:r>
          </a:p>
          <a:p>
            <a:pPr>
              <a:spcAft>
                <a:spcPts val="600"/>
              </a:spcAft>
            </a:pPr>
            <a:r>
              <a:rPr sz="1800" b="0">
                <a:solidFill>
                  <a:srgbClr val="2B2D42"/>
                </a:solidFill>
                <a:latin typeface="Microsoft YaHei"/>
              </a:rPr>
              <a:t>大臣们会怎么做？百姓又会如何议论？</a:t>
            </a:r>
          </a:p>
          <a:p>
            <a:pPr>
              <a:spcAft>
                <a:spcPts val="600"/>
              </a:spcAft>
            </a:pPr>
            <a:r>
              <a:rPr sz="800" b="0">
                <a:solidFill>
                  <a:srgbClr val="2B2D42"/>
                </a:solidFill>
                <a:latin typeface="Microsoft YaHei"/>
              </a:rPr>
              <a:t/>
            </a:r>
          </a:p>
          <a:p>
            <a:pPr>
              <a:spcAft>
                <a:spcPts val="600"/>
              </a:spcAft>
            </a:pPr>
            <a:r>
              <a:rPr sz="2200" b="1">
                <a:solidFill>
                  <a:srgbClr val="B5838D"/>
                </a:solidFill>
                <a:latin typeface="Microsoft YaHei"/>
              </a:rPr>
              <a:t>【要求】</a:t>
            </a:r>
          </a:p>
          <a:p>
            <a:pPr>
              <a:spcAft>
                <a:spcPts val="600"/>
              </a:spcAft>
            </a:pPr>
            <a:r>
              <a:rPr sz="1800" b="0">
                <a:solidFill>
                  <a:srgbClr val="2B2D42"/>
                </a:solidFill>
                <a:latin typeface="Microsoft YaHei"/>
              </a:rPr>
              <a:t>符合人物性格逻辑，具有讽刺效果。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