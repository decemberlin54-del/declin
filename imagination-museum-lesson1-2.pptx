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23560" y="502920"/>
            <a:ext cx="502920" cy="502920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23560" y="502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3C23"/>
                </a:solidFill>
                <a:latin typeface="KaiTi"/>
              </a:rPr>
              <a:t>六上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10029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展特编号 · 七年级上册第六单元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11002975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841248"/>
            <a:ext cx="1100297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YaHei"/>
              </a:rPr>
              <a:t>～ ～ ～ ～ ～ ～ ～ ～ ～ ～ ～ ～ ～ ～ 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110029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E1E1E"/>
                </a:solidFill>
                <a:latin typeface="KaiTi"/>
              </a:rPr>
              <a:t>想象与真实</a:t>
            </a:r>
          </a:p>
          <a:p>
            <a:pPr algn="ctr">
              <a:spcAft>
                <a:spcPts val="400"/>
              </a:spcAft>
            </a:pPr>
            <a:r>
              <a:rPr sz="3600" b="1">
                <a:solidFill>
                  <a:srgbClr val="C83C23"/>
                </a:solidFill>
                <a:latin typeface="KaiTi"/>
              </a:rPr>
              <a:t>看不见的线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110029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E1E1E"/>
                </a:solidFill>
                <a:latin typeface="KaiTi"/>
              </a:rPr>
              <a:t>「想象力博物馆」策展人导学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54680"/>
            <a:ext cx="1100297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5A5A5A"/>
                </a:solidFill>
                <a:latin typeface="Microsoft YaHei"/>
              </a:rPr>
              <a:t>课时六、七  ·  追光之旅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3840480"/>
            <a:ext cx="6675120" cy="137160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4069080"/>
            <a:ext cx="6309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E1E1E"/>
                </a:solidFill>
                <a:latin typeface="Microsoft YaHei"/>
              </a:rPr>
              <a:t>神魔 · 童话 · 神话 · 寓言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首席导览员：教师    实习策展人：全体同学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989320"/>
            <a:ext cx="11002975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916168"/>
            <a:ext cx="1100297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YaHei"/>
              </a:rPr>
              <a:t>～ ～ ～ ～ ～ ～ ～ ～ ～ ～ ～ ～ ～ ～ 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72200"/>
            <a:ext cx="110029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新国风 · 水墨卷轴 · 教学演示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47472"/>
            <a:ext cx="384048" cy="384048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"/>
            <a:ext cx="792214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1E1E"/>
                </a:solidFill>
                <a:latin typeface="KaiTi"/>
              </a:rPr>
              <a:t>策展人任务书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76680" y="393192"/>
            <a:ext cx="242065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卷 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786384"/>
            <a:ext cx="11002975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100297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YaHei"/>
              </a:rPr>
              <a:t>～ ～ ～ ～ ～ ～ ～ ～ ～ ～ ～ ～ ～ ～ ～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85800"/>
            <a:ext cx="5669280" cy="530352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685800"/>
            <a:ext cx="54864" cy="530352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795528"/>
            <a:ext cx="54406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3C23"/>
                </a:solidFill>
                <a:latin typeface="KaiTi"/>
              </a:rPr>
              <a:t>致命提问</a:t>
            </a:r>
          </a:p>
          <a:p>
            <a:pPr algn="l">
              <a:spcAft>
                <a:spcPts val="400"/>
              </a:spcAft>
            </a:pPr>
            <a:r>
              <a:rPr sz="1900" b="1">
                <a:solidFill>
                  <a:srgbClr val="1E1E1E"/>
                </a:solidFill>
                <a:latin typeface="Microsoft YaHei"/>
              </a:rPr>
              <a:t>为什么有的想象让人发笑，</a:t>
            </a:r>
          </a:p>
          <a:p>
            <a:pPr algn="l">
              <a:spcAft>
                <a:spcPts val="400"/>
              </a:spcAft>
            </a:pPr>
            <a:r>
              <a:rPr sz="1900" b="1">
                <a:solidFill>
                  <a:srgbClr val="1E1E1E"/>
                </a:solidFill>
                <a:latin typeface="Microsoft YaHei"/>
              </a:rPr>
              <a:t>有的却让我们突然看见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C83C23"/>
                </a:solidFill>
                <a:latin typeface="Microsoft YaHei"/>
              </a:rPr>
              <a:t>真实的自己？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5A5A5A"/>
                </a:solidFill>
                <a:latin typeface="Microsoft Ya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一切想象都有来处。本单元的挑战，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是寻找想象与真实之间那条看不见的线。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685800"/>
            <a:ext cx="54864" cy="233172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2" y="795528"/>
            <a:ext cx="457200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3C23"/>
                </a:solidFill>
                <a:latin typeface="KaiTi"/>
              </a:rPr>
              <a:t>身份解锁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你将担任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1E1E1E"/>
                </a:solidFill>
                <a:latin typeface="Microsoft YaHei"/>
              </a:rPr>
              <a:t>「想象力博物馆」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C83C23"/>
                </a:solidFill>
                <a:latin typeface="Microsoft YaHei"/>
              </a:rPr>
              <a:t>实习策展人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3200400"/>
            <a:ext cx="4800600" cy="278892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3200400"/>
            <a:ext cx="54864" cy="278892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3310128"/>
            <a:ext cx="457200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3C23"/>
                </a:solidFill>
                <a:latin typeface="KaiTi"/>
              </a:rPr>
              <a:t>终极任务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1E1E"/>
                </a:solidFill>
                <a:latin typeface="Microsoft YaHei"/>
              </a:rPr>
              <a:t>追寻来处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1E1E"/>
                </a:solidFill>
                <a:latin typeface="Microsoft YaHei"/>
              </a:rPr>
              <a:t>读懂逻辑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C83C23"/>
                </a:solidFill>
                <a:latin typeface="Microsoft YaHei"/>
              </a:rPr>
              <a:t>创编作品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47472"/>
            <a:ext cx="384048" cy="384048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"/>
            <a:ext cx="792214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1E1E"/>
                </a:solidFill>
                <a:latin typeface="KaiTi"/>
              </a:rPr>
              <a:t>展厅地图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76680" y="393192"/>
            <a:ext cx="242065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卷 3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786384"/>
            <a:ext cx="11002975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100297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YaHei"/>
              </a:rPr>
              <a:t>～ ～ ～ ～ ～ ～ ～ ～ ～ ～ ～ ～ ～ ～ ～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85800"/>
            <a:ext cx="2606040" cy="292608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685800"/>
            <a:ext cx="54864" cy="292608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86868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3C23"/>
                </a:solidFill>
                <a:latin typeface="KaiTi"/>
              </a:rPr>
              <a:t>壹 · 神魔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41732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1E1E"/>
                </a:solidFill>
                <a:latin typeface="KaiTi"/>
              </a:rPr>
              <a:t>《小圣施威降大圣》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9748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自由与规则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685800"/>
            <a:ext cx="2606040" cy="292608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685800"/>
            <a:ext cx="54864" cy="292608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86868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3C23"/>
                </a:solidFill>
                <a:latin typeface="KaiTi"/>
              </a:rPr>
              <a:t>贰 · 童话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41732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1E1E"/>
                </a:solidFill>
                <a:latin typeface="KaiTi"/>
              </a:rPr>
              <a:t>《皇帝的新装》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69748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荒诞与清醒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685800"/>
            <a:ext cx="2606040" cy="292608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685800"/>
            <a:ext cx="54864" cy="292608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86868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3C23"/>
                </a:solidFill>
                <a:latin typeface="KaiTi"/>
              </a:rPr>
              <a:t>叁 · 神话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41732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1E1E"/>
                </a:solidFill>
                <a:latin typeface="KaiTi"/>
              </a:rPr>
              <a:t>《女娲造人》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69748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诗意与起源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960" y="685800"/>
            <a:ext cx="2606040" cy="292608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23960" y="685800"/>
            <a:ext cx="54864" cy="292608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86868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3C23"/>
                </a:solidFill>
                <a:latin typeface="KaiTi"/>
              </a:rPr>
              <a:t>肆 · 寓言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141732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1E1E"/>
                </a:solidFill>
                <a:latin typeface="KaiTi"/>
              </a:rPr>
              <a:t>寓言四则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69748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小故事大智慧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840480"/>
            <a:ext cx="11002975" cy="214884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3840480"/>
            <a:ext cx="54864" cy="214884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3950208"/>
            <a:ext cx="10774375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3C23"/>
                </a:solidFill>
                <a:latin typeface="KaiTi"/>
              </a:rPr>
              <a:t>母题链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1E1E1E"/>
                </a:solidFill>
                <a:latin typeface="Microsoft YaHei"/>
              </a:rPr>
              <a:t>自由  →  真实  →  创造  →  智慧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今日入馆：展厅壹《小圣施威降大圣》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47472"/>
            <a:ext cx="384048" cy="384048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"/>
            <a:ext cx="792214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1E1E"/>
                </a:solidFill>
                <a:latin typeface="KaiTi"/>
              </a:rPr>
              <a:t>能力清单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76680" y="393192"/>
            <a:ext cx="242065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卷 4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786384"/>
            <a:ext cx="11002975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100297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YaHei"/>
              </a:rPr>
              <a:t>～ ～ ～ ～ ～ ～ ～ ～ ～ ～ ～ ～ ～ ～ ～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85800"/>
            <a:ext cx="54864" cy="658368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795528"/>
            <a:ext cx="438912" cy="438912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79552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C83C23"/>
                </a:solidFill>
                <a:latin typeface="KaiTi"/>
              </a:rPr>
              <a:t>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758952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E1E1E"/>
                </a:solidFill>
                <a:latin typeface="KaiTi"/>
              </a:rPr>
              <a:t>快速默读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8229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用「节点词 + 简洁句」概括情节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490472"/>
            <a:ext cx="54864" cy="658368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" y="1600200"/>
            <a:ext cx="438912" cy="438912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160020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C83C23"/>
                </a:solidFill>
                <a:latin typeface="KaiTi"/>
              </a:rPr>
              <a:t>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1563624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E1E1E"/>
                </a:solidFill>
                <a:latin typeface="KaiTi"/>
              </a:rPr>
              <a:t>想象阅读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40" y="1627632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说出想象的依据、特点与表达效果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295144"/>
            <a:ext cx="54864" cy="658368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" y="2404872"/>
            <a:ext cx="438912" cy="438912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24048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C83C23"/>
                </a:solidFill>
                <a:latin typeface="KaiTi"/>
              </a:rPr>
              <a:t>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368296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E1E1E"/>
                </a:solidFill>
                <a:latin typeface="KaiTi"/>
              </a:rPr>
              <a:t>叙事鉴赏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40" y="2432304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有证据地分析人物形象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099816"/>
            <a:ext cx="54864" cy="658368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" y="3209544"/>
            <a:ext cx="438912" cy="438912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3209544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C83C23"/>
                </a:solidFill>
                <a:latin typeface="KaiTi"/>
              </a:rPr>
              <a:t>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172968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E1E1E"/>
                </a:solidFill>
                <a:latin typeface="KaiTi"/>
              </a:rPr>
              <a:t>文言积累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40" y="3236976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疏通《穿井得一人》《杞人忧天》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904488"/>
            <a:ext cx="54864" cy="658368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" y="4014216"/>
            <a:ext cx="438912" cy="438912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4014216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C83C23"/>
                </a:solidFill>
                <a:latin typeface="KaiTi"/>
              </a:rPr>
              <a:t>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977640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E1E1E"/>
                </a:solidFill>
                <a:latin typeface="KaiTi"/>
              </a:rPr>
              <a:t>联想想象写作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40" y="4041648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续写、改写、课本剧创编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989320"/>
            <a:ext cx="110029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C83C23"/>
                </a:solidFill>
                <a:latin typeface="KaiTi"/>
              </a:rPr>
              <a:t>今日聚焦：第1课时单元感知+默读  |  第2课时变化链+自由与规则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47472"/>
            <a:ext cx="384048" cy="384048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"/>
            <a:ext cx="792214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1E1E"/>
                </a:solidFill>
                <a:latin typeface="KaiTi"/>
              </a:rPr>
              <a:t>极速挑战 · 默读训练营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76680" y="393192"/>
            <a:ext cx="242065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卷 5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786384"/>
            <a:ext cx="11002975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100297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YaHei"/>
              </a:rPr>
              <a:t>～ ～ ～ ～ ～ ～ ～ ～ ～ ～ ～ ～ ～ ～ ～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85800"/>
            <a:ext cx="11002975" cy="96012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685800"/>
            <a:ext cx="54864" cy="96012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795528"/>
            <a:ext cx="1077437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E1E1E"/>
                </a:solidFill>
                <a:latin typeface="KaiTi"/>
              </a:rPr>
              <a:t>目标：不出声 · 不指读 · 每分钟 ≥ 400 字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阅读文本：《小圣施威降大圣》  ·  段末停顿，记录段意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874519"/>
            <a:ext cx="3520440" cy="278892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874519"/>
            <a:ext cx="54864" cy="278892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4884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C83C23"/>
                </a:solidFill>
                <a:latin typeface="KaiTi"/>
              </a:rPr>
              <a:t>开端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6324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1E1E"/>
                </a:solidFill>
                <a:latin typeface="Microsoft YaHei"/>
              </a:rPr>
              <a:t>寻找节点词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874519"/>
            <a:ext cx="3520440" cy="278892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874519"/>
            <a:ext cx="54864" cy="278892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14884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C83C23"/>
                </a:solidFill>
                <a:latin typeface="KaiTi"/>
              </a:rPr>
              <a:t>冲突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06324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1E1E"/>
                </a:solidFill>
                <a:latin typeface="Microsoft YaHei"/>
              </a:rPr>
              <a:t>锁定关键词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1874519"/>
            <a:ext cx="3520440" cy="278892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74519"/>
            <a:ext cx="54864" cy="278892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14884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C83C23"/>
                </a:solidFill>
                <a:latin typeface="KaiTi"/>
              </a:rPr>
              <a:t>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06324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1E1E"/>
                </a:solidFill>
                <a:latin typeface="Microsoft YaHei"/>
              </a:rPr>
              <a:t>一句话概括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897880"/>
            <a:ext cx="110029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课堂工具：教师计时 3 分钟，学生默读后填写情节节点卡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47472"/>
            <a:ext cx="384048" cy="384048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"/>
            <a:ext cx="792214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1E1E"/>
                </a:solidFill>
                <a:latin typeface="KaiTi"/>
              </a:rPr>
              <a:t>情节节点卡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76680" y="393192"/>
            <a:ext cx="242065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卷 6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786384"/>
            <a:ext cx="11002975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100297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YaHei"/>
              </a:rPr>
              <a:t>～ ～ ～ ～ ～ ～ ～ ～ ～ ～ ～ ～ ～ ～ 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8580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C83C23"/>
                </a:solidFill>
                <a:latin typeface="KaiTi"/>
              </a:rPr>
              <a:t>情节节点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73152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68580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C83C23"/>
                </a:solidFill>
                <a:latin typeface="KaiTi"/>
              </a:rPr>
              <a:t>关键词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73152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685800"/>
            <a:ext cx="5257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C83C23"/>
                </a:solidFill>
                <a:latin typeface="KaiTi"/>
              </a:rPr>
              <a:t>一句话概括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143000"/>
            <a:ext cx="11002975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069848"/>
            <a:ext cx="1100297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YaHei"/>
              </a:rPr>
              <a:t>～ ～ ～ ～ ～ ～ ～ ～ ～ ～ ～ ～ ～ ～ 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325880"/>
            <a:ext cx="54864" cy="68580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1417320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开端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141732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________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141732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________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194560"/>
            <a:ext cx="54864" cy="68580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2286000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变化 / 冲突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1528" y="228600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________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228600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________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063240"/>
            <a:ext cx="54864" cy="68580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3154680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结果 / 转折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81528" y="315468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________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315468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069080"/>
            <a:ext cx="5303520" cy="1874519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4069080"/>
            <a:ext cx="54864" cy="1874519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4178808"/>
            <a:ext cx="507492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3C23"/>
                </a:solidFill>
                <a:latin typeface="KaiTi"/>
              </a:rPr>
              <a:t>快速复述三要素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1E1E"/>
                </a:solidFill>
                <a:latin typeface="Microsoft YaHei"/>
              </a:rPr>
              <a:t>人物  ＋  主要事件  ＋  结果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069080"/>
            <a:ext cx="54864" cy="1874519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4178808"/>
            <a:ext cx="493776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3C23"/>
                </a:solidFill>
                <a:latin typeface="KaiTi"/>
              </a:rPr>
              <a:t>课前热身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1E1E"/>
                </a:solidFill>
                <a:latin typeface="Microsoft YaHei"/>
              </a:rPr>
              <a:t>伞能说话、星星掉进教室……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离奇念头，往往从真实经验出发。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47472"/>
            <a:ext cx="384048" cy="384048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"/>
            <a:ext cx="792214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1E1E"/>
                </a:solidFill>
                <a:latin typeface="KaiTi"/>
              </a:rPr>
              <a:t>斗法解说席 · 七十二变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76680" y="393192"/>
            <a:ext cx="242065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卷 7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786384"/>
            <a:ext cx="11002975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100297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YaHei"/>
              </a:rPr>
              <a:t>～ ～ ～ ～ ～ ～ ～ ～ ～ ～ ～ ～ ～ ～ ～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85800"/>
            <a:ext cx="4892040" cy="457200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685800"/>
            <a:ext cx="54864" cy="457200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868680"/>
            <a:ext cx="4434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E1E1E"/>
                </a:solidFill>
                <a:latin typeface="KaiTi"/>
              </a:rPr>
              <a:t>孙悟空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508760"/>
            <a:ext cx="43434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E1E1E"/>
                </a:solidFill>
                <a:latin typeface="Microsoft YaHei"/>
              </a:rPr>
              <a:t>麻雀  →  大海鹤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E1E1E"/>
                </a:solidFill>
                <a:latin typeface="Microsoft YaHei"/>
              </a:rPr>
              <a:t>  →  鱼儿  →  水蛇</a:t>
            </a:r>
          </a:p>
          <a:p>
            <a:pPr algn="ctr">
              <a:spcAft>
                <a:spcPts val="400"/>
              </a:spcAft>
            </a:pPr>
            <a:r>
              <a:rPr sz="1800" b="1">
                <a:solidFill>
                  <a:srgbClr val="C83C23"/>
                </a:solidFill>
                <a:latin typeface="Microsoft YaHei"/>
              </a:rPr>
              <a:t>  →  土地庙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331720"/>
            <a:ext cx="594360" cy="594360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233172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C83C23"/>
                </a:solidFill>
                <a:latin typeface="KaiTi"/>
              </a:rPr>
              <a:t>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063240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3C23"/>
                </a:solidFill>
                <a:latin typeface="KaiTi"/>
              </a:rPr>
              <a:t>一物降一物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685800"/>
            <a:ext cx="4892040" cy="457200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685800"/>
            <a:ext cx="54864" cy="457200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868680"/>
            <a:ext cx="4434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E1E1E"/>
                </a:solidFill>
                <a:latin typeface="KaiTi"/>
              </a:rPr>
              <a:t>二郎神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1508760"/>
            <a:ext cx="43434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E1E1E"/>
                </a:solidFill>
                <a:latin typeface="Microsoft YaHei"/>
              </a:rPr>
              <a:t>鹞鹰  →  大鹚老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E1E1E"/>
                </a:solidFill>
                <a:latin typeface="Microsoft YaHei"/>
              </a:rPr>
              <a:t>  →  鱼鹰  →  灰鹤</a:t>
            </a:r>
          </a:p>
          <a:p>
            <a:pPr algn="ctr">
              <a:spcAft>
                <a:spcPts val="400"/>
              </a:spcAft>
            </a:pPr>
            <a:r>
              <a:rPr sz="1800" b="1">
                <a:solidFill>
                  <a:srgbClr val="C83C23"/>
                </a:solidFill>
                <a:latin typeface="Microsoft YaHei"/>
              </a:rPr>
              <a:t>  →  破绽识破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623560"/>
            <a:ext cx="1100297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互动：学生说一组变化，教师点一组对照，读懂「见招拆招」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47472"/>
            <a:ext cx="384048" cy="384048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"/>
            <a:ext cx="792214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1E1E"/>
                </a:solidFill>
                <a:latin typeface="KaiTi"/>
              </a:rPr>
              <a:t>七十二变对照表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76680" y="393192"/>
            <a:ext cx="242065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卷 8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786384"/>
            <a:ext cx="11002975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100297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YaHei"/>
              </a:rPr>
              <a:t>～ ～ ～ ～ ～ ～ ～ ～ ～ ～ ～ ～ ～ ～ 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858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C83C23"/>
                </a:solidFill>
                <a:latin typeface="KaiTi"/>
              </a:rPr>
              <a:t>轮次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6858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C83C23"/>
                </a:solidFill>
                <a:latin typeface="KaiTi"/>
              </a:rPr>
              <a:t>孙悟空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6858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C83C23"/>
                </a:solidFill>
                <a:latin typeface="KaiTi"/>
              </a:rPr>
              <a:t>二郎神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685800"/>
            <a:ext cx="3794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C83C23"/>
                </a:solidFill>
                <a:latin typeface="KaiTi"/>
              </a:rPr>
              <a:t>关系 / 效果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69848"/>
            <a:ext cx="11002975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996696"/>
            <a:ext cx="1100297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YaHei"/>
              </a:rPr>
              <a:t>～ ～ ～ ～ ～ ～ ～ ～ ～ ～ ～ ～ ～ ～ 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1234440"/>
            <a:ext cx="54864" cy="59436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307592"/>
            <a:ext cx="12618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1E1E"/>
                </a:solidFill>
                <a:latin typeface="KaiTi"/>
              </a:rPr>
              <a:t>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1307592"/>
            <a:ext cx="2724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麻雀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307592"/>
            <a:ext cx="2724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鹞鹰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1307592"/>
            <a:ext cx="3685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一物降一物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1892808"/>
            <a:ext cx="54864" cy="59436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1965960"/>
            <a:ext cx="12618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1E1E"/>
                </a:solidFill>
                <a:latin typeface="KaiTi"/>
              </a:rPr>
              <a:t>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1965960"/>
            <a:ext cx="2724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大海鹤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1965960"/>
            <a:ext cx="2724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大鹚老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1965960"/>
            <a:ext cx="3685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体型压制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551176"/>
            <a:ext cx="54864" cy="59436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624328"/>
            <a:ext cx="12618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1E1E"/>
                </a:solidFill>
                <a:latin typeface="KaiTi"/>
              </a:rPr>
              <a:t>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2624328"/>
            <a:ext cx="2724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鱼儿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2624328"/>
            <a:ext cx="2724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鱼鹰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2624328"/>
            <a:ext cx="3685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环境判断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3209544"/>
            <a:ext cx="54864" cy="59436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282696"/>
            <a:ext cx="12618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1E1E"/>
                </a:solidFill>
                <a:latin typeface="KaiTi"/>
              </a:rPr>
              <a:t>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3282696"/>
            <a:ext cx="2724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水蛇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282696"/>
            <a:ext cx="2724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灰鹤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3282696"/>
            <a:ext cx="3685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紧追不舍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3867912"/>
            <a:ext cx="54864" cy="59436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941064"/>
            <a:ext cx="12618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1E1E"/>
                </a:solidFill>
                <a:latin typeface="KaiTi"/>
              </a:rPr>
              <a:t>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3941064"/>
            <a:ext cx="2724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土地庙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941064"/>
            <a:ext cx="2724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识破旗竿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80" y="3941064"/>
            <a:ext cx="3685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细节破绽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852160"/>
            <a:ext cx="110029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E1E1E"/>
                </a:solidFill>
                <a:latin typeface="KaiTi"/>
              </a:rPr>
              <a:t>变化因果：设法脱身  ↔  据形识破  ↔  斗法推进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47472"/>
            <a:ext cx="384048" cy="384048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"/>
            <a:ext cx="792214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1E1E"/>
                </a:solidFill>
                <a:latin typeface="KaiTi"/>
              </a:rPr>
              <a:t>细节放大镜 · 土地庙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76680" y="393192"/>
            <a:ext cx="242065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卷 9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786384"/>
            <a:ext cx="11002975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100297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YaHei"/>
              </a:rPr>
              <a:t>～ ～ ～ ～ ～ ～ ～ ～ ～ ～ ～ ～ ～ ～ ～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85800"/>
            <a:ext cx="5212080" cy="384048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685800"/>
            <a:ext cx="54864" cy="384048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795528"/>
            <a:ext cx="49834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3C23"/>
                </a:solidFill>
                <a:latin typeface="KaiTi"/>
              </a:rPr>
              <a:t>课文摘引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E1E1E"/>
                </a:solidFill>
                <a:latin typeface="Microsoft YaHei"/>
              </a:rPr>
              <a:t>「只有尾巴不好收拾，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C83C23"/>
                </a:solidFill>
                <a:latin typeface="Microsoft YaHei"/>
              </a:rPr>
              <a:t>竖在后面，变做一根旗竿。」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5A5A5A"/>
                </a:solidFill>
                <a:latin typeface="Microsoft Ya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二郎神：「更不曾见一个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E1E1E"/>
                </a:solidFill>
                <a:latin typeface="Microsoft YaHei"/>
              </a:rPr>
              <a:t>旗竿竖在后面的。」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685800"/>
            <a:ext cx="54864" cy="384048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795528"/>
            <a:ext cx="5120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3C23"/>
                </a:solidFill>
                <a:latin typeface="KaiTi"/>
              </a:rPr>
              <a:t>推理链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1E1E"/>
                </a:solidFill>
                <a:latin typeface="Microsoft YaHei"/>
              </a:rPr>
              <a:t>孙悟空的习惯破绽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→  视觉异常（旗竿竖后）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→  二郎神据形识破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C83C23"/>
                </a:solidFill>
                <a:latin typeface="Microsoft YaHei"/>
              </a:rPr>
              <a:t>→  破局 · 悟空逃走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800600"/>
            <a:ext cx="11002975" cy="105156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983480"/>
            <a:ext cx="106372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E1E1E"/>
                </a:solidFill>
                <a:latin typeface="KaiTi"/>
              </a:rPr>
              <a:t>奇趣来源于合理的细节，无理之处见妙趣。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47472"/>
            <a:ext cx="384048" cy="384048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"/>
            <a:ext cx="792214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1E1E"/>
                </a:solidFill>
                <a:latin typeface="KaiTi"/>
              </a:rPr>
              <a:t>环境推理图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76680" y="393192"/>
            <a:ext cx="242065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卷 10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786384"/>
            <a:ext cx="11002975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100297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YaHei"/>
              </a:rPr>
              <a:t>～ ～ ～ ～ ～ ～ ～ ～ ～ ～ ～ ～ ～ ～ ～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85800"/>
            <a:ext cx="11002975" cy="114300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685800"/>
            <a:ext cx="54864" cy="114300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795528"/>
            <a:ext cx="10774375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3C23"/>
                </a:solidFill>
                <a:latin typeface="KaiTi"/>
              </a:rPr>
              <a:t>片段一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E1E1E"/>
                </a:solidFill>
                <a:latin typeface="Microsoft YaHei"/>
              </a:rPr>
              <a:t>「这猢狲必然下水去也，定变作鱼虾之类。」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二郎神据环境作出判断。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057400"/>
            <a:ext cx="2468880" cy="141732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57400"/>
            <a:ext cx="54864" cy="141732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19456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C83C23"/>
                </a:solidFill>
                <a:latin typeface="KaiTi"/>
              </a:rPr>
              <a:t>孙悟空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E1E1E"/>
                </a:solidFill>
                <a:latin typeface="KaiTi"/>
              </a:rPr>
              <a:t>入涧中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51460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C83C23"/>
                </a:solidFill>
                <a:latin typeface="Microsoft YaHe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4408" y="2057400"/>
            <a:ext cx="2468880" cy="141732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219456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C83C23"/>
                </a:solidFill>
                <a:latin typeface="KaiTi"/>
              </a:rPr>
              <a:t>环境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69748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E1E1E"/>
                </a:solidFill>
                <a:latin typeface="KaiTi"/>
              </a:rPr>
              <a:t>水里可藏身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33288" y="251460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C83C23"/>
                </a:solidFill>
                <a:latin typeface="Microsoft YaHe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34456" y="2057400"/>
            <a:ext cx="2468880" cy="141732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71616" y="219456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C83C23"/>
                </a:solidFill>
                <a:latin typeface="KaiTi"/>
              </a:rPr>
              <a:t>判断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1616" y="269748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E1E1E"/>
                </a:solidFill>
                <a:latin typeface="KaiTi"/>
              </a:rPr>
              <a:t>必变鱼虾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251460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C83C23"/>
                </a:solidFill>
                <a:latin typeface="Microsoft YaHe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04504" y="2057400"/>
            <a:ext cx="2468880" cy="141732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41664" y="219456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C83C23"/>
                </a:solidFill>
                <a:latin typeface="KaiTi"/>
              </a:rPr>
              <a:t>应对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41664" y="269748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E1E1E"/>
                </a:solidFill>
                <a:latin typeface="KaiTi"/>
              </a:rPr>
              <a:t>变作鱼鹰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794760"/>
            <a:ext cx="54864" cy="196596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3904488"/>
            <a:ext cx="10774375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3C23"/>
                </a:solidFill>
                <a:latin typeface="KaiTi"/>
              </a:rPr>
              <a:t>土地庙推理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悟空想利用【环境】隐藏  →  留下【形态】破绽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1E1E"/>
                </a:solidFill>
                <a:latin typeface="Microsoft YaHei"/>
              </a:rPr>
              <a:t>→  二郎神发现【异常】  →  悟空决定【逃走】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C83C23"/>
                </a:solidFill>
                <a:latin typeface="Microsoft YaHei"/>
              </a:rPr>
              <a:t>讨论角度：环境  /  形态  /  对手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47472"/>
            <a:ext cx="384048" cy="384048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"/>
            <a:ext cx="792214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1E1E"/>
                </a:solidFill>
                <a:latin typeface="KaiTi"/>
              </a:rPr>
              <a:t>自由有边界吗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76680" y="393192"/>
            <a:ext cx="242065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卷 11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786384"/>
            <a:ext cx="11002975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100297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YaHei"/>
              </a:rPr>
              <a:t>～ ～ ～ ～ ～ ～ ～ ～ ～ ～ ～ ～ ～ ～ ～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85800"/>
            <a:ext cx="54864" cy="306324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795528"/>
            <a:ext cx="512064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5A5A5A"/>
                </a:solidFill>
                <a:latin typeface="KaiTi"/>
              </a:rPr>
              <a:t>绝对自由？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E1E1E"/>
                </a:solidFill>
                <a:latin typeface="Microsoft YaHei"/>
              </a:rPr>
              <a:t>想变什么就变什么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E1E1E"/>
                </a:solidFill>
                <a:latin typeface="Microsoft YaHei"/>
              </a:rPr>
              <a:t>看似自由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C83C23"/>
                </a:solidFill>
                <a:latin typeface="Microsoft YaHei"/>
              </a:rPr>
              <a:t>实则无序、被动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685800"/>
            <a:ext cx="5212080" cy="306324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685800"/>
            <a:ext cx="54864" cy="306324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795528"/>
            <a:ext cx="498348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83C23"/>
                </a:solidFill>
                <a:latin typeface="KaiTi"/>
              </a:rPr>
              <a:t>规则之下的自由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E1E1E"/>
                </a:solidFill>
                <a:latin typeface="Microsoft YaHei"/>
              </a:rPr>
              <a:t>受制于环境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E1E1E"/>
                </a:solidFill>
                <a:latin typeface="Microsoft YaHei"/>
              </a:rPr>
              <a:t>受制于形态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E1E1E"/>
                </a:solidFill>
                <a:latin typeface="Microsoft YaHei"/>
              </a:rPr>
              <a:t>受制于对手判断与自身破绽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977639"/>
            <a:ext cx="11002975" cy="169164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977639"/>
            <a:ext cx="73152" cy="1691640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106372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E1E1E"/>
                </a:solidFill>
                <a:latin typeface="KaiTi"/>
              </a:rPr>
              <a:t>最天马行空的想象，背后也是最扎实的现实逻辑；</a:t>
            </a:r>
          </a:p>
          <a:p>
            <a:pPr algn="ctr">
              <a:spcAft>
                <a:spcPts val="400"/>
              </a:spcAft>
            </a:pPr>
            <a:r>
              <a:rPr sz="1900" b="1">
                <a:solidFill>
                  <a:srgbClr val="C83C23"/>
                </a:solidFill>
                <a:latin typeface="KaiTi"/>
              </a:rPr>
              <a:t>神通越强大，越需在规则中寻得智慧。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47472"/>
            <a:ext cx="384048" cy="384048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C83C23"/>
                </a:solidFill>
                <a:latin typeface="KaiT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"/>
            <a:ext cx="792214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1E1E"/>
                </a:solidFill>
                <a:latin typeface="KaiTi"/>
              </a:rPr>
              <a:t>闭馆小结 · 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76680" y="393192"/>
            <a:ext cx="242065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卷 12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786384"/>
            <a:ext cx="11002975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100297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YaHei"/>
              </a:rPr>
              <a:t>～ ～ ～ ～ ～ ～ ～ ～ ～ ～ ～ ～ ～ ～ ～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85800"/>
            <a:ext cx="5394960" cy="3749039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685800"/>
            <a:ext cx="54864" cy="3749039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795528"/>
            <a:ext cx="5166360" cy="3566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3C23"/>
                </a:solidFill>
                <a:latin typeface="KaiTi"/>
              </a:rPr>
              <a:t>今日策展笔记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1E1E"/>
                </a:solidFill>
                <a:latin typeface="Microsoft YaHei"/>
              </a:rPr>
              <a:t>文体：神魔 / 童话 / 神话 / 寓言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1E1E"/>
                </a:solidFill>
                <a:latin typeface="Microsoft YaHei"/>
              </a:rPr>
              <a:t>默读：节点词 + 简洁句，≥400字/分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1E1E"/>
                </a:solidFill>
                <a:latin typeface="Microsoft YaHei"/>
              </a:rPr>
              <a:t>斗法：一物降一物，想象有逻辑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1E1E"/>
                </a:solidFill>
                <a:latin typeface="Microsoft YaHei"/>
              </a:rPr>
              <a:t>母题：自由需在规则中寻得智慧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685800"/>
            <a:ext cx="54864" cy="3749039"/>
          </a:xfrm>
          <a:prstGeom prst="rect">
            <a:avLst/>
          </a:prstGeom>
          <a:solidFill>
            <a:srgbClr val="C8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795528"/>
            <a:ext cx="4983480" cy="3566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3C23"/>
                </a:solidFill>
                <a:latin typeface="KaiTi"/>
              </a:rPr>
              <a:t>作业检测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1E1E"/>
                </a:solidFill>
                <a:latin typeface="Microsoft YaHei"/>
              </a:rPr>
              <a:t>1. 名著链接：作者______  时代______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1E1E"/>
                </a:solidFill>
                <a:latin typeface="Microsoft YaHei"/>
              </a:rPr>
              <a:t>2. 斗法解说词（100—150字）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    写清至少三次变化，有动作细节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709160"/>
            <a:ext cx="11002975" cy="960120"/>
          </a:xfrm>
          <a:prstGeom prst="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1063721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C83C23"/>
                </a:solidFill>
                <a:latin typeface="KaiTi"/>
              </a:rPr>
              <a:t>下站预告：展厅贰《皇帝的新装》——荒诞与清醒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384280" y="5989320"/>
            <a:ext cx="457200" cy="457200"/>
          </a:xfrm>
          <a:prstGeom prst="rect">
            <a:avLst/>
          </a:prstGeom>
          <a:noFill/>
          <a:ln w="25400">
            <a:solidFill>
              <a:srgbClr val="C83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84280" y="59893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C83C23"/>
                </a:solidFill>
                <a:latin typeface="KaiTi"/>
              </a:rPr>
              <a:t>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