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457200"/>
            <a:ext cx="5029200" cy="2926080"/>
          </a:xfrm>
          <a:prstGeom prst="rect">
            <a:avLst/>
          </a:prstGeom>
          <a:solidFill>
            <a:srgbClr val="D8E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0" y="2560320"/>
            <a:ext cx="3657600" cy="2286000"/>
          </a:xfrm>
          <a:prstGeom prst="rect">
            <a:avLst/>
          </a:prstGeom>
          <a:solidFill>
            <a:srgbClr val="E4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4572000"/>
            <a:ext cx="4114800" cy="1828800"/>
          </a:xfrm>
          <a:prstGeom prst="rect">
            <a:avLst/>
          </a:prstGeom>
          <a:solidFill>
            <a:srgbClr val="D8E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47472"/>
            <a:ext cx="438912" cy="438912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4747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C83C23"/>
                </a:solidFill>
                <a:latin typeface="KaiTi"/>
              </a:rPr>
              <a:t>廿三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7772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5200" b="1">
                <a:solidFill>
                  <a:srgbClr val="1E1E1E"/>
                </a:solidFill>
                <a:latin typeface="KaiTi"/>
              </a:rPr>
              <a:t>女娲造人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80360"/>
            <a:ext cx="2560320" cy="50292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4A7C6F"/>
                </a:solidFill>
                <a:latin typeface="KaiTi"/>
              </a:rPr>
              <a:t>创造与生命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6400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5A6A62"/>
                </a:solidFill>
                <a:latin typeface="Microsoft YaHei"/>
              </a:rPr>
              <a:t>统编版 · 七年级上册第六单元第23课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A6A62"/>
                </a:solidFill>
                <a:latin typeface="Microsoft YaHei"/>
              </a:rPr>
              <a:t>想象力博物馆 · 策展主题：创造与生命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035040"/>
            <a:ext cx="11094415" cy="9144"/>
          </a:xfrm>
          <a:prstGeom prst="rect">
            <a:avLst/>
          </a:prstGeom>
          <a:solidFill>
            <a:srgbClr val="5A6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971032"/>
            <a:ext cx="1109441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A6A62"/>
                </a:solidFill>
                <a:latin typeface="Microsoft YaHei"/>
              </a:rPr>
              <a:t>～ ～ ～ ～ ～ ～ ～ ～ ～ ～ ～ 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179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4A7C6F"/>
                </a:solidFill>
                <a:latin typeface="Microsoft YaHei"/>
              </a:rPr>
              <a:t>古籍为骨 · 想象为肉 · 情感为魂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365760" cy="365760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C83C23"/>
                </a:solidFill>
                <a:latin typeface="KaiT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47472"/>
            <a:ext cx="776609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E1E1E"/>
                </a:solidFill>
                <a:latin typeface="KaiTi"/>
              </a:rPr>
              <a:t>文学常识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451" y="347472"/>
            <a:ext cx="27736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0">
                <a:solidFill>
                  <a:srgbClr val="5A6A62"/>
                </a:solidFill>
                <a:latin typeface="Microsoft YaHei"/>
              </a:rPr>
              <a:t>卷 2/7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68096"/>
            <a:ext cx="11094415" cy="9144"/>
          </a:xfrm>
          <a:prstGeom prst="rect">
            <a:avLst/>
          </a:prstGeom>
          <a:solidFill>
            <a:srgbClr val="5A6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04088"/>
            <a:ext cx="1109441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A6A62"/>
                </a:solidFill>
                <a:latin typeface="Microsoft YaHei"/>
              </a:rPr>
              <a:t>～ ～ ～ ～ ～ ～ ～ ～ ～ ～ ～ ～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58368"/>
            <a:ext cx="5455767" cy="5349240"/>
          </a:xfrm>
          <a:prstGeom prst="rect">
            <a:avLst/>
          </a:prstGeom>
          <a:solidFill>
            <a:srgbClr val="E4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658368"/>
            <a:ext cx="45720" cy="534924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768096"/>
            <a:ext cx="5254599" cy="5184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4A7C6F"/>
                </a:solidFill>
                <a:latin typeface="KaiTi"/>
              </a:rPr>
              <a:t>作者与文体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1E1E1E"/>
                </a:solidFill>
                <a:latin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C83C23"/>
                </a:solidFill>
                <a:latin typeface="Microsoft YaHei"/>
              </a:rPr>
              <a:t>作者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E1E1E"/>
                </a:solidFill>
                <a:latin typeface="Microsoft YaHei"/>
              </a:rPr>
              <a:t>袁珂（现代作家、神话研究专家）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1E1E1E"/>
                </a:solidFill>
                <a:latin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C83C23"/>
                </a:solidFill>
                <a:latin typeface="Microsoft YaHei"/>
              </a:rPr>
              <a:t>文体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E1E1E"/>
                </a:solidFill>
                <a:latin typeface="Microsoft YaHei"/>
              </a:rPr>
              <a:t>神话——用想象解释自然与人类起源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7287" y="658368"/>
            <a:ext cx="5455767" cy="5349240"/>
          </a:xfrm>
          <a:prstGeom prst="rect">
            <a:avLst/>
          </a:prstGeom>
          <a:solidFill>
            <a:srgbClr val="F4F1EA"/>
          </a:solidFill>
          <a:ln w="19050">
            <a:solidFill>
              <a:srgbClr val="4A7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7287" y="658368"/>
            <a:ext cx="45720" cy="534924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3591" y="768096"/>
            <a:ext cx="5254599" cy="5184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4A7C6F"/>
                </a:solidFill>
                <a:latin typeface="KaiTi"/>
              </a:rPr>
              <a:t>创作特征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1E1E1E"/>
                </a:solidFill>
                <a:latin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C83C23"/>
                </a:solidFill>
                <a:latin typeface="Microsoft YaHei"/>
              </a:rPr>
              <a:t>改写特点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E1E1E"/>
                </a:solidFill>
                <a:latin typeface="Microsoft YaHei"/>
              </a:rPr>
              <a:t>基于古籍记载增删改写，赋予现代意识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1E1E1E"/>
                </a:solidFill>
                <a:latin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C83C23"/>
                </a:solidFill>
                <a:latin typeface="Microsoft YaHei"/>
              </a:rPr>
              <a:t>对比材料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E1E1E"/>
                </a:solidFill>
                <a:latin typeface="Microsoft YaHei"/>
              </a:rPr>
              <a:t>教材「阅读提示」中的《风俗通》记载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365760" cy="365760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C83C23"/>
                </a:solidFill>
                <a:latin typeface="KaiT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47472"/>
            <a:ext cx="776609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E1E1E"/>
                </a:solidFill>
                <a:latin typeface="KaiTi"/>
              </a:rPr>
              <a:t>造人起因与过程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451" y="347472"/>
            <a:ext cx="27736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0">
                <a:solidFill>
                  <a:srgbClr val="5A6A62"/>
                </a:solidFill>
                <a:latin typeface="Microsoft YaHei"/>
              </a:rPr>
              <a:t>卷 3/7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68096"/>
            <a:ext cx="11094415" cy="9144"/>
          </a:xfrm>
          <a:prstGeom prst="rect">
            <a:avLst/>
          </a:prstGeom>
          <a:solidFill>
            <a:srgbClr val="5A6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04088"/>
            <a:ext cx="1109441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A6A62"/>
                </a:solidFill>
                <a:latin typeface="Microsoft YaHei"/>
              </a:rPr>
              <a:t>～ ～ ～ ～ ～ ～ ～ ～ ～ ～ ～ ～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40" y="685800"/>
            <a:ext cx="4846320" cy="868680"/>
          </a:xfrm>
          <a:prstGeom prst="rect">
            <a:avLst/>
          </a:prstGeom>
          <a:solidFill>
            <a:srgbClr val="E4EDE8"/>
          </a:solidFill>
          <a:ln w="25400">
            <a:solidFill>
              <a:srgbClr val="4A7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804672"/>
            <a:ext cx="4572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C83C23"/>
                </a:solidFill>
                <a:latin typeface="KaiTi"/>
              </a:rPr>
              <a:t>起因</a:t>
            </a:r>
          </a:p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E1E1E"/>
                </a:solidFill>
                <a:latin typeface="Microsoft YaHei"/>
              </a:rPr>
              <a:t>女娲行走世间，感到孤独寂寞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600200"/>
            <a:ext cx="18288" cy="50292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120640" cy="2148840"/>
          </a:xfrm>
          <a:prstGeom prst="rect">
            <a:avLst/>
          </a:prstGeom>
          <a:solidFill>
            <a:srgbClr val="E4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94560"/>
            <a:ext cx="45720" cy="214884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304288"/>
            <a:ext cx="4919472" cy="1984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4A7C6F"/>
                </a:solidFill>
                <a:latin typeface="KaiTi"/>
              </a:rPr>
              <a:t>方式一 · 精细制造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E1E1E"/>
                </a:solidFill>
                <a:latin typeface="Microsoft YaHei"/>
              </a:rPr>
              <a:t>黄泥和水，揉成小泥人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  <a:latin typeface="Microsoft YaHei"/>
              </a:rPr>
              <a:t>泥人落地即活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194560"/>
            <a:ext cx="5120640" cy="2148840"/>
          </a:xfrm>
          <a:prstGeom prst="rect">
            <a:avLst/>
          </a:prstGeom>
          <a:solidFill>
            <a:srgbClr val="F4F1EA"/>
          </a:solidFill>
          <a:ln w="19050">
            <a:solidFill>
              <a:srgbClr val="4A7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194560"/>
            <a:ext cx="45720" cy="214884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2304288"/>
            <a:ext cx="4919472" cy="1984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4A7C6F"/>
                </a:solidFill>
                <a:latin typeface="KaiTi"/>
              </a:rPr>
              <a:t>方式二 · 批量制造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E1E1E"/>
                </a:solidFill>
                <a:latin typeface="Microsoft YaHei"/>
              </a:rPr>
              <a:t>藤条蘸泥浆挥洒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  <a:latin typeface="Microsoft YaHei"/>
              </a:rPr>
              <a:t>溅落泥点化为人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4434840"/>
            <a:ext cx="18288" cy="41148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0" y="4434840"/>
            <a:ext cx="18288" cy="41148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60" y="4800600"/>
            <a:ext cx="6144768" cy="18288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4800600"/>
            <a:ext cx="18288" cy="41148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08960" y="5257800"/>
            <a:ext cx="6144768" cy="960120"/>
          </a:xfrm>
          <a:prstGeom prst="rect">
            <a:avLst/>
          </a:prstGeom>
          <a:solidFill>
            <a:srgbClr val="E4EDE8"/>
          </a:solidFill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5376672"/>
            <a:ext cx="5760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C83C23"/>
                </a:solidFill>
                <a:latin typeface="KaiTi"/>
              </a:rPr>
              <a:t>结果</a:t>
            </a:r>
          </a:p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E1E1E"/>
                </a:solidFill>
                <a:latin typeface="Microsoft YaHei"/>
              </a:rPr>
              <a:t>建立婚姻制度，让人类繁衍生息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365760" cy="365760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C83C23"/>
                </a:solidFill>
                <a:latin typeface="KaiT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47472"/>
            <a:ext cx="776609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E1E1E"/>
                </a:solidFill>
                <a:latin typeface="KaiTi"/>
              </a:rPr>
              <a:t>想象特点分析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451" y="347472"/>
            <a:ext cx="27736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0">
                <a:solidFill>
                  <a:srgbClr val="5A6A62"/>
                </a:solidFill>
                <a:latin typeface="Microsoft YaHei"/>
              </a:rPr>
              <a:t>卷 4/7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68096"/>
            <a:ext cx="11094415" cy="9144"/>
          </a:xfrm>
          <a:prstGeom prst="rect">
            <a:avLst/>
          </a:prstGeom>
          <a:solidFill>
            <a:srgbClr val="5A6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04088"/>
            <a:ext cx="1109441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A6A62"/>
                </a:solidFill>
                <a:latin typeface="Microsoft YaHei"/>
              </a:rPr>
              <a:t>～ ～ ～ ～ ～ ～ ～ ～ ～ ～ ～ ～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58368"/>
            <a:ext cx="5478627" cy="2331720"/>
          </a:xfrm>
          <a:prstGeom prst="rect">
            <a:avLst/>
          </a:prstGeom>
          <a:solidFill>
            <a:srgbClr val="E4EDE8"/>
          </a:solidFill>
          <a:ln w="19050">
            <a:solidFill>
              <a:srgbClr val="4A7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658368"/>
            <a:ext cx="45720" cy="233172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24347" y="768096"/>
            <a:ext cx="384048" cy="384048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24347" y="76809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C83C23"/>
                </a:solidFill>
                <a:latin typeface="KaiTi"/>
              </a:rPr>
              <a:t>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795528"/>
            <a:ext cx="5250027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A7C6F"/>
                </a:solidFill>
                <a:latin typeface="KaiTi"/>
              </a:rPr>
              <a:t>具体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1E1E1E"/>
                </a:solidFill>
                <a:latin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E1E1E"/>
                </a:solidFill>
                <a:latin typeface="Microsoft YaHei"/>
              </a:rPr>
              <a:t>池水照影见自己面容 → 想到造同类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4427" y="658368"/>
            <a:ext cx="5478627" cy="2331720"/>
          </a:xfrm>
          <a:prstGeom prst="rect">
            <a:avLst/>
          </a:prstGeom>
          <a:solidFill>
            <a:srgbClr val="F4F1EA"/>
          </a:solidFill>
          <a:ln w="19050">
            <a:solidFill>
              <a:srgbClr val="4A7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4427" y="658368"/>
            <a:ext cx="45720" cy="233172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140135" y="768096"/>
            <a:ext cx="384048" cy="384048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40135" y="76809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C83C23"/>
                </a:solidFill>
                <a:latin typeface="KaiTi"/>
              </a:rPr>
              <a:t>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0731" y="795528"/>
            <a:ext cx="5250027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A7C6F"/>
                </a:solidFill>
                <a:latin typeface="KaiTi"/>
              </a:rPr>
              <a:t>生动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1E1E1E"/>
                </a:solidFill>
                <a:latin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E1E1E"/>
                </a:solidFill>
                <a:latin typeface="Microsoft YaHei"/>
              </a:rPr>
              <a:t>藤条一挥，满天泥浆洒落，画面感强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27248"/>
            <a:ext cx="5478627" cy="2331720"/>
          </a:xfrm>
          <a:prstGeom prst="rect">
            <a:avLst/>
          </a:prstGeom>
          <a:solidFill>
            <a:srgbClr val="E4EDE8"/>
          </a:solidFill>
          <a:ln w="19050">
            <a:solidFill>
              <a:srgbClr val="4A7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127248"/>
            <a:ext cx="45720" cy="233172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4347" y="3236976"/>
            <a:ext cx="384048" cy="384048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24347" y="323697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C83C23"/>
                </a:solidFill>
                <a:latin typeface="KaiTi"/>
              </a:rPr>
              <a:t>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3264408"/>
            <a:ext cx="5250027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A7C6F"/>
                </a:solidFill>
                <a:latin typeface="KaiTi"/>
              </a:rPr>
              <a:t>温暖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1E1E1E"/>
                </a:solidFill>
                <a:latin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E1E1E"/>
                </a:solidFill>
                <a:latin typeface="Microsoft YaHei"/>
              </a:rPr>
              <a:t>造人后的疲倦与喜悦，赋予神以人的情感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64427" y="3127248"/>
            <a:ext cx="5478627" cy="2331720"/>
          </a:xfrm>
          <a:prstGeom prst="rect">
            <a:avLst/>
          </a:prstGeom>
          <a:solidFill>
            <a:srgbClr val="F4F1EA"/>
          </a:solidFill>
          <a:ln w="19050">
            <a:solidFill>
              <a:srgbClr val="4A7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4427" y="3127248"/>
            <a:ext cx="45720" cy="233172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140135" y="3236976"/>
            <a:ext cx="384048" cy="384048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40135" y="323697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C83C23"/>
                </a:solidFill>
                <a:latin typeface="KaiTi"/>
              </a:rPr>
              <a:t>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0731" y="3264408"/>
            <a:ext cx="5250027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A7C6F"/>
                </a:solidFill>
                <a:latin typeface="KaiTi"/>
              </a:rPr>
              <a:t>规律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1E1E1E"/>
                </a:solidFill>
                <a:latin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E1E1E"/>
                </a:solidFill>
                <a:latin typeface="Microsoft YaHei"/>
              </a:rPr>
              <a:t>想象基于生活经验（和泥、洒水），又超越现实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365760" cy="365760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C83C23"/>
                </a:solidFill>
                <a:latin typeface="KaiT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47472"/>
            <a:ext cx="776609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E1E1E"/>
                </a:solidFill>
                <a:latin typeface="KaiTi"/>
              </a:rPr>
              <a:t>比较阅读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451" y="347472"/>
            <a:ext cx="27736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0">
                <a:solidFill>
                  <a:srgbClr val="5A6A62"/>
                </a:solidFill>
                <a:latin typeface="Microsoft YaHei"/>
              </a:rPr>
              <a:t>卷 5/7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68096"/>
            <a:ext cx="11094415" cy="9144"/>
          </a:xfrm>
          <a:prstGeom prst="rect">
            <a:avLst/>
          </a:prstGeom>
          <a:solidFill>
            <a:srgbClr val="5A6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04088"/>
            <a:ext cx="1109441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A6A62"/>
                </a:solidFill>
                <a:latin typeface="Microsoft YaHei"/>
              </a:rPr>
              <a:t>～ ～ ～ ～ ～ ～ ～ ～ ～ ～ ～ ～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58368"/>
            <a:ext cx="5455767" cy="3246120"/>
          </a:xfrm>
          <a:prstGeom prst="rect">
            <a:avLst/>
          </a:prstGeom>
          <a:solidFill>
            <a:srgbClr val="D8E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658368"/>
            <a:ext cx="45720" cy="324612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768096"/>
            <a:ext cx="5254599" cy="3081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4A7C6F"/>
                </a:solidFill>
                <a:latin typeface="KaiTi"/>
              </a:rPr>
              <a:t>《风俗通》古籍原文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1E1E1E"/>
                </a:solidFill>
                <a:latin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文字简洁，重在说明造人方法。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1E1E1E"/>
                </a:solidFill>
                <a:latin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A6A62"/>
                </a:solidFill>
                <a:latin typeface="Microsoft YaHei"/>
              </a:rPr>
              <a:t>「女娲抟黄土作人……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A6A62"/>
                </a:solidFill>
                <a:latin typeface="Microsoft YaHei"/>
              </a:rPr>
              <a:t>引绳于泥中，举以为人。」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7287" y="658368"/>
            <a:ext cx="5455767" cy="3246120"/>
          </a:xfrm>
          <a:prstGeom prst="rect">
            <a:avLst/>
          </a:prstGeom>
          <a:solidFill>
            <a:srgbClr val="E4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7287" y="658368"/>
            <a:ext cx="45720" cy="324612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3591" y="768096"/>
            <a:ext cx="5254599" cy="3081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4A7C6F"/>
                </a:solidFill>
                <a:latin typeface="KaiTi"/>
              </a:rPr>
              <a:t>课文改写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1E1E1E"/>
                </a:solidFill>
                <a:latin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增加孤独心理、造人细节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与情感描写，更具温度。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14800"/>
            <a:ext cx="11094415" cy="1874519"/>
          </a:xfrm>
          <a:prstGeom prst="rect">
            <a:avLst/>
          </a:prstGeom>
          <a:solidFill>
            <a:srgbClr val="F4F1EA"/>
          </a:solidFill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54864" cy="1874519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10774375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C83C23"/>
                </a:solidFill>
                <a:latin typeface="KaiTi"/>
              </a:rPr>
              <a:t>改写意图与主题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1E1E1E"/>
                </a:solidFill>
                <a:latin typeface="Microsoft YaHei"/>
              </a:rPr>
              <a:t>让神话更生动，表达对生命与创造的礼赞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4A7C6F"/>
                </a:solidFill>
                <a:latin typeface="Microsoft YaHei"/>
              </a:rPr>
              <a:t>策展主题：生命来之不易，创造值得珍视（创造与生命）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365760" cy="365760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C83C23"/>
                </a:solidFill>
                <a:latin typeface="KaiT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47472"/>
            <a:ext cx="776609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E1E1E"/>
                </a:solidFill>
                <a:latin typeface="KaiTi"/>
              </a:rPr>
              <a:t>课堂小结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451" y="347472"/>
            <a:ext cx="27736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0">
                <a:solidFill>
                  <a:srgbClr val="5A6A62"/>
                </a:solidFill>
                <a:latin typeface="Microsoft YaHei"/>
              </a:rPr>
              <a:t>卷 6/7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68096"/>
            <a:ext cx="11094415" cy="9144"/>
          </a:xfrm>
          <a:prstGeom prst="rect">
            <a:avLst/>
          </a:prstGeom>
          <a:solidFill>
            <a:srgbClr val="5A6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04088"/>
            <a:ext cx="1109441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A6A62"/>
                </a:solidFill>
                <a:latin typeface="Microsoft YaHei"/>
              </a:rPr>
              <a:t>～ ～ ～ ～ ～ ～ ～ ～ ～ ～ ～ ～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777240"/>
            <a:ext cx="5455767" cy="5029200"/>
          </a:xfrm>
          <a:prstGeom prst="rect">
            <a:avLst/>
          </a:prstGeom>
          <a:solidFill>
            <a:srgbClr val="E4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777240"/>
            <a:ext cx="45720" cy="502920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886968"/>
            <a:ext cx="5254599" cy="4864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A7C6F"/>
                </a:solidFill>
                <a:latin typeface="KaiTi"/>
              </a:rPr>
              <a:t>核心一 · 神话想象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1E1E1E"/>
                </a:solidFill>
                <a:latin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2000" b="1">
                <a:solidFill>
                  <a:srgbClr val="1E1E1E"/>
                </a:solidFill>
                <a:latin typeface="Microsoft YaHei"/>
              </a:rPr>
              <a:t>基于古籍</a:t>
            </a:r>
          </a:p>
          <a:p>
            <a:pPr algn="l">
              <a:spcAft>
                <a:spcPts val="300"/>
              </a:spcAft>
            </a:pPr>
            <a:r>
              <a:rPr sz="2000" b="1">
                <a:solidFill>
                  <a:srgbClr val="1E1E1E"/>
                </a:solidFill>
                <a:latin typeface="Microsoft YaHei"/>
              </a:rPr>
              <a:t>超越古籍</a:t>
            </a:r>
          </a:p>
          <a:p>
            <a:pPr algn="l">
              <a:spcAft>
                <a:spcPts val="300"/>
              </a:spcAft>
            </a:pPr>
            <a:r>
              <a:rPr sz="2000" b="1">
                <a:solidFill>
                  <a:srgbClr val="C83C23"/>
                </a:solidFill>
                <a:latin typeface="Microsoft YaHei"/>
              </a:rPr>
              <a:t>富有温度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7287" y="777240"/>
            <a:ext cx="5455767" cy="5029200"/>
          </a:xfrm>
          <a:prstGeom prst="rect">
            <a:avLst/>
          </a:prstGeom>
          <a:solidFill>
            <a:srgbClr val="F4F1EA"/>
          </a:solidFill>
          <a:ln w="19050">
            <a:solidFill>
              <a:srgbClr val="4A7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7287" y="777240"/>
            <a:ext cx="45720" cy="502920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3591" y="886968"/>
            <a:ext cx="5254599" cy="4864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4A7C6F"/>
                </a:solidFill>
                <a:latin typeface="KaiTi"/>
              </a:rPr>
              <a:t>核心二 · 女娲形象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1E1E1E"/>
                </a:solidFill>
                <a:latin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1E1E1E"/>
                </a:solidFill>
                <a:latin typeface="Microsoft YaHei"/>
              </a:rPr>
              <a:t>神性与人性并存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1E1E1E"/>
                </a:solidFill>
                <a:latin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2200" b="1">
                <a:solidFill>
                  <a:srgbClr val="C83C23"/>
                </a:solidFill>
                <a:latin typeface="Microsoft YaHei"/>
              </a:rPr>
              <a:t>孤独 · 疲倦 · 喜悦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1E1E1E"/>
                </a:solidFill>
                <a:latin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A6A62"/>
                </a:solidFill>
                <a:latin typeface="Microsoft YaHei"/>
              </a:rPr>
              <a:t>涵盖情感变化的完整母亲形象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365760" cy="365760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C83C23"/>
                </a:solidFill>
                <a:latin typeface="KaiT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47472"/>
            <a:ext cx="776609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E1E1E"/>
                </a:solidFill>
                <a:latin typeface="KaiTi"/>
              </a:rPr>
              <a:t>课后延伸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451" y="347472"/>
            <a:ext cx="27736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0">
                <a:solidFill>
                  <a:srgbClr val="5A6A62"/>
                </a:solidFill>
                <a:latin typeface="Microsoft YaHei"/>
              </a:rPr>
              <a:t>卷 7/7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68096"/>
            <a:ext cx="11094415" cy="9144"/>
          </a:xfrm>
          <a:prstGeom prst="rect">
            <a:avLst/>
          </a:prstGeom>
          <a:solidFill>
            <a:srgbClr val="5A6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04088"/>
            <a:ext cx="1109441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A6A62"/>
                </a:solidFill>
                <a:latin typeface="Microsoft YaHei"/>
              </a:rPr>
              <a:t>～ ～ ～ ～ ～ ～ ～ ～ ～ ～ ～ ～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777240"/>
            <a:ext cx="11094415" cy="2240280"/>
          </a:xfrm>
          <a:prstGeom prst="rect">
            <a:avLst/>
          </a:prstGeom>
          <a:solidFill>
            <a:srgbClr val="E4EDE8"/>
          </a:solidFill>
          <a:ln w="25400">
            <a:solidFill>
              <a:srgbClr val="4A7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960120"/>
            <a:ext cx="438912" cy="438912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96012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C83C23"/>
                </a:solidFill>
                <a:latin typeface="KaiTi"/>
              </a:rPr>
              <a:t>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914400"/>
            <a:ext cx="10271455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4A7C6F"/>
                </a:solidFill>
                <a:latin typeface="KaiTi"/>
              </a:rPr>
              <a:t>任务一 · 必做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E1E1E"/>
                </a:solidFill>
                <a:latin typeface="Microsoft YaHei"/>
              </a:rPr>
              <a:t>以「我看见女娲……」为题，描写100字画面。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A62"/>
                </a:solidFill>
                <a:latin typeface="Microsoft YaHei"/>
              </a:rPr>
              <a:t>要求：有具体动作或细节，体现造人的神奇与温情。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46120"/>
            <a:ext cx="11094415" cy="2240280"/>
          </a:xfrm>
          <a:prstGeom prst="rect">
            <a:avLst/>
          </a:prstGeom>
          <a:solidFill>
            <a:srgbClr val="F4F1EA"/>
          </a:solidFill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429000"/>
            <a:ext cx="438912" cy="438912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2900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C83C23"/>
                </a:solidFill>
                <a:latin typeface="KaiTi"/>
              </a:rPr>
              <a:t>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383280"/>
            <a:ext cx="10271455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83C23"/>
                </a:solidFill>
                <a:latin typeface="KaiTi"/>
              </a:rPr>
              <a:t>任务二 · 选做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E1E1E"/>
                </a:solidFill>
                <a:latin typeface="Microsoft YaHei"/>
              </a:rPr>
              <a:t>查找一个中国创世神话，与本文进行比较阅读。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A62"/>
                </a:solidFill>
                <a:latin typeface="Microsoft YaHei"/>
              </a:rPr>
              <a:t>思考：想象依据、表现方式、现实意味有何异同。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06440"/>
            <a:ext cx="11094415" cy="9144"/>
          </a:xfrm>
          <a:prstGeom prst="rect">
            <a:avLst/>
          </a:prstGeom>
          <a:solidFill>
            <a:srgbClr val="5A6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742432"/>
            <a:ext cx="1109441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A6A62"/>
                </a:solidFill>
                <a:latin typeface="Microsoft YaHei"/>
              </a:rPr>
              <a:t>～ ～ ～ ～ ～ ～ ～ ～ ～ ～ ～ 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4A7C6F"/>
                </a:solidFill>
                <a:latin typeface="Microsoft YaHei"/>
              </a:rPr>
              <a:t>创造与生命 · 在神话中照见人类对存在的追问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