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u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5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nuwa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nuwa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5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329184"/>
            <a:ext cx="11484864" cy="6190488"/>
          </a:xfrm>
          <a:prstGeom prst="rect">
            <a:avLst/>
          </a:prstGeom>
          <a:noFill/>
          <a:ln w="12700">
            <a:solidFill>
              <a:srgbClr val="A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1828800"/>
            <a:ext cx="94183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5200" b="1">
                <a:solidFill>
                  <a:srgbClr val="468250"/>
                </a:solidFill>
                <a:latin typeface="Microsoft YaHei"/>
              </a:rPr>
              <a:t>女娲造人</a:t>
            </a:r>
          </a:p>
          <a:p>
            <a:pPr algn="ctr">
              <a:spcAft>
                <a:spcPts val="1000"/>
              </a:spcAft>
            </a:pPr>
            <a:r>
              <a:rPr sz="2600" b="0">
                <a:solidFill>
                  <a:srgbClr val="28462D"/>
                </a:solidFill>
                <a:latin typeface="Microsoft YaHei"/>
              </a:rPr>
              <a:t>第23课 · 第六、七课时 · 创造与生命</a:t>
            </a:r>
          </a:p>
          <a:p>
            <a:pPr algn="ctr">
              <a:spcAft>
                <a:spcPts val="1000"/>
              </a:spcAft>
            </a:pPr>
            <a:r>
              <a:rPr sz="2000" b="1">
                <a:solidFill>
                  <a:srgbClr val="A0C896"/>
                </a:solidFill>
                <a:latin typeface="Microsoft YaHei"/>
              </a:rPr>
              <a:t>含课堂笔记 · 2026版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5029200"/>
            <a:ext cx="5760720" cy="27432"/>
          </a:xfrm>
          <a:prstGeom prst="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u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5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nuwa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nuwa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384048"/>
            <a:ext cx="2011680" cy="384048"/>
          </a:xfrm>
          <a:prstGeom prst="roundRect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402336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知识要点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84048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>
                <a:solidFill>
                  <a:srgbClr val="468250"/>
                </a:solidFill>
                <a:latin typeface="Microsoft YaHei"/>
              </a:rPr>
              <a:t>文学常识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67104" y="1143000"/>
            <a:ext cx="10058400" cy="3721608"/>
          </a:xfrm>
          <a:prstGeom prst="roundRect">
            <a:avLst/>
          </a:prstGeom>
          <a:solidFill>
            <a:srgbClr val="FFFCEB"/>
          </a:solidFill>
          <a:ln w="25400">
            <a:solidFill>
              <a:srgbClr val="5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67104" y="1143000"/>
            <a:ext cx="10058400" cy="384048"/>
          </a:xfrm>
          <a:prstGeom prst="rect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7104" y="1179576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📝  课堂笔记  —  请摘抄要点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0024" y="1527048"/>
            <a:ext cx="27432" cy="3337560"/>
          </a:xfrm>
          <a:prstGeom prst="rect">
            <a:avLst/>
          </a:prstGeom>
          <a:solidFill>
            <a:srgbClr val="DC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17320" y="2276856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600200" y="1627632"/>
            <a:ext cx="1280160" cy="347472"/>
          </a:xfrm>
          <a:prstGeom prst="round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200" y="1645920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28462D"/>
                </a:solidFill>
                <a:latin typeface="Microsoft YaHei"/>
              </a:rPr>
              <a:t>作者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1627632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28462D"/>
                </a:solidFill>
                <a:latin typeface="Microsoft YaHei"/>
              </a:rPr>
              <a:t>袁珂（现代作家，神话研究专家）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17320" y="3081527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600200" y="2432303"/>
            <a:ext cx="1280160" cy="347472"/>
          </a:xfrm>
          <a:prstGeom prst="round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2450591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28462D"/>
                </a:solidFill>
                <a:latin typeface="Microsoft YaHei"/>
              </a:rPr>
              <a:t>文体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2432303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28462D"/>
                </a:solidFill>
                <a:latin typeface="Microsoft YaHei"/>
              </a:rPr>
              <a:t>神话——用想象解释自然与人类起源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17320" y="3886200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600200" y="3236976"/>
            <a:ext cx="1444752" cy="347472"/>
          </a:xfrm>
          <a:prstGeom prst="round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0200" y="3255264"/>
            <a:ext cx="144475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28462D"/>
                </a:solidFill>
                <a:latin typeface="Microsoft YaHei"/>
              </a:rPr>
              <a:t>改写特点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82112" y="3236976"/>
            <a:ext cx="7333488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28462D"/>
                </a:solidFill>
                <a:latin typeface="Microsoft YaHei"/>
              </a:rPr>
              <a:t>在古籍记载基础上增删改写，赋予现代意识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17320" y="4690872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600200" y="4041648"/>
            <a:ext cx="1444752" cy="347472"/>
          </a:xfrm>
          <a:prstGeom prst="round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00200" y="4059936"/>
            <a:ext cx="144475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28462D"/>
                </a:solidFill>
                <a:latin typeface="Microsoft YaHei"/>
              </a:rPr>
              <a:t>对比材料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82112" y="4041648"/>
            <a:ext cx="7333488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28462D"/>
                </a:solidFill>
                <a:latin typeface="Microsoft YaHei"/>
              </a:rPr>
              <a:t>教材「阅读提示」中的《风俗通》记载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u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5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nuwa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nuwa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384048"/>
            <a:ext cx="2011680" cy="384048"/>
          </a:xfrm>
          <a:prstGeom prst="roundRect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402336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情节笔记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84048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>
                <a:solidFill>
                  <a:srgbClr val="468250"/>
                </a:solidFill>
                <a:latin typeface="Microsoft YaHei"/>
              </a:rPr>
              <a:t>造人过程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67104" y="1143000"/>
            <a:ext cx="10058400" cy="3721608"/>
          </a:xfrm>
          <a:prstGeom prst="roundRect">
            <a:avLst/>
          </a:prstGeom>
          <a:solidFill>
            <a:srgbClr val="FFFCEB"/>
          </a:solidFill>
          <a:ln w="25400">
            <a:solidFill>
              <a:srgbClr val="5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67104" y="1143000"/>
            <a:ext cx="10058400" cy="384048"/>
          </a:xfrm>
          <a:prstGeom prst="rect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7104" y="1179576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📝  课堂笔记  —  请摘抄要点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0024" y="1527048"/>
            <a:ext cx="27432" cy="3337560"/>
          </a:xfrm>
          <a:prstGeom prst="rect">
            <a:avLst/>
          </a:prstGeom>
          <a:solidFill>
            <a:srgbClr val="DC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17320" y="2276856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600200" y="1627632"/>
            <a:ext cx="1280160" cy="347472"/>
          </a:xfrm>
          <a:prstGeom prst="round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200" y="1645920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28462D"/>
                </a:solidFill>
                <a:latin typeface="Microsoft YaHei"/>
              </a:rPr>
              <a:t>起因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1627632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28462D"/>
                </a:solidFill>
                <a:latin typeface="Microsoft YaHei"/>
              </a:rPr>
              <a:t>女娲行走世间，感到孤独寂寞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17320" y="3081527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600200" y="2432303"/>
            <a:ext cx="1280160" cy="347472"/>
          </a:xfrm>
          <a:prstGeom prst="round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2450591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28462D"/>
                </a:solidFill>
                <a:latin typeface="Microsoft YaHei"/>
              </a:rPr>
              <a:t>方法一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2432303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28462D"/>
                </a:solidFill>
                <a:latin typeface="Microsoft YaHei"/>
              </a:rPr>
              <a:t>黄泥和水，揉成小泥人，泥人落地即活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17320" y="3886200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600200" y="3236976"/>
            <a:ext cx="1280160" cy="347472"/>
          </a:xfrm>
          <a:prstGeom prst="round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0200" y="3255264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28462D"/>
                </a:solidFill>
                <a:latin typeface="Microsoft YaHei"/>
              </a:rPr>
              <a:t>方法二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3236976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28462D"/>
                </a:solidFill>
                <a:latin typeface="Microsoft YaHei"/>
              </a:rPr>
              <a:t>藤条蘸泥浆挥洒，溅落的泥点也变成人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17320" y="4690872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600200" y="4041648"/>
            <a:ext cx="1280160" cy="347472"/>
          </a:xfrm>
          <a:prstGeom prst="round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00200" y="4059936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28462D"/>
                </a:solidFill>
                <a:latin typeface="Microsoft YaHei"/>
              </a:rPr>
              <a:t>结果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20" y="4041648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28462D"/>
                </a:solidFill>
                <a:latin typeface="Microsoft YaHei"/>
              </a:rPr>
              <a:t>建立婚姻制度，让人类繁衍生息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u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5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nuwa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nuwa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384048"/>
            <a:ext cx="2011680" cy="384048"/>
          </a:xfrm>
          <a:prstGeom prst="roundRect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402336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写法笔记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84048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>
                <a:solidFill>
                  <a:srgbClr val="468250"/>
                </a:solidFill>
                <a:latin typeface="Microsoft YaHei"/>
              </a:rPr>
              <a:t>想象特点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67104" y="1143000"/>
            <a:ext cx="10058400" cy="3721608"/>
          </a:xfrm>
          <a:prstGeom prst="roundRect">
            <a:avLst/>
          </a:prstGeom>
          <a:solidFill>
            <a:srgbClr val="FFFCEB"/>
          </a:solidFill>
          <a:ln w="25400">
            <a:solidFill>
              <a:srgbClr val="5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67104" y="1143000"/>
            <a:ext cx="10058400" cy="384048"/>
          </a:xfrm>
          <a:prstGeom prst="rect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7104" y="1179576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📝  课堂笔记  —  请摘抄要点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0024" y="1527048"/>
            <a:ext cx="27432" cy="3337560"/>
          </a:xfrm>
          <a:prstGeom prst="rect">
            <a:avLst/>
          </a:prstGeom>
          <a:solidFill>
            <a:srgbClr val="DC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17320" y="2276856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600200" y="1627632"/>
            <a:ext cx="1280160" cy="347472"/>
          </a:xfrm>
          <a:prstGeom prst="round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200" y="1645920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28462D"/>
                </a:solidFill>
                <a:latin typeface="Microsoft YaHei"/>
              </a:rPr>
              <a:t>具体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1627632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28462D"/>
                </a:solidFill>
                <a:latin typeface="Microsoft YaHei"/>
              </a:rPr>
              <a:t>池水照影见自己面容→想到造同类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17320" y="3081527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600200" y="2432303"/>
            <a:ext cx="1280160" cy="347472"/>
          </a:xfrm>
          <a:prstGeom prst="round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2450591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28462D"/>
                </a:solidFill>
                <a:latin typeface="Microsoft YaHei"/>
              </a:rPr>
              <a:t>生动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2432303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28462D"/>
                </a:solidFill>
                <a:latin typeface="Microsoft YaHei"/>
              </a:rPr>
              <a:t>「藤条一挥，满天泥浆洒落」画面感强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17320" y="3886200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600200" y="3236976"/>
            <a:ext cx="1280160" cy="347472"/>
          </a:xfrm>
          <a:prstGeom prst="round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0200" y="3255264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28462D"/>
                </a:solidFill>
                <a:latin typeface="Microsoft YaHei"/>
              </a:rPr>
              <a:t>温暖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3236976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28462D"/>
                </a:solidFill>
                <a:latin typeface="Microsoft YaHei"/>
              </a:rPr>
              <a:t>造人后的疲倦、喜悦，赋予神以人的情感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17320" y="4690872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600200" y="4041648"/>
            <a:ext cx="1280160" cy="347472"/>
          </a:xfrm>
          <a:prstGeom prst="round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00200" y="4059936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28462D"/>
                </a:solidFill>
                <a:latin typeface="Microsoft YaHei"/>
              </a:rPr>
              <a:t>规律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20" y="4041648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28462D"/>
                </a:solidFill>
                <a:latin typeface="Microsoft YaHei"/>
              </a:rPr>
              <a:t>想象基于生活经验（和泥、洒水），又超越现实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u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5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nuwa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nuwa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384048"/>
            <a:ext cx="2011680" cy="384048"/>
          </a:xfrm>
          <a:prstGeom prst="roundRect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402336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主题笔记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84048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>
                <a:solidFill>
                  <a:srgbClr val="468250"/>
                </a:solidFill>
                <a:latin typeface="Microsoft YaHei"/>
              </a:rPr>
              <a:t>比较阅读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67104" y="1143000"/>
            <a:ext cx="10058400" cy="3721608"/>
          </a:xfrm>
          <a:prstGeom prst="roundRect">
            <a:avLst/>
          </a:prstGeom>
          <a:solidFill>
            <a:srgbClr val="FFFCEB"/>
          </a:solidFill>
          <a:ln w="25400">
            <a:solidFill>
              <a:srgbClr val="5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67104" y="1143000"/>
            <a:ext cx="10058400" cy="384048"/>
          </a:xfrm>
          <a:prstGeom prst="rect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7104" y="1179576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📝  课堂笔记  —  请摘抄要点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0024" y="1527048"/>
            <a:ext cx="27432" cy="3337560"/>
          </a:xfrm>
          <a:prstGeom prst="rect">
            <a:avLst/>
          </a:prstGeom>
          <a:solidFill>
            <a:srgbClr val="DC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17320" y="2276856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600200" y="1627632"/>
            <a:ext cx="1737360" cy="347472"/>
          </a:xfrm>
          <a:prstGeom prst="round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200" y="1645920"/>
            <a:ext cx="1737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28462D"/>
                </a:solidFill>
                <a:latin typeface="Microsoft YaHei"/>
              </a:rPr>
              <a:t>《风俗通》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1627632"/>
            <a:ext cx="70408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28462D"/>
                </a:solidFill>
                <a:latin typeface="Microsoft YaHei"/>
              </a:rPr>
              <a:t>记载简洁，重在说明造人方法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17320" y="3081527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600200" y="2432303"/>
            <a:ext cx="1280160" cy="347472"/>
          </a:xfrm>
          <a:prstGeom prst="round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2450591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28462D"/>
                </a:solidFill>
                <a:latin typeface="Microsoft YaHei"/>
              </a:rPr>
              <a:t>课文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2432303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28462D"/>
                </a:solidFill>
                <a:latin typeface="Microsoft YaHei"/>
              </a:rPr>
              <a:t>增加孤独心理、造人细节、情感描写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17320" y="3886200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600200" y="3236976"/>
            <a:ext cx="1444752" cy="347472"/>
          </a:xfrm>
          <a:prstGeom prst="round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0200" y="3255264"/>
            <a:ext cx="144475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28462D"/>
                </a:solidFill>
                <a:latin typeface="Microsoft YaHei"/>
              </a:rPr>
              <a:t>改写意图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82112" y="3236976"/>
            <a:ext cx="7333488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28462D"/>
                </a:solidFill>
                <a:latin typeface="Microsoft YaHei"/>
              </a:rPr>
              <a:t>让神话更生动，表达对生命与创造的礼赞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17320" y="4690872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600200" y="4041648"/>
            <a:ext cx="1444752" cy="347472"/>
          </a:xfrm>
          <a:prstGeom prst="round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00200" y="4059936"/>
            <a:ext cx="144475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28462D"/>
                </a:solidFill>
                <a:latin typeface="Microsoft YaHei"/>
              </a:rPr>
              <a:t>策展主题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82112" y="4041648"/>
            <a:ext cx="7333488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28462D"/>
                </a:solidFill>
                <a:latin typeface="Microsoft YaHei"/>
              </a:rPr>
              <a:t>生命来之不易，创造值得珍视（创造与生命）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u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5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nuwa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nuwa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384048"/>
            <a:ext cx="2011680" cy="384048"/>
          </a:xfrm>
          <a:prstGeom prst="roundRect">
            <a:avLst/>
          </a:prstGeom>
          <a:solidFill>
            <a:srgbClr val="3C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402336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课堂活动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28462D"/>
                </a:solidFill>
                <a:latin typeface="Microsoft YaHei"/>
              </a:rPr>
              <a:t>课堂活动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468250"/>
                </a:solidFill>
                <a:latin typeface="Microsoft YaHei"/>
              </a:rPr>
              <a:t>学习任务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95704" y="1645920"/>
            <a:ext cx="9601200" cy="2112264"/>
          </a:xfrm>
          <a:prstGeom prst="roundRect">
            <a:avLst/>
          </a:prstGeom>
          <a:solidFill>
            <a:srgbClr val="F8FCF5"/>
          </a:solidFill>
          <a:ln w="19050">
            <a:solidFill>
              <a:srgbClr val="A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55824" y="1828800"/>
            <a:ext cx="347472" cy="347472"/>
          </a:xfrm>
          <a:prstGeom prst="ellipse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55824" y="1847088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3024" y="1810512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8462D"/>
                </a:solidFill>
                <a:latin typeface="Microsoft YaHei"/>
              </a:rPr>
              <a:t>给女娲行动排序，比较两种造人方法</a:t>
            </a:r>
          </a:p>
        </p:txBody>
      </p:sp>
      <p:sp>
        <p:nvSpPr>
          <p:cNvPr id="16" name="Oval 15"/>
          <p:cNvSpPr/>
          <p:nvPr/>
        </p:nvSpPr>
        <p:spPr>
          <a:xfrm>
            <a:off x="2255824" y="2395728"/>
            <a:ext cx="347472" cy="347472"/>
          </a:xfrm>
          <a:prstGeom prst="ellipse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55824" y="2414016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13024" y="237744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8462D"/>
                </a:solidFill>
                <a:latin typeface="Microsoft YaHei"/>
              </a:rPr>
              <a:t>完成「古籍与课文」比较表</a:t>
            </a:r>
          </a:p>
        </p:txBody>
      </p:sp>
      <p:sp>
        <p:nvSpPr>
          <p:cNvPr id="19" name="Oval 18"/>
          <p:cNvSpPr/>
          <p:nvPr/>
        </p:nvSpPr>
        <p:spPr>
          <a:xfrm>
            <a:off x="2255824" y="2962656"/>
            <a:ext cx="347472" cy="347472"/>
          </a:xfrm>
          <a:prstGeom prst="ellipse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55824" y="2980944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13024" y="2944368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8462D"/>
                </a:solidFill>
                <a:latin typeface="Microsoft YaHei"/>
              </a:rPr>
              <a:t>以「我看见女娲……」写100字画面描述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u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5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nuwa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nuwa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384048"/>
            <a:ext cx="2011680" cy="384048"/>
          </a:xfrm>
          <a:prstGeom prst="roundRect">
            <a:avLst/>
          </a:prstGeom>
          <a:solidFill>
            <a:srgbClr val="3C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402336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课堂活动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28462D"/>
                </a:solidFill>
                <a:latin typeface="Microsoft YaHei"/>
              </a:rPr>
              <a:t>回顾收获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468250"/>
                </a:solidFill>
                <a:latin typeface="Microsoft YaHei"/>
              </a:rPr>
              <a:t>课堂小结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95704" y="1645920"/>
            <a:ext cx="9601200" cy="1837944"/>
          </a:xfrm>
          <a:prstGeom prst="roundRect">
            <a:avLst/>
          </a:prstGeom>
          <a:solidFill>
            <a:srgbClr val="F8FCF5"/>
          </a:solidFill>
          <a:ln w="19050">
            <a:solidFill>
              <a:srgbClr val="A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55824" y="1828800"/>
            <a:ext cx="347472" cy="347472"/>
          </a:xfrm>
          <a:prstGeom prst="ellipse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55824" y="1847088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3024" y="1810512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8462D"/>
                </a:solidFill>
                <a:latin typeface="Microsoft YaHei"/>
              </a:rPr>
              <a:t>神话想象：基于古籍，超越古籍，有温度</a:t>
            </a:r>
          </a:p>
        </p:txBody>
      </p:sp>
      <p:sp>
        <p:nvSpPr>
          <p:cNvPr id="16" name="Oval 15"/>
          <p:cNvSpPr/>
          <p:nvPr/>
        </p:nvSpPr>
        <p:spPr>
          <a:xfrm>
            <a:off x="2255824" y="2304288"/>
            <a:ext cx="347472" cy="347472"/>
          </a:xfrm>
          <a:prstGeom prst="ellipse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55824" y="2322576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13024" y="228600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8462D"/>
                </a:solidFill>
                <a:latin typeface="Microsoft YaHei"/>
              </a:rPr>
              <a:t>女娲：神性与人性并存——孤独、疲倦、喜悦</a:t>
            </a:r>
          </a:p>
        </p:txBody>
      </p:sp>
      <p:sp>
        <p:nvSpPr>
          <p:cNvPr id="19" name="Oval 18"/>
          <p:cNvSpPr/>
          <p:nvPr/>
        </p:nvSpPr>
        <p:spPr>
          <a:xfrm>
            <a:off x="2255824" y="2779776"/>
            <a:ext cx="347472" cy="347472"/>
          </a:xfrm>
          <a:prstGeom prst="ellipse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55824" y="2798064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13024" y="2761488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8462D"/>
                </a:solidFill>
                <a:latin typeface="Microsoft YaHei"/>
              </a:rPr>
              <a:t>策展主题三：创造与生命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u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5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nuwa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nuwa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384048"/>
            <a:ext cx="2011680" cy="384048"/>
          </a:xfrm>
          <a:prstGeom prst="roundRect">
            <a:avLst/>
          </a:prstGeom>
          <a:solidFill>
            <a:srgbClr val="3C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402336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课堂活动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28462D"/>
                </a:solidFill>
                <a:latin typeface="Microsoft YaHei"/>
              </a:rPr>
              <a:t>课后延伸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468250"/>
                </a:solidFill>
                <a:latin typeface="Microsoft YaHei"/>
              </a:rPr>
              <a:t>课后作业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A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95704" y="1645920"/>
            <a:ext cx="9601200" cy="1545336"/>
          </a:xfrm>
          <a:prstGeom prst="roundRect">
            <a:avLst/>
          </a:prstGeom>
          <a:solidFill>
            <a:srgbClr val="F8FCF5"/>
          </a:solidFill>
          <a:ln w="19050">
            <a:solidFill>
              <a:srgbClr val="A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55824" y="1828800"/>
            <a:ext cx="347472" cy="347472"/>
          </a:xfrm>
          <a:prstGeom prst="ellipse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55824" y="1847088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3024" y="1810512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8462D"/>
                </a:solidFill>
                <a:latin typeface="Microsoft YaHei"/>
              </a:rPr>
              <a:t>必做：以「我看见女娲……」写100字画面</a:t>
            </a:r>
          </a:p>
        </p:txBody>
      </p:sp>
      <p:sp>
        <p:nvSpPr>
          <p:cNvPr id="16" name="Oval 15"/>
          <p:cNvSpPr/>
          <p:nvPr/>
        </p:nvSpPr>
        <p:spPr>
          <a:xfrm>
            <a:off x="2255824" y="2395728"/>
            <a:ext cx="347472" cy="347472"/>
          </a:xfrm>
          <a:prstGeom prst="ellipse">
            <a:avLst/>
          </a:prstGeom>
          <a:solidFill>
            <a:srgbClr val="46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55824" y="2414016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13024" y="237744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8462D"/>
                </a:solidFill>
                <a:latin typeface="Microsoft YaHei"/>
              </a:rPr>
              <a:t>选做：查找一个中国创世神话，与本文比较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