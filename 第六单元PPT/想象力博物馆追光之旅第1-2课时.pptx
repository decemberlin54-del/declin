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63440" y="502920"/>
            <a:ext cx="2834640" cy="347472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502920"/>
            <a:ext cx="28346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C48A1A"/>
                </a:solidFill>
                <a:latin typeface="Microsoft YaHei"/>
              </a:rPr>
              <a:t>展特编号：七上 · Unit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051560"/>
            <a:ext cx="7406640" cy="41605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417320"/>
            <a:ext cx="7040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200" b="1">
                <a:solidFill>
                  <a:srgbClr val="2F3E46"/>
                </a:solidFill>
                <a:latin typeface="Microsoft YaHei"/>
              </a:rPr>
              <a:t>想象与真实：看不见的线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9748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>
                <a:solidFill>
                  <a:srgbClr val="6B7B8C"/>
                </a:solidFill>
                <a:latin typeface="Microsoft YaHei"/>
              </a:rPr>
              <a:t>七年级上册第六单元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A8A7A"/>
                </a:solidFill>
                <a:latin typeface="Microsoft YaHei"/>
              </a:rPr>
              <a:t>「想象力博物馆」策展人导学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840480"/>
            <a:ext cx="7040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C48A1A"/>
                </a:solidFill>
                <a:latin typeface="Microsoft YaHei"/>
              </a:rPr>
              <a:t>首席导览员：语文教师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C48A1A"/>
                </a:solidFill>
                <a:latin typeface="Microsoft YaHei"/>
              </a:rPr>
              <a:t>实习策展人：全体同学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6B7B8C"/>
                </a:solidFill>
                <a:latin typeface="Microsoft YaHei"/>
              </a:rPr>
              <a:t>神魔 · 童话 · 神话 · 寓言  |  一场追光之旅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策展人任务书 · 单元挑战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02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5806440" cy="5212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5349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5C4A"/>
                </a:solidFill>
                <a:latin typeface="Microsoft YaHei"/>
              </a:rPr>
              <a:t>致命提问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349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为什么有的想象让人发笑，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有的却让我们突然看见</a:t>
            </a:r>
          </a:p>
          <a:p>
            <a:pPr algn="l">
              <a:spcAft>
                <a:spcPts val="300"/>
              </a:spcAft>
            </a:pPr>
            <a:r>
              <a:rPr sz="2400" b="1">
                <a:solidFill>
                  <a:srgbClr val="C45C4A"/>
                </a:solidFill>
                <a:latin typeface="Microsoft YaHei"/>
              </a:rPr>
              <a:t>真实的自己？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5349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B8C"/>
                </a:solidFill>
                <a:latin typeface="Microsoft YaHei"/>
              </a:rPr>
              <a:t>一切想象都有来处。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B8C"/>
                </a:solidFill>
                <a:latin typeface="Microsoft YaHei"/>
              </a:rPr>
              <a:t>本单元的挑战，是寻找想象与真实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B8C"/>
                </a:solidFill>
                <a:latin typeface="Microsoft YaHei"/>
              </a:rPr>
              <a:t>之间那条看不见的线。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777240"/>
            <a:ext cx="4846320" cy="2331720"/>
          </a:xfrm>
          <a:prstGeom prst="roundRect">
            <a:avLst/>
          </a:prstGeom>
          <a:solidFill>
            <a:srgbClr val="F6E7C1"/>
          </a:solidFill>
          <a:ln w="2540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9601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48A1A"/>
                </a:solidFill>
                <a:latin typeface="Microsoft YaHei"/>
              </a:rPr>
              <a:t>身份解锁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371600"/>
            <a:ext cx="44805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你将担任</a:t>
            </a:r>
          </a:p>
          <a:p>
            <a:pPr algn="l">
              <a:spcAft>
                <a:spcPts val="300"/>
              </a:spcAft>
            </a:pPr>
            <a:r>
              <a:rPr sz="2200" b="1">
                <a:solidFill>
                  <a:srgbClr val="2F3E46"/>
                </a:solidFill>
                <a:latin typeface="Microsoft YaHei"/>
              </a:rPr>
              <a:t>「想象力博物馆」</a:t>
            </a:r>
          </a:p>
          <a:p>
            <a:pPr algn="l">
              <a:spcAft>
                <a:spcPts val="300"/>
              </a:spcAft>
            </a:pPr>
            <a:r>
              <a:rPr sz="2200" b="1">
                <a:solidFill>
                  <a:srgbClr val="1A8A7A"/>
                </a:solidFill>
                <a:latin typeface="Microsoft YaHei"/>
              </a:rPr>
              <a:t>实习策展人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291840"/>
            <a:ext cx="4846320" cy="2697480"/>
          </a:xfrm>
          <a:prstGeom prst="roundRect">
            <a:avLst/>
          </a:prstGeom>
          <a:solidFill>
            <a:srgbClr val="E4F4F0"/>
          </a:solidFill>
          <a:ln w="2540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4747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8A7A"/>
                </a:solidFill>
                <a:latin typeface="Microsoft YaHei"/>
              </a:rPr>
              <a:t>终极任务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931920"/>
            <a:ext cx="44805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追寻来处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➔  读懂逻辑</a:t>
            </a:r>
          </a:p>
          <a:p>
            <a:pPr algn="l">
              <a:spcAft>
                <a:spcPts val="300"/>
              </a:spcAft>
            </a:pPr>
            <a:r>
              <a:rPr sz="2000" b="1">
                <a:solidFill>
                  <a:srgbClr val="1A8A7A"/>
                </a:solidFill>
                <a:latin typeface="Microsoft YaHei"/>
              </a:rPr>
              <a:t>➔  创编作品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展厅地图 · 文体与技能矩阵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03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2606040" cy="3063240"/>
          </a:xfrm>
          <a:prstGeom prst="roundRect">
            <a:avLst/>
          </a:prstGeom>
          <a:solidFill>
            <a:srgbClr val="F6E7C1"/>
          </a:solidFill>
          <a:ln w="2540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05840"/>
            <a:ext cx="2386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48A1A"/>
                </a:solidFill>
                <a:latin typeface="Microsoft YaHei"/>
              </a:rPr>
              <a:t>展厅 1 · 神魔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23865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F3E46"/>
                </a:solidFill>
                <a:latin typeface="Microsoft YaHei"/>
              </a:rPr>
              <a:t>《小圣施威降大圣》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88036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C48A1A"/>
                </a:solidFill>
                <a:latin typeface="Microsoft YaHei"/>
              </a:rPr>
              <a:t>自由与规则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7832" y="822960"/>
            <a:ext cx="2606040" cy="3063240"/>
          </a:xfrm>
          <a:prstGeom prst="roundRect">
            <a:avLst/>
          </a:prstGeom>
          <a:solidFill>
            <a:srgbClr val="F8E8E4"/>
          </a:solidFill>
          <a:ln w="2540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005840"/>
            <a:ext cx="2386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45C4A"/>
                </a:solidFill>
                <a:latin typeface="Microsoft YaHei"/>
              </a:rPr>
              <a:t>展厅 2 · 童话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554480"/>
            <a:ext cx="23865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F3E46"/>
                </a:solidFill>
                <a:latin typeface="Microsoft YaHei"/>
              </a:rPr>
              <a:t>《皇帝的新装》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8036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C45C4A"/>
                </a:solidFill>
                <a:latin typeface="Microsoft YaHei"/>
              </a:rPr>
              <a:t>荒诞与清醒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822960"/>
            <a:ext cx="2606040" cy="3063240"/>
          </a:xfrm>
          <a:prstGeom prst="roundRect">
            <a:avLst/>
          </a:prstGeom>
          <a:solidFill>
            <a:srgbClr val="E4F4F0"/>
          </a:solidFill>
          <a:ln w="2540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1005840"/>
            <a:ext cx="2386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8A7A"/>
                </a:solidFill>
                <a:latin typeface="Microsoft YaHei"/>
              </a:rPr>
              <a:t>展厅 3 · 神话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1554480"/>
            <a:ext cx="23865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F3E46"/>
                </a:solidFill>
                <a:latin typeface="Microsoft YaHei"/>
              </a:rPr>
              <a:t>《女娲造人》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8192" y="288036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8A7A"/>
                </a:solidFill>
                <a:latin typeface="Microsoft YaHei"/>
              </a:rPr>
              <a:t>诗意与起源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69096" y="822960"/>
            <a:ext cx="2606040" cy="3063240"/>
          </a:xfrm>
          <a:prstGeom prst="roundRect">
            <a:avLst/>
          </a:prstGeom>
          <a:solidFill>
            <a:srgbClr val="E6EEF4"/>
          </a:solidFill>
          <a:ln w="25400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8824" y="1005840"/>
            <a:ext cx="238658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3D6B8A"/>
                </a:solidFill>
                <a:latin typeface="Microsoft YaHei"/>
              </a:rPr>
              <a:t>展厅 4 · 寓言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1554480"/>
            <a:ext cx="238658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2F3E46"/>
                </a:solidFill>
                <a:latin typeface="Microsoft YaHei"/>
              </a:rPr>
              <a:t>寓言四则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2880360"/>
            <a:ext cx="23865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3D6B8A"/>
                </a:solidFill>
                <a:latin typeface="Microsoft YaHei"/>
              </a:rPr>
              <a:t>小故事大智慧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11277295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97680"/>
            <a:ext cx="1082009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母题链：自由  →  真实  →  创造  →  智慧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6B7B8C"/>
                </a:solidFill>
                <a:latin typeface="Microsoft YaHei"/>
              </a:rPr>
              <a:t>寻找想象与真实之间那条看不见的线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1A8A7A"/>
                </a:solidFill>
                <a:latin typeface="Microsoft YaHei"/>
              </a:rPr>
              <a:t>今日入馆：展厅 1《小圣施威降大圣》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能力清单 · 你将学会什么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04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923544"/>
            <a:ext cx="438912" cy="420624"/>
          </a:xfrm>
          <a:prstGeom prst="roundRect">
            <a:avLst/>
          </a:prstGeom>
          <a:solidFill>
            <a:srgbClr val="E4F4F0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960120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A8A7A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868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快速默读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39" y="94183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B8C"/>
                </a:solidFill>
                <a:latin typeface="Microsoft YaHei"/>
              </a:rPr>
              <a:t>用「节点词 + 简洁句」概括情节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81912"/>
            <a:ext cx="11277295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728216"/>
            <a:ext cx="438912" cy="420624"/>
          </a:xfrm>
          <a:prstGeom prst="roundRect">
            <a:avLst/>
          </a:prstGeom>
          <a:solidFill>
            <a:srgbClr val="E4F4F0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764792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A8A7A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67335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想象阅读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39" y="1746504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B8C"/>
                </a:solidFill>
                <a:latin typeface="Microsoft YaHei"/>
              </a:rPr>
              <a:t>说出想象的依据、特点与表达效果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86584"/>
            <a:ext cx="11277295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532888"/>
            <a:ext cx="438912" cy="420624"/>
          </a:xfrm>
          <a:prstGeom prst="roundRect">
            <a:avLst/>
          </a:prstGeom>
          <a:solidFill>
            <a:srgbClr val="E4F4F0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569464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A8A7A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478024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叙事鉴赏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39" y="2551176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B8C"/>
                </a:solidFill>
                <a:latin typeface="Microsoft YaHei"/>
              </a:rPr>
              <a:t>有证据地分析人物形象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91256"/>
            <a:ext cx="11277295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3337560"/>
            <a:ext cx="438912" cy="420624"/>
          </a:xfrm>
          <a:prstGeom prst="roundRect">
            <a:avLst/>
          </a:prstGeom>
          <a:solidFill>
            <a:srgbClr val="E4F4F0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374136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A8A7A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282696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文言积累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39" y="3355848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B8C"/>
                </a:solidFill>
                <a:latin typeface="Microsoft YaHei"/>
              </a:rPr>
              <a:t>疏通《穿井得一人》《杞人忧天》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95928"/>
            <a:ext cx="11277295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4142232"/>
            <a:ext cx="438912" cy="420624"/>
          </a:xfrm>
          <a:prstGeom prst="roundRect">
            <a:avLst/>
          </a:prstGeom>
          <a:solidFill>
            <a:srgbClr val="E4F4F0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178808"/>
            <a:ext cx="438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A8A7A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087368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联想想象写作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39" y="416052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B8C"/>
                </a:solidFill>
                <a:latin typeface="Microsoft YaHei"/>
              </a:rPr>
              <a:t>续写、改写、课本剧创编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C48A1A"/>
                </a:solidFill>
                <a:latin typeface="Microsoft YaHei"/>
              </a:rPr>
              <a:t>今日聚焦：第1课时单元感知+默读  |  第2课时变化链+自由与规则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极速挑战 · 默读训练营（第1课时）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05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1051560"/>
          </a:xfrm>
          <a:prstGeom prst="roundRect">
            <a:avLst/>
          </a:prstGeom>
          <a:solidFill>
            <a:srgbClr val="E4F4F0"/>
          </a:solidFill>
          <a:ln w="2540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108200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A8A7A"/>
                </a:solidFill>
                <a:latin typeface="Microsoft YaHei"/>
              </a:rPr>
              <a:t>目标：不出声 · 不指读 · 每分钟 ≥ 400 字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阅读文本：《小圣施威降大圣》  |  段末停顿，记录段意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3520440" cy="2743200"/>
          </a:xfrm>
          <a:prstGeom prst="roundRect">
            <a:avLst/>
          </a:prstGeom>
          <a:solidFill>
            <a:srgbClr val="F6E7C1"/>
          </a:solidFill>
          <a:ln w="2540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48A1A"/>
                </a:solidFill>
                <a:latin typeface="Microsoft YaHei"/>
              </a:rPr>
              <a:t>开端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寻找节点词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057400"/>
            <a:ext cx="3520440" cy="2743200"/>
          </a:xfrm>
          <a:prstGeom prst="roundRect">
            <a:avLst/>
          </a:prstGeom>
          <a:solidFill>
            <a:srgbClr val="F8E8E4"/>
          </a:solidFill>
          <a:ln w="2540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28600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C45C4A"/>
                </a:solidFill>
                <a:latin typeface="Microsoft YaHei"/>
              </a:rPr>
              <a:t>冲突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0040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锁定关键词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057400"/>
            <a:ext cx="3520440" cy="2743200"/>
          </a:xfrm>
          <a:prstGeom prst="roundRect">
            <a:avLst/>
          </a:prstGeom>
          <a:solidFill>
            <a:srgbClr val="E4F4F0"/>
          </a:solidFill>
          <a:ln w="2540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28600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>
                <a:solidFill>
                  <a:srgbClr val="1A8A7A"/>
                </a:solidFill>
                <a:latin typeface="Microsoft YaHei"/>
              </a:rPr>
              <a:t>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200400"/>
            <a:ext cx="3154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一句话概括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课堂工具：教师计时 3 分钟，学生默读后填写情节节点卡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情节节点卡 · 读得快也读得准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06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2322576" cy="502920"/>
          </a:xfrm>
          <a:prstGeom prst="roundRect">
            <a:avLst/>
          </a:prstGeom>
          <a:solidFill>
            <a:srgbClr val="1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232257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情节节点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822960"/>
            <a:ext cx="3145536" cy="502920"/>
          </a:xfrm>
          <a:prstGeom prst="roundRect">
            <a:avLst/>
          </a:prstGeom>
          <a:solidFill>
            <a:srgbClr val="1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822960"/>
            <a:ext cx="31455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关键词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822960"/>
            <a:ext cx="5202936" cy="502920"/>
          </a:xfrm>
          <a:prstGeom prst="roundRect">
            <a:avLst/>
          </a:prstGeom>
          <a:solidFill>
            <a:srgbClr val="1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822960"/>
            <a:ext cx="52029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一句话概括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17320"/>
            <a:ext cx="2322576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1732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开端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417320"/>
            <a:ext cx="3145536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41732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417320"/>
            <a:ext cx="5202936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17320"/>
            <a:ext cx="5074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86000"/>
            <a:ext cx="2322576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变化 / 冲突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286000"/>
            <a:ext cx="3145536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28600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________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286000"/>
            <a:ext cx="5202936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286000"/>
            <a:ext cx="5074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54680"/>
            <a:ext cx="2322576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结果 / 转折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154680"/>
            <a:ext cx="3145536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3154680"/>
            <a:ext cx="30175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3154680"/>
            <a:ext cx="5202936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154680"/>
            <a:ext cx="5074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160520"/>
            <a:ext cx="5394960" cy="1965960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343400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48A1A"/>
                </a:solidFill>
                <a:latin typeface="Microsoft YaHei"/>
              </a:rPr>
              <a:t>快速复述三要素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人物  ＋  主要事件  ＋  结果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4160520"/>
            <a:ext cx="5212080" cy="1965960"/>
          </a:xfrm>
          <a:prstGeom prst="roundRect">
            <a:avLst/>
          </a:prstGeom>
          <a:solidFill>
            <a:srgbClr val="E4F4F0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34340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A8A7A"/>
                </a:solidFill>
                <a:latin typeface="Microsoft YaHei"/>
              </a:rPr>
              <a:t>课前热身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F3E46"/>
                </a:solidFill>
                <a:latin typeface="Microsoft YaHei"/>
              </a:rPr>
              <a:t>伞能说话、星星掉进教室……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F3E46"/>
                </a:solidFill>
                <a:latin typeface="Microsoft YaHei"/>
              </a:rPr>
              <a:t>离奇念头，往往从真实经验出发。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斗法解说席 · 七十二变对决卡（第2课时）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07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4892040" cy="4709160"/>
          </a:xfrm>
          <a:prstGeom prst="roundRect">
            <a:avLst/>
          </a:prstGeom>
          <a:solidFill>
            <a:srgbClr val="F8E8E4"/>
          </a:solidFill>
          <a:ln w="28575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C45C4A"/>
                </a:solidFill>
                <a:latin typeface="Microsoft YaHei"/>
              </a:rPr>
              <a:t>孙悟空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4434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麻雀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➔  大海鹤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➔  鱼儿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➔  水蛇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C45C4A"/>
                </a:solidFill>
                <a:latin typeface="Microsoft YaHei"/>
              </a:rPr>
              <a:t>➔  土地庙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2331720"/>
            <a:ext cx="1143000" cy="1463040"/>
          </a:xfrm>
          <a:prstGeom prst="roundRect">
            <a:avLst/>
          </a:prstGeom>
          <a:solidFill>
            <a:srgbClr val="F6E7C1"/>
          </a:solidFill>
          <a:ln w="2540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2468880"/>
            <a:ext cx="11430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800" b="1">
                <a:solidFill>
                  <a:srgbClr val="C48A1A"/>
                </a:solidFill>
                <a:latin typeface="Microsoft YaHei"/>
              </a:rPr>
              <a:t>VS</a:t>
            </a:r>
          </a:p>
          <a:p>
            <a:pPr algn="ctr">
              <a:spcAft>
                <a:spcPts val="300"/>
              </a:spcAft>
            </a:pPr>
            <a:r>
              <a:rPr sz="1100" b="1">
                <a:solidFill>
                  <a:srgbClr val="2F3E46"/>
                </a:solidFill>
                <a:latin typeface="Microsoft YaHei"/>
              </a:rPr>
              <a:t>一物降一物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822960"/>
            <a:ext cx="4892040" cy="4709160"/>
          </a:xfrm>
          <a:prstGeom prst="roundRect">
            <a:avLst/>
          </a:prstGeom>
          <a:solidFill>
            <a:srgbClr val="E6EEF4"/>
          </a:solidFill>
          <a:ln w="28575">
            <a:solidFill>
              <a:srgbClr val="3D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005840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3D6B8A"/>
                </a:solidFill>
                <a:latin typeface="Microsoft YaHei"/>
              </a:rPr>
              <a:t>二郎神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00200"/>
            <a:ext cx="4434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鹞鹰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➔  大鹚老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➔  鱼鹰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2F3E46"/>
                </a:solidFill>
                <a:latin typeface="Microsoft YaHei"/>
              </a:rPr>
              <a:t>➔  灰鹤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3D6B8A"/>
                </a:solidFill>
                <a:latin typeface="Microsoft YaHei"/>
              </a:rPr>
              <a:t>➔  破绽识破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15000"/>
            <a:ext cx="112772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互动：学生说一组变化，教师点一组对照，读懂「见招拆招」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七十二变对照表 · 变化逻辑链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08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316736" cy="457200"/>
          </a:xfrm>
          <a:prstGeom prst="roundRect">
            <a:avLst/>
          </a:prstGeom>
          <a:solidFill>
            <a:srgbClr val="1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轮次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777240"/>
            <a:ext cx="2779776" cy="457200"/>
          </a:xfrm>
          <a:prstGeom prst="roundRect">
            <a:avLst/>
          </a:prstGeom>
          <a:solidFill>
            <a:srgbClr val="1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777240"/>
            <a:ext cx="2779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孙悟空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777240"/>
            <a:ext cx="2779776" cy="457200"/>
          </a:xfrm>
          <a:prstGeom prst="roundRect">
            <a:avLst/>
          </a:prstGeom>
          <a:solidFill>
            <a:srgbClr val="1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777240"/>
            <a:ext cx="277977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二郎神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0" y="777240"/>
            <a:ext cx="3739896" cy="457200"/>
          </a:xfrm>
          <a:prstGeom prst="roundRect">
            <a:avLst/>
          </a:prstGeom>
          <a:solidFill>
            <a:srgbClr val="1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777240"/>
            <a:ext cx="37398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关系 / 效果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98448"/>
            <a:ext cx="131673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298448"/>
            <a:ext cx="13167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F3E46"/>
                </a:solidFill>
                <a:latin typeface="Microsoft YaHei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1298448"/>
            <a:ext cx="277977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1298448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麻雀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298448"/>
            <a:ext cx="277977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298448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鹞鹰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0" y="1298448"/>
            <a:ext cx="373989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298448"/>
            <a:ext cx="37398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一物降一物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011680"/>
            <a:ext cx="1316736" cy="658368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011680"/>
            <a:ext cx="13167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F3E46"/>
                </a:solidFill>
                <a:latin typeface="Microsoft YaHei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2011680"/>
            <a:ext cx="2779776" cy="658368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2011680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大海鹤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011680"/>
            <a:ext cx="2779776" cy="658368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2011680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大鹚老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0" y="2011680"/>
            <a:ext cx="3739896" cy="658368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2011680"/>
            <a:ext cx="37398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体型压制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724912"/>
            <a:ext cx="131673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724912"/>
            <a:ext cx="13167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F3E46"/>
                </a:solidFill>
                <a:latin typeface="Microsoft YaHei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2724912"/>
            <a:ext cx="277977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2724912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鱼儿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2724912"/>
            <a:ext cx="277977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2724912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鱼鹰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0" y="2724912"/>
            <a:ext cx="373989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2724912"/>
            <a:ext cx="37398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环境判断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438144"/>
            <a:ext cx="1316736" cy="658368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438144"/>
            <a:ext cx="13167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F3E46"/>
                </a:solidFill>
                <a:latin typeface="Microsoft YaHe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0" y="3438144"/>
            <a:ext cx="2779776" cy="658368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0" y="3438144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水蛇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3438144"/>
            <a:ext cx="2779776" cy="658368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3438144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灰鹤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0" y="3438144"/>
            <a:ext cx="3739896" cy="658368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0" y="3438144"/>
            <a:ext cx="37398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紧追不舍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151376"/>
            <a:ext cx="131673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151376"/>
            <a:ext cx="131673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2F3E46"/>
                </a:solidFill>
                <a:latin typeface="Microsoft YaHei"/>
              </a:rPr>
              <a:t>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8800" y="4151376"/>
            <a:ext cx="277977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0" y="4151376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土地庙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4151376"/>
            <a:ext cx="277977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4151376"/>
            <a:ext cx="277977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识破旗竿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0" y="4151376"/>
            <a:ext cx="3739896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D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0" y="4151376"/>
            <a:ext cx="3739896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细节破绽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89788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A8A7A"/>
                </a:solidFill>
                <a:latin typeface="Microsoft YaHei"/>
              </a:rPr>
              <a:t>变化因果：设法脱身  ↔  据形识破  ↔  斗法推进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细节放大镜 · 土地庙的尾巴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09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5212080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48A1A"/>
                </a:solidFill>
                <a:latin typeface="Microsoft YaHei"/>
              </a:rPr>
              <a:t>课文摘引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7548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「只有尾巴不好收拾，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C45C4A"/>
                </a:solidFill>
                <a:latin typeface="Microsoft YaHei"/>
              </a:rPr>
              <a:t>竖在后面，变做一根旗竿。」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7B8C"/>
                </a:solidFill>
                <a:latin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二郎神：「更不曾见一个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3D6B8A"/>
                </a:solidFill>
                <a:latin typeface="Microsoft YaHei"/>
              </a:rPr>
              <a:t>旗竿竖在后面的。」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822960"/>
            <a:ext cx="5349240" cy="3977639"/>
          </a:xfrm>
          <a:prstGeom prst="roundRect">
            <a:avLst/>
          </a:prstGeom>
          <a:solidFill>
            <a:srgbClr val="E4F4F0"/>
          </a:solidFill>
          <a:ln w="2540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00584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A8A7A"/>
                </a:solidFill>
                <a:latin typeface="Microsoft YaHei"/>
              </a:rPr>
              <a:t>放大镜 · 推理链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554480"/>
            <a:ext cx="49834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2F3E46"/>
                </a:solidFill>
                <a:latin typeface="Microsoft YaHei"/>
              </a:rPr>
              <a:t>孙悟空的习惯破绽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F3E46"/>
                </a:solidFill>
                <a:latin typeface="Microsoft YaHei"/>
              </a:rPr>
              <a:t>➔  视觉异常（旗竿竖后）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2F3E46"/>
                </a:solidFill>
                <a:latin typeface="Microsoft YaHei"/>
              </a:rPr>
              <a:t>➔  二郎神据形识破</a:t>
            </a:r>
          </a:p>
          <a:p>
            <a:pPr algn="l">
              <a:spcAft>
                <a:spcPts val="300"/>
              </a:spcAft>
            </a:pPr>
            <a:r>
              <a:rPr sz="1700" b="1">
                <a:solidFill>
                  <a:srgbClr val="1A8A7A"/>
                </a:solidFill>
                <a:latin typeface="Microsoft YaHei"/>
              </a:rPr>
              <a:t>➔  破局 · 悟空逃走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11277295" cy="1097280"/>
          </a:xfrm>
          <a:prstGeom prst="roundRect">
            <a:avLst/>
          </a:prstGeom>
          <a:solidFill>
            <a:srgbClr val="F6E7C1"/>
          </a:solidFill>
          <a:ln w="2540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115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2F3E46"/>
                </a:solidFill>
                <a:latin typeface="Microsoft YaHei"/>
              </a:rPr>
              <a:t>奇趣来源于合理的细节，无理之处见妙趣。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环境推理图 · 想象的判断依据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11277295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108200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片段一：「这猢狲必然下水去也，定变作鱼虾之类。」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B8C"/>
                </a:solidFill>
                <a:latin typeface="Microsoft YaHei"/>
              </a:rPr>
              <a:t>二郎神为什么想到「鱼虾之类」？——据环境作出判断。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2468880" cy="1554480"/>
          </a:xfrm>
          <a:prstGeom prst="roundRect">
            <a:avLst/>
          </a:prstGeom>
          <a:solidFill>
            <a:srgbClr val="E4F4F0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A8A7A"/>
                </a:solidFill>
                <a:latin typeface="Microsoft YaHei"/>
              </a:rPr>
              <a:t>孙悟空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入涧中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6974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C48A1A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27248" y="2240280"/>
            <a:ext cx="2468880" cy="1554480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27248" y="23774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C48A1A"/>
                </a:solidFill>
                <a:latin typeface="Microsoft YaHei"/>
              </a:rPr>
              <a:t>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28803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水里可藏身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8" y="26974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C48A1A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97296" y="2240280"/>
            <a:ext cx="2468880" cy="1554480"/>
          </a:xfrm>
          <a:prstGeom prst="roundRect">
            <a:avLst/>
          </a:prstGeom>
          <a:solidFill>
            <a:srgbClr val="E4F4F0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3774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1A8A7A"/>
                </a:solidFill>
                <a:latin typeface="Microsoft YaHei"/>
              </a:rPr>
              <a:t>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6" y="28803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必变鱼虾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26974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C48A1A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7344" y="2240280"/>
            <a:ext cx="2468880" cy="1554480"/>
          </a:xfrm>
          <a:prstGeom prst="roundRect">
            <a:avLst/>
          </a:prstGeom>
          <a:solidFill>
            <a:srgbClr val="F6E7C1"/>
          </a:solidFill>
          <a:ln w="1905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2377440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C48A1A"/>
                </a:solidFill>
                <a:latin typeface="Microsoft YaHei"/>
              </a:rPr>
              <a:t>应对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880360"/>
            <a:ext cx="2468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变作鱼鹰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1127729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06240"/>
            <a:ext cx="10820095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A8A7A"/>
                </a:solidFill>
                <a:latin typeface="Microsoft YaHei"/>
              </a:rPr>
              <a:t>土地庙推理卡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悟空想利用【环境】隐藏  →  留下【形态】破绽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2F3E46"/>
                </a:solidFill>
                <a:latin typeface="Microsoft YaHei"/>
              </a:rPr>
              <a:t>→  二郎神发现【异常】  →  悟空决定【逃走】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C48A1A"/>
                </a:solidFill>
                <a:latin typeface="Microsoft YaHei"/>
              </a:rPr>
              <a:t>小组讨论角度：环境  /  形态  /  对手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哲学天平 · 自由有边界吗？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534924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7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6B7B8C"/>
                </a:solidFill>
                <a:latin typeface="Microsoft YaHei"/>
              </a:rPr>
              <a:t>虚线框 · 绝对自由？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4892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想变什么就变什么</a:t>
            </a:r>
          </a:p>
          <a:p>
            <a:pPr algn="l">
              <a:spcAft>
                <a:spcPts val="300"/>
              </a:spcAft>
            </a:pPr>
            <a:r>
              <a:rPr sz="1800" b="0">
                <a:solidFill>
                  <a:srgbClr val="2F3E46"/>
                </a:solidFill>
                <a:latin typeface="Microsoft YaHei"/>
              </a:rPr>
              <a:t>看似自由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C45C4A"/>
                </a:solidFill>
                <a:latin typeface="Microsoft YaHei"/>
              </a:rPr>
              <a:t>实则无序、被动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822960"/>
            <a:ext cx="5212080" cy="3246120"/>
          </a:xfrm>
          <a:prstGeom prst="roundRect">
            <a:avLst/>
          </a:prstGeom>
          <a:solidFill>
            <a:srgbClr val="F6E7C1"/>
          </a:solidFill>
          <a:ln w="28575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48A1A"/>
                </a:solidFill>
                <a:latin typeface="Microsoft YaHei"/>
              </a:rPr>
              <a:t>金框 · 规则之下的自由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4754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受制于环境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受制于形态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受制于对手判断与自身破绽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11277295" cy="1783080"/>
          </a:xfrm>
          <a:prstGeom prst="roundRect">
            <a:avLst/>
          </a:prstGeom>
          <a:solidFill>
            <a:srgbClr val="E4F4F0"/>
          </a:solidFill>
          <a:ln w="2540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72865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2F3E46"/>
                </a:solidFill>
                <a:latin typeface="Microsoft YaHei"/>
              </a:rPr>
              <a:t>最天马行空的想象，背后也是最扎实的现实逻辑；</a:t>
            </a:r>
          </a:p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A8A7A"/>
                </a:solidFill>
                <a:latin typeface="Microsoft YaHei"/>
              </a:rPr>
              <a:t>神通越强大，越需在规则中寻得智慧。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81196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8A7A"/>
                </a:solidFill>
                <a:latin typeface="Microsoft YaHei"/>
              </a:rPr>
              <a:t>闭馆小结 · 作业检测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6852" y="292608"/>
            <a:ext cx="315764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300" b="0">
                <a:solidFill>
                  <a:srgbClr val="C48A1A"/>
                </a:solidFill>
                <a:latin typeface="Microsoft YaHei"/>
              </a:rPr>
              <a:t>12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03504"/>
            <a:ext cx="11277295" cy="22860"/>
          </a:xfrm>
          <a:prstGeom prst="rect">
            <a:avLst/>
          </a:prstGeom>
          <a:solidFill>
            <a:srgbClr val="C4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5394960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8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058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A8A7A"/>
                </a:solidFill>
                <a:latin typeface="Microsoft YaHei"/>
              </a:rPr>
              <a:t>今日策展笔记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49377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F3E46"/>
                </a:solidFill>
                <a:latin typeface="Microsoft YaHei"/>
              </a:rPr>
              <a:t>✓  文体：神魔 / 童话 / 神话 / 寓言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F3E46"/>
                </a:solidFill>
                <a:latin typeface="Microsoft YaHei"/>
              </a:rPr>
              <a:t>✓  默读：节点词 + 简洁句，≥400字/分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F3E46"/>
                </a:solidFill>
                <a:latin typeface="Microsoft YaHei"/>
              </a:rPr>
              <a:t>✓  斗法：一物降一物，想象有逻辑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F3E46"/>
                </a:solidFill>
                <a:latin typeface="Microsoft YaHei"/>
              </a:rPr>
              <a:t>✓  母题：自由需在规则中寻得智慧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822960"/>
            <a:ext cx="5212080" cy="3977639"/>
          </a:xfrm>
          <a:prstGeom prst="roundRect">
            <a:avLst/>
          </a:prstGeom>
          <a:solidFill>
            <a:srgbClr val="F6E7C1"/>
          </a:solidFill>
          <a:ln w="25400"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48A1A"/>
                </a:solidFill>
                <a:latin typeface="Microsoft YaHei"/>
              </a:rPr>
              <a:t>作业检测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47548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2F3E46"/>
                </a:solidFill>
                <a:latin typeface="Microsoft YaHei"/>
              </a:rPr>
              <a:t>1. 名著链接：作者______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2F3E46"/>
                </a:solidFill>
                <a:latin typeface="Microsoft YaHei"/>
              </a:rPr>
              <a:t>    时代______  其他情节______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2F3E46"/>
                </a:solidFill>
                <a:latin typeface="Microsoft YaHei"/>
              </a:rPr>
              <a:t>2. 斗法解说词（100—150字）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6B7B8C"/>
                </a:solidFill>
                <a:latin typeface="Microsoft YaHei"/>
              </a:rPr>
              <a:t>    写清至少三次变化，有动作细节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11277295" cy="1097280"/>
          </a:xfrm>
          <a:prstGeom prst="roundRect">
            <a:avLst/>
          </a:prstGeom>
          <a:solidFill>
            <a:srgbClr val="F8E8E4"/>
          </a:solidFill>
          <a:ln w="19050">
            <a:solidFill>
              <a:srgbClr val="C4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1153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C45C4A"/>
                </a:solidFill>
                <a:latin typeface="Microsoft YaHei"/>
              </a:rPr>
              <a:t>下站预告：展厅 2《皇帝的新装》——荒诞与清醒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