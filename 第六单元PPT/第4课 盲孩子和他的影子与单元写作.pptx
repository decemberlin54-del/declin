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35527" y="1463040"/>
            <a:ext cx="5120640" cy="411480"/>
          </a:xfrm>
          <a:prstGeom prst="roundRect">
            <a:avLst/>
          </a:prstGeom>
          <a:solidFill>
            <a:srgbClr val="B58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35527" y="1508760"/>
            <a:ext cx="5120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七年级语文下册第六单元 · 第4课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86000"/>
            <a:ext cx="11048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2B2D42"/>
                </a:solidFill>
                <a:latin typeface="Microsoft YaHei"/>
              </a:rPr>
              <a:t>《盲孩子和他的影子》与单元写作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00400"/>
            <a:ext cx="110486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>
                <a:solidFill>
                  <a:srgbClr val="6B9080"/>
                </a:solidFill>
                <a:latin typeface="Microsoft YaHei"/>
              </a:rPr>
              <a:t>爱与光明的隐喻 &amp; 从阅读到写作的迁移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故事脉络：从黑暗走向光明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2659303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1024128"/>
            <a:ext cx="238498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9080"/>
                </a:solidFill>
                <a:latin typeface="Microsoft YaHei"/>
              </a:rPr>
              <a:t>1. 寂寞与黑暗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" y="1389888"/>
            <a:ext cx="2384983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D42"/>
                </a:solidFill>
                <a:latin typeface="Microsoft YaHei"/>
              </a:rPr>
              <a:t>盲孩子独自生活在无光的世界里，内心孤独。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914400"/>
            <a:ext cx="2659303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691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024128"/>
            <a:ext cx="238498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9080"/>
                </a:solidFill>
                <a:latin typeface="Microsoft YaHei"/>
              </a:rPr>
              <a:t>2. 影子的陪伴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1389888"/>
            <a:ext cx="2384983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D42"/>
                </a:solidFill>
                <a:latin typeface="Microsoft YaHei"/>
              </a:rPr>
              <a:t>影子有了生命，带来欢声笑语与温情。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427" y="914400"/>
            <a:ext cx="2659303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155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5595" y="1024128"/>
            <a:ext cx="238498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9080"/>
                </a:solidFill>
                <a:latin typeface="Microsoft YaHei"/>
              </a:rPr>
              <a:t>3. 萤火虫的光芒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5595" y="1389888"/>
            <a:ext cx="2384983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D42"/>
                </a:solidFill>
                <a:latin typeface="Microsoft YaHei"/>
              </a:rPr>
              <a:t>微小力量的汇聚，驱散狂风暴雨中的恐慌。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914400"/>
            <a:ext cx="2659303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0619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059" y="1024128"/>
            <a:ext cx="238498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9080"/>
                </a:solidFill>
                <a:latin typeface="Microsoft YaHei"/>
              </a:rPr>
              <a:t>4. 重见光明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059" y="1389888"/>
            <a:ext cx="2384983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D42"/>
                </a:solidFill>
                <a:latin typeface="Microsoft YaHei"/>
              </a:rPr>
              <a:t>盲孩子看见世界，影子也化作了真实的朋友。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核心意象的隐喻解读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3591458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1024128"/>
            <a:ext cx="331713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意象 A：影子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" y="1389888"/>
            <a:ext cx="3317138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象征着纯洁的友谊、形影不离的真心陪伴与关爱。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0118" y="914400"/>
            <a:ext cx="3591458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9846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1286" y="1024128"/>
            <a:ext cx="331713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意象 B：萤火虫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286" y="1389888"/>
            <a:ext cx="3317138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象征着社会中微小却坚韧的善意，是微光汇聚的力量。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736" y="914400"/>
            <a:ext cx="3591458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464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904" y="1024128"/>
            <a:ext cx="331713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意象 C：光明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904" y="1389888"/>
            <a:ext cx="3317138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象征着内心的希望、幸福的重塑以及爱的终极奇迹。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诗意与童话的融合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5432907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1024128"/>
            <a:ext cx="51585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语言形式的美感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" y="1389888"/>
            <a:ext cx="5158587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• 大量使用单句与短句，形成如流水的韵律。
• 频繁重叠词汇（「轻轻的」「痒痒的」），充满童趣。
• 犹如一首抒情散文诗。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14400"/>
            <a:ext cx="5432907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7015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1024128"/>
            <a:ext cx="51585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感官描写的细腻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455" y="1389888"/>
            <a:ext cx="5158587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• 盲孩子失去视觉，但作者强化了听觉、触觉与嗅觉。
• 风声、虫鸣、阳光的温度，丰富了想象的感知层次。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单元总结：想象力构建的模型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110486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23444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6B9080"/>
                </a:solidFill>
                <a:latin typeface="Microsoft YaHei"/>
              </a:rPr>
              <a:t>想象力 = 现实依托 + 逻辑推演 + 新奇设想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" y="2103120"/>
            <a:ext cx="5250027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" y="226771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" y="2212848"/>
            <a:ext cx="49757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《皇帝的新装》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578608"/>
            <a:ext cx="4975707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虚荣心/谄媚风气 + 衣服检验法则 + 皇帝裸奔游行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103120"/>
            <a:ext cx="5250027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2735" y="226771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5" y="2212848"/>
            <a:ext cx="49757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《盲孩子和他的影子》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2578608"/>
            <a:ext cx="4975707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残障者的孤独 + 影子/萤火虫拟人化 + 光明的奇迹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单元写作任务发布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11048695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051560"/>
            <a:ext cx="10591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写作题目选一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508760"/>
            <a:ext cx="10591495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1. 《假如我有一双翅膀》（侧重现实意义与理想追求）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2. 《十年后的我》（基于个人发展的合理推演）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3. 自选主题虚构故事（须包含明确的现实依托与新奇情节）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2B2D42"/>
                </a:solidFill>
                <a:latin typeface="Microsoft YaHei"/>
              </a:rPr>
              <a:t>写作要求：字数 500 字以上，逻辑严密，具有文学美感。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写作脚手架：想象说明卡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11048695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051560"/>
            <a:ext cx="105914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动笔前的思考模板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0100" y="15087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6858000"/>
              </a:tblGrid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填写示例（以《假如我有一双翅膀》为例）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D42"/>
                          </a:solidFill>
                          <a:latin typeface="Microsoft YaHei"/>
                        </a:rPr>
                        <a:t>1. 现实依托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生活中的真实现象/困境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看到鸟类迁徙被网捕，或者城市交通拥堵。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D42"/>
                          </a:solidFill>
                          <a:latin typeface="Microsoft YaHei"/>
                        </a:rPr>
                        <a:t>2. 逻辑推演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有了神奇设想后的发展因果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有了翅膀 → 飞向高空 → 发现鸟类生存困境 → 展开守护。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D42"/>
                          </a:solidFill>
                          <a:latin typeface="Microsoft YaHei"/>
                        </a:rPr>
                        <a:t>3. 新奇点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突破常规的创新元素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翅膀不是羽毛做的，而是由「透明的空气净化流体」构成。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中考导向：想象作文 3 维评价量表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11048695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" y="109728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2560320"/>
                <a:gridCol w="2560320"/>
                <a:gridCol w="2560320"/>
              </a:tblGrid>
              <a:tr h="1143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评价维度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权重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低分段（1-2分）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中分段（3-4分）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9080"/>
                          </a:solidFill>
                          <a:latin typeface="Microsoft YaHei"/>
                        </a:rPr>
                        <a:t>高分段（5分）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D42"/>
                          </a:solidFill>
                          <a:latin typeface="Microsoft YaHei"/>
                        </a:rPr>
                        <a:t>有依托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凭空捏造，毫无现实基础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有现实对应，但结合牵强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现实依托清晰，观察细致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D42"/>
                          </a:solidFill>
                          <a:latin typeface="Microsoft YaHei"/>
                        </a:rPr>
                        <a:t>有逻辑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前后矛盾，情节突兀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基本合逻辑，细节有小漏洞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推演严密，合情合理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D42"/>
                          </a:solidFill>
                          <a:latin typeface="Microsoft YaHei"/>
                        </a:rPr>
                        <a:t>有新奇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套路化严重，老生常谈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意料之外，尚在情理之中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D42"/>
                          </a:solidFill>
                          <a:latin typeface="Microsoft YaHei"/>
                        </a:rPr>
                        <a:t>视角独特，设想新颖深刻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佳作片段升格剖析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5432907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1024128"/>
            <a:ext cx="51585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B5838D"/>
                </a:solidFill>
                <a:latin typeface="Microsoft YaHei"/>
              </a:rPr>
              <a:t>修改前（缺乏依托与细节）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" y="1389888"/>
            <a:ext cx="5158587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「一天早上醒来，我发现自己突然长出了一双大翅膀。我开心极了，立刻飞上了天空，飞到了太空里看月球，玩得非常开心。」
问题：凭空出现，无心理准备，无细节描述，不符合物理逻辑。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14400"/>
            <a:ext cx="5432907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7015" y="1078992"/>
            <a:ext cx="45720" cy="256032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1024128"/>
            <a:ext cx="51585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B9080"/>
                </a:solidFill>
                <a:latin typeface="Microsoft YaHei"/>
              </a:rPr>
              <a:t>修改后（注入现实感与逻辑）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455" y="1389888"/>
            <a:ext cx="5158587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D42"/>
                </a:solidFill>
                <a:latin typeface="Microsoft YaHei"/>
              </a:rPr>
              <a:t>「肩胛骨处传来一阵微微的酸胀感，就像春笋突破冻土。我试着张开双臂，一双由光线折射构成的透明羽翼在晨光中舒展。这不是魔法，而是科技对残障人士的重塑……」
优势：细节真实，逻辑自洽，富有现代感。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886968"/>
            <a:ext cx="11048695" cy="18288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4048"/>
            <a:ext cx="861798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课堂小结与作业部署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482" y="384048"/>
            <a:ext cx="2430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6C757D"/>
                </a:solidFill>
                <a:latin typeface="Microsoft YaHei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14400"/>
            <a:ext cx="11048695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" y="1143000"/>
            <a:ext cx="105000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" y="1600200"/>
            <a:ext cx="105000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想象力是人类最宝贵的财富。希望同学们在写作时，时刻牢记：飞得再高、再远的翅膀，其根基永远深扎于我们对生活最真实的爱与观察中。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" y="3246120"/>
            <a:ext cx="105000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课后作业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" y="3703320"/>
            <a:ext cx="105000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B2D42"/>
                </a:solidFill>
                <a:latin typeface="Microsoft YaHei"/>
              </a:rPr>
              <a:t>1. 填好《想象说明卡》。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B2D42"/>
                </a:solidFill>
                <a:latin typeface="Microsoft YaHei"/>
              </a:rPr>
              <a:t>2. 根据本课学习的量表，完成 500 字单元想象作文初稿。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