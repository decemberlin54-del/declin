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B4AA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5A606E"/>
                </a:solidFill>
                <a:latin typeface="Microsoft YaHei"/>
              </a:rPr>
              <a:t>皇帝的新装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B4AAC4"/>
                </a:solidFill>
                <a:latin typeface="Microsoft YaHei"/>
              </a:rPr>
              <a:t>第22课 · 第四、五课时 · 真实与虚假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B4AA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B4AAC4"/>
                </a:solidFill>
                <a:latin typeface="Microsoft YaHei"/>
              </a:rPr>
              <a:t>课时目标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本课目标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600" b="1">
                <a:solidFill>
                  <a:srgbClr val="B4AAC4"/>
                </a:solidFill>
                <a:latin typeface="Microsoft YaHei"/>
              </a:rPr>
              <a:t>目标1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梳理童话情节，简洁复述</a:t>
            </a:r>
          </a:p>
          <a:p>
            <a:pPr>
              <a:spcAft>
                <a:spcPts val="1600"/>
              </a:spcAft>
            </a:pPr>
            <a:r>
              <a:rPr sz="2600" b="1">
                <a:solidFill>
                  <a:srgbClr val="B4AAC4"/>
                </a:solidFill>
                <a:latin typeface="Microsoft YaHei"/>
              </a:rPr>
              <a:t>目标2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赏析夸张、反讽等手法</a:t>
            </a:r>
          </a:p>
          <a:p>
            <a:pPr>
              <a:spcAft>
                <a:spcPts val="1600"/>
              </a:spcAft>
            </a:pPr>
            <a:r>
              <a:rPr sz="2600" b="1">
                <a:solidFill>
                  <a:srgbClr val="B4AAC4"/>
                </a:solidFill>
                <a:latin typeface="Microsoft YaHei"/>
              </a:rPr>
              <a:t>目标3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探究「真话为何难以说出口」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7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7F66"/>
                </a:solidFill>
                <a:latin typeface="Microsoft YaHei"/>
              </a:rPr>
              <a:t>💭 想一想</a:t>
            </a:r>
          </a:p>
          <a:p>
            <a:pPr algn="ctr">
              <a:spcBef>
                <a:spcPts val="2000"/>
              </a:spcBef>
            </a:pPr>
            <a:r>
              <a:rPr sz="3400" b="1">
                <a:solidFill>
                  <a:srgbClr val="5A606E"/>
                </a:solidFill>
                <a:latin typeface="Microsoft YaHei"/>
              </a:rPr>
              <a:t>爱新衣的皇帝、织空布的骗子、
不敢说真话的大人、说真话的孩子——
闹剧背后藏着什么？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FF7F66"/>
                </a:solidFill>
                <a:latin typeface="Microsoft YaHei"/>
              </a:rPr>
              <a:t>课前热身：真实与虚假的较量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B4AA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B4AAC4"/>
                </a:solidFill>
                <a:latin typeface="Microsoft YaHei"/>
              </a:rPr>
              <a:t>以生为主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学习任务一 · 画流程图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每读完一段，记下「谁做了什么」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用箭头串联骗局全过程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骗子谎言→＿＿→＿＿→孩子说真话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6C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CDAA"/>
                </a:solidFill>
                <a:latin typeface="Microsoft YaHei"/>
              </a:rPr>
              <a:t>细读品味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学习任务二 · 拆心理机关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勾画老大臣、官员、皇帝的心理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品味夸张语句的讽刺效果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完成人物分析卡（证据—特点—作用）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4AA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B4AAC4"/>
                </a:solidFill>
                <a:latin typeface="Microsoft YaHei"/>
              </a:rPr>
              <a:t>💭 想一想</a:t>
            </a:r>
          </a:p>
          <a:p>
            <a:pPr algn="ctr">
              <a:spcBef>
                <a:spcPts val="2000"/>
              </a:spcBef>
            </a:pPr>
            <a:r>
              <a:rPr sz="3400" b="1">
                <a:solidFill>
                  <a:srgbClr val="5A606E"/>
                </a:solidFill>
                <a:latin typeface="Microsoft YaHei"/>
              </a:rPr>
              <a:t>人们都不敢说自己看不见，
这是为什么？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B4AAC4"/>
                </a:solidFill>
                <a:latin typeface="Microsoft YaHei"/>
              </a:rPr>
              <a:t>思考：他们共同害怕失去什么？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D166"/>
                </a:solidFill>
                <a:latin typeface="Microsoft YaHei"/>
              </a:rPr>
              <a:t>主题探究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学习任务三 · 学会判断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完成课后「思考·探究·积累」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联系生活：你有没有「随大流」的经历？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主题二：面对虚假，要＿＿，不做沉默的大多数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B4AA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B4AAC4"/>
                </a:solidFill>
                <a:latin typeface="Microsoft YaHei"/>
              </a:rPr>
              <a:t>回顾收获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课堂小结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夸张、重复、反差制造笑声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笑声指向盲从与虚伪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孩子的天真是不被虚假束缚的诚实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B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B799"/>
                </a:solidFill>
                <a:latin typeface="Microsoft YaHei"/>
              </a:rPr>
              <a:t>课后延伸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作业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600" b="1">
                <a:solidFill>
                  <a:srgbClr val="FFB799"/>
                </a:solidFill>
                <a:latin typeface="Microsoft YaHei"/>
              </a:rPr>
              <a:t>必做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150字概括故事</a:t>
            </a:r>
          </a:p>
          <a:p>
            <a:pPr>
              <a:spcAft>
                <a:spcPts val="1600"/>
              </a:spcAft>
            </a:pPr>
            <a:r>
              <a:rPr sz="2600" b="1">
                <a:solidFill>
                  <a:srgbClr val="FFB799"/>
                </a:solidFill>
                <a:latin typeface="Microsoft YaHei"/>
              </a:rPr>
              <a:t>情境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班级群「震惊」消息，你会怎么做？（50字）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