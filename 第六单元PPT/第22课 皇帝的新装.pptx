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329184"/>
            <a:ext cx="11484864" cy="6190488"/>
          </a:xfrm>
          <a:prstGeom prst="rect">
            <a:avLst/>
          </a:prstGeom>
          <a:noFill/>
          <a:ln w="1270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011680"/>
            <a:ext cx="94183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5200" b="1">
                <a:solidFill>
                  <a:srgbClr val="784696"/>
                </a:solidFill>
                <a:latin typeface="Microsoft YaHei"/>
              </a:rPr>
              <a:t>皇帝的新装</a:t>
            </a:r>
          </a:p>
          <a:p>
            <a:pPr algn="ctr">
              <a:spcAft>
                <a:spcPts val="1000"/>
              </a:spcAft>
            </a:pPr>
            <a:r>
              <a:rPr sz="2600" b="0">
                <a:solidFill>
                  <a:srgbClr val="3C2850"/>
                </a:solidFill>
                <a:latin typeface="Microsoft YaHei"/>
              </a:rPr>
              <a:t>第22课 · 第四、五课时 · 真实与虚假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2920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记笔记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784696"/>
                </a:solidFill>
                <a:latin typeface="Microsoft YaHei"/>
              </a:rPr>
              <a:t>文学常识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8544" y="1645920"/>
            <a:ext cx="9875520" cy="2953512"/>
          </a:xfrm>
          <a:prstGeom prst="roundRect">
            <a:avLst/>
          </a:prstGeom>
          <a:solidFill>
            <a:srgbClr val="FCF8FF"/>
          </a:solidFill>
          <a:ln w="1905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178308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作者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安徒生，丹麦童话作家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4144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文体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441448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童话——用虚构故事反映现实生活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5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本文特点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099815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以「新装」为线索，写一个荒唐的骗局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58184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核心问题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758184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为什么人们都不敢说自己看不见？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情节笔记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784696"/>
                </a:solidFill>
                <a:latin typeface="Microsoft YaHei"/>
              </a:rPr>
              <a:t>情节结构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8544" y="1645920"/>
            <a:ext cx="9875520" cy="2953512"/>
          </a:xfrm>
          <a:prstGeom prst="roundRect">
            <a:avLst/>
          </a:prstGeom>
          <a:solidFill>
            <a:srgbClr val="FCF8FF"/>
          </a:solidFill>
          <a:ln w="1905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178308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开端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两个骗子说能织出只有聪明人才能看见的衣服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4144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发展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441448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皇帝、老大臣、官员先后「看布」，都不敢说真话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5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高潮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099815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皇帝穿上「新装」游行，百姓假装看见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58184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结局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758184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小孩子说「他没穿衣服」，百姓跟着说，皇帝仍装模作样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手法笔记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784696"/>
                </a:solidFill>
                <a:latin typeface="Microsoft YaHei"/>
              </a:rPr>
              <a:t>艺术手法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8544" y="1645920"/>
            <a:ext cx="9875520" cy="2953512"/>
          </a:xfrm>
          <a:prstGeom prst="roundRect">
            <a:avLst/>
          </a:prstGeom>
          <a:solidFill>
            <a:srgbClr val="FCF8FF"/>
          </a:solidFill>
          <a:ln w="1905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178308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夸张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把皇帝爱新衣写到极致：「除非为了炫耀新衣服」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4144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反讽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441448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说「看见了」其实什么也没看见，讽刺虚伪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5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对比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099815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大人的怯懦 vs 孩子的天真诚实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58184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反复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758184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「我什么也没有看见」反复出现，强化讽刺效果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主题笔记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784696"/>
                </a:solidFill>
                <a:latin typeface="Microsoft YaHei"/>
              </a:rPr>
              <a:t>主题理解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8544" y="1645920"/>
            <a:ext cx="9875520" cy="2953512"/>
          </a:xfrm>
          <a:prstGeom prst="roundRect">
            <a:avLst/>
          </a:prstGeom>
          <a:solidFill>
            <a:srgbClr val="FCF8FF"/>
          </a:solidFill>
          <a:ln w="1905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178308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心理机制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害怕被认为「不聪明」或「不称职」而丢失地位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4144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社会批判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441448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讽刺盲从权威、虚伪逢迎的官场风气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5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孩子作用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099815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天真不受虚假规则束缚，一语道破真相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58184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策展主题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758184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面对虚假，要敢于说真话，不做沉默的大多数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课堂活动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784696"/>
                </a:solidFill>
                <a:latin typeface="Microsoft YaHei"/>
              </a:rPr>
              <a:t>学习任务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112264"/>
          </a:xfrm>
          <a:prstGeom prst="roundRect">
            <a:avLst/>
          </a:prstGeom>
          <a:solidFill>
            <a:srgbClr val="FCF8FF"/>
          </a:solidFill>
          <a:ln w="1905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画骗局流程图，用箭头串联各环节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47472" cy="347472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3024" y="237744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勾画老大臣、官员、皇帝的心理和语言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47472" cy="347472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3024" y="294436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完成人物分析卡（证据—特点—作用）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回顾收获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784696"/>
                </a:solidFill>
                <a:latin typeface="Microsoft YaHei"/>
              </a:rPr>
              <a:t>课堂小结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1837944"/>
          </a:xfrm>
          <a:prstGeom prst="roundRect">
            <a:avLst/>
          </a:prstGeom>
          <a:solidFill>
            <a:srgbClr val="FCF8FF"/>
          </a:solidFill>
          <a:ln w="1905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夸张+反讽+对比，让笑声指向盲从与虚伪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04288"/>
            <a:ext cx="347472" cy="347472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32257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3024" y="228600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「新装」是谎言，更是照见人性的镜子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779776"/>
            <a:ext cx="347472" cy="347472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798064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3024" y="276148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策展主题二：真实与虚假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课后延伸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784696"/>
                </a:solidFill>
                <a:latin typeface="Microsoft YaHei"/>
              </a:rPr>
              <a:t>课后作业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1545336"/>
          </a:xfrm>
          <a:prstGeom prst="roundRect">
            <a:avLst/>
          </a:prstGeom>
          <a:solidFill>
            <a:srgbClr val="FCF8FF"/>
          </a:solidFill>
          <a:ln w="1905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必做：用150字概括故事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47472" cy="347472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3024" y="237744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情境：班级群流传「震惊」消息，你会怎么做？（50字）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