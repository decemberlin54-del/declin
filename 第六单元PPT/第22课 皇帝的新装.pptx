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68735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7200" b="1">
                <a:solidFill>
                  <a:srgbClr val="000000"/>
                </a:solidFill>
                <a:latin typeface="Arial"/>
              </a:rPr>
              <a:t>皇帝的新装</a:t>
            </a:r>
          </a:p>
        </p:txBody>
      </p:sp>
      <p:sp>
        <p:nvSpPr>
          <p:cNvPr id="5" name="Rectangle 4"/>
          <p:cNvSpPr/>
          <p:nvPr/>
        </p:nvSpPr>
        <p:spPr>
          <a:xfrm>
            <a:off x="1783080" y="3520440"/>
            <a:ext cx="8625535" cy="5029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3566160"/>
            <a:ext cx="862553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现实的讽刺与人性的镜子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389120"/>
            <a:ext cx="113687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［丹麦］安徒生  ·  世界儿童文学巨匠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937760"/>
            <a:ext cx="113687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想象力博物馆 · 真实与虚假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5989320"/>
            <a:ext cx="11368735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单元情境与学习目标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68680"/>
            <a:ext cx="11368735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32004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29260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单元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情境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探索想象与现实的交融。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在荒诞童话中照见真实，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在虚构故事里审视人心。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508760"/>
            <a:ext cx="4572000" cy="320040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691640"/>
            <a:ext cx="420624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本课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目标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1. 受骗—展骗—穿骗—看骗—揭骗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2. 分析皇帝/大臣/百姓/孩子心理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3. 理解虚伪与真实的现实对应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1080" y="2148840"/>
            <a:ext cx="31089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2331720"/>
            <a:ext cx="2834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策展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主题</a:t>
            </a:r>
          </a:p>
          <a:p>
            <a:pPr algn="r"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r">
              <a:spcAft>
                <a:spcPts val="20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真实</a:t>
            </a:r>
          </a:p>
          <a:p>
            <a:pPr algn="r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与</a:t>
            </a:r>
          </a:p>
          <a:p>
            <a:pPr algn="r">
              <a:spcAft>
                <a:spcPts val="20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虚假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029200"/>
            <a:ext cx="2286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11368735" cy="96012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1100297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艺术手法 · TYPOGRAPHY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368735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9144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000000"/>
                </a:solidFill>
                <a:latin typeface="Arial"/>
              </a:rPr>
              <a:t>手</a:t>
            </a:r>
          </a:p>
          <a:p>
            <a:pPr algn="ctr">
              <a:spcAft>
                <a:spcPts val="200"/>
              </a:spcAft>
            </a:pPr>
            <a:r>
              <a:rPr sz="4800" b="1">
                <a:solidFill>
                  <a:srgbClr val="000000"/>
                </a:solidFill>
                <a:latin typeface="Arial"/>
              </a:rPr>
              <a:t>法</a:t>
            </a:r>
          </a:p>
          <a:p>
            <a:pPr algn="ctr">
              <a:spcAft>
                <a:spcPts val="200"/>
              </a:spcAft>
            </a:pPr>
            <a:r>
              <a:rPr sz="4800" b="1">
                <a:solidFill>
                  <a:srgbClr val="000000"/>
                </a:solidFill>
                <a:latin typeface="Arial"/>
              </a:rPr>
              <a:t>四</a:t>
            </a:r>
          </a:p>
          <a:p>
            <a:pPr algn="ctr">
              <a:spcAft>
                <a:spcPts val="200"/>
              </a:spcAft>
            </a:pPr>
            <a:r>
              <a:rPr sz="4800" b="1">
                <a:solidFill>
                  <a:srgbClr val="000000"/>
                </a:solidFill>
                <a:latin typeface="Arial"/>
              </a:rPr>
              <a:t>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508760"/>
            <a:ext cx="790956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618488"/>
            <a:ext cx="7635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01  夸张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「除非为了炫耀新衣服」——爱新衣写到极致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679192"/>
            <a:ext cx="754380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2788920"/>
            <a:ext cx="7269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02  反讽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说「看见了」其实什么也没看见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3849624"/>
            <a:ext cx="7178040" cy="10515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3959352"/>
            <a:ext cx="6903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03  对比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大人怯懦  vs  孩子天真诚实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5020056"/>
            <a:ext cx="681228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5129784"/>
            <a:ext cx="6537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04  反复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「我什么也没有看见」强化讽刺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3687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故事推演脉络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560320"/>
            <a:ext cx="11368735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1688" y="2450592"/>
            <a:ext cx="32004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22005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骗子做衣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788920"/>
            <a:ext cx="22005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2283" y="2450592"/>
            <a:ext cx="32004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12075" y="1188720"/>
            <a:ext cx="22005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大臣探访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2075" y="2788920"/>
            <a:ext cx="22005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82878" y="2450592"/>
            <a:ext cx="32004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2670" y="1188720"/>
            <a:ext cx="22005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皇帝试穿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2670" y="2788920"/>
            <a:ext cx="22005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83473" y="2450592"/>
            <a:ext cx="32004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3265" y="1188720"/>
            <a:ext cx="22005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游行大典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265" y="2788920"/>
            <a:ext cx="22005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84068" y="2450592"/>
            <a:ext cx="320040" cy="32004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3860" y="1188720"/>
            <a:ext cx="22005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小孩揭穿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3860" y="2788920"/>
            <a:ext cx="22005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840480"/>
            <a:ext cx="11368735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977639"/>
            <a:ext cx="11002975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核心矛盾</a:t>
            </a:r>
          </a:p>
          <a:p>
            <a:pPr algn="l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虚荣心  VS  真实事实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谎言因「承认看不见」运转  ·  真话因「孩子无畏」刺破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91440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0" b="1">
                <a:solidFill>
                  <a:srgbClr val="FFE60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人物图鉴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80" y="182880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352044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000000"/>
                </a:solidFill>
                <a:latin typeface="Arial"/>
              </a:rPr>
              <a:t>皇帝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324612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32461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性格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极致虚荣、愚蠢自私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心理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怕被认为不聪明、不称职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234440"/>
            <a:ext cx="3520440" cy="502920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41732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000000"/>
                </a:solidFill>
                <a:latin typeface="Arial"/>
              </a:rPr>
              <a:t>大臣们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148840"/>
            <a:ext cx="324612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2331720"/>
            <a:ext cx="32461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性格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自保阿谀、盲从从众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心理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怕失去官位与恩宠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1234440"/>
            <a:ext cx="352044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41732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000000"/>
                </a:solidFill>
                <a:latin typeface="Arial"/>
              </a:rPr>
              <a:t>骗子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2148840"/>
            <a:ext cx="324612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2331720"/>
            <a:ext cx="32461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性格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狡黠敏锐、利用弱点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心理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精准猎杀人性虚荣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3200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0" b="1">
                <a:solidFill>
                  <a:srgbClr val="FFE600"/>
                </a:solidFill>
                <a:latin typeface="Arial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200" y="32004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关键道具 · 新装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86868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不存在的衣服，何以成为人性的「试金石」？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1508760"/>
            <a:ext cx="3749039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1691640"/>
            <a:ext cx="33832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特征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· 愚蠢或不称职的人看不见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· 检验聪明与称职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· 以看不见制造恐惧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2148840"/>
            <a:ext cx="3840480" cy="3749039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331720"/>
            <a:ext cx="347472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实质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· 权力压迫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· 群体谎言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· 虚荣与怯懦的遮羞布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113687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000000"/>
                </a:solidFill>
                <a:latin typeface="Arial"/>
              </a:rPr>
              <a:t>为什么只有小孩敢说真话？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5456992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23222" y="1874519"/>
            <a:ext cx="5456992" cy="356616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00224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成人的世界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5002243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· 害怕被嘲笑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· 维护虚荣与体面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· 沉默成为谎言帮凶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「我什么也没有看见」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0596" y="2148840"/>
            <a:ext cx="47748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孩子的世界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0596" y="3246120"/>
            <a:ext cx="477486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· 无畏说真话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· 天真实诚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· 「他什么衣服也没穿呀」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80" y="4754880"/>
            <a:ext cx="2103120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4800600"/>
            <a:ext cx="2103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VS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想象力的构建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26680" y="13716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200" b="1">
                <a:solidFill>
                  <a:srgbClr val="FFE600"/>
                </a:solidFill>
                <a:latin typeface="Arial"/>
              </a:rPr>
              <a:t>100%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05840"/>
            <a:ext cx="82296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现实基础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32588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社会上的虚伪现象与谄媚风气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606040"/>
            <a:ext cx="9601200" cy="141732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夸张想象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926080"/>
            <a:ext cx="6858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将「虚伪」实体化为「不存在的衣服」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206240"/>
            <a:ext cx="82296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34340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逻辑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452628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人人害怕承认 → 谎言完美运转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806440"/>
            <a:ext cx="11368735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97880"/>
            <a:ext cx="1100297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想象源于现实，夸张服务于讽刺。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182880"/>
            <a:ext cx="4114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4000" b="1">
                <a:solidFill>
                  <a:srgbClr val="FFE600"/>
                </a:solidFill>
                <a:latin typeface="Arial"/>
              </a:rPr>
              <a:t>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0040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写作任务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658368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61264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任务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为《皇帝的新装》续写一个 200 字结尾。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提示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游行结束后，皇帝回宫会发生什么？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大臣们会怎么做？百姓如何议论？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要求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符合人物性格逻辑，具有讽刺效果。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80" y="2560320"/>
            <a:ext cx="4480560" cy="3703320"/>
          </a:xfrm>
          <a:prstGeom prst="rect">
            <a:avLst/>
          </a:prstGeom>
          <a:solidFill>
            <a:srgbClr val="FFE6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2743200"/>
            <a:ext cx="41148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WORDS</a:t>
            </a:r>
          </a:p>
          <a:p>
            <a:pPr algn="ctr"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续写</a:t>
            </a:r>
          </a:p>
          <a:p>
            <a:pPr algn="ctr"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讽刺</a:t>
            </a:r>
          </a:p>
          <a:p>
            <a:pPr algn="ctr"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逻辑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