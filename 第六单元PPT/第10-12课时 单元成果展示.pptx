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C8A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5A606E"/>
                </a:solidFill>
                <a:latin typeface="Microsoft YaHei"/>
              </a:rPr>
              <a:t>想象力博物馆开幕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C8A2DC"/>
                </a:solidFill>
                <a:latin typeface="Microsoft YaHei"/>
              </a:rPr>
              <a:t>第十—十二课时 · 综合·写作·展示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A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A4B4C4"/>
                </a:solidFill>
                <a:latin typeface="Microsoft YaHei"/>
              </a:rPr>
              <a:t>综合研读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第十课时 · 制作说明卡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比较四类文本想象的依据与表现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完成一张有文本依据的「想象说明卡」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同伴审稿：事实准确？神奇具体？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A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8A2DC"/>
                </a:solidFill>
                <a:latin typeface="Microsoft YaHei"/>
              </a:rPr>
              <a:t>比较阅读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想象的四种面貌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600" b="1">
                <a:solidFill>
                  <a:srgbClr val="C8A2DC"/>
                </a:solidFill>
                <a:latin typeface="Microsoft YaHei"/>
              </a:rPr>
              <a:t>神魔小说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变化斗法，人情世故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C8A2DC"/>
                </a:solidFill>
                <a:latin typeface="Microsoft YaHei"/>
              </a:rPr>
              <a:t>童话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夸张反讽，照见人性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C8A2DC"/>
                </a:solidFill>
                <a:latin typeface="Microsoft YaHei"/>
              </a:rPr>
              <a:t>神话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创世温情，生命礼赞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C8A2DC"/>
                </a:solidFill>
                <a:latin typeface="Microsoft YaHei"/>
              </a:rPr>
              <a:t>寓言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简短警醒，寓意深远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6C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6CDAA"/>
                </a:solidFill>
                <a:latin typeface="Microsoft YaHei"/>
              </a:rPr>
              <a:t>写作训练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第十一课时 · 联想与想象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朗读《天上的街市》，辨析联想与想象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三项要求：有依据、合逻辑、有新意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完成创作提纲，写作不少于300字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7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7F66"/>
                </a:solidFill>
                <a:latin typeface="Microsoft YaHei"/>
              </a:rPr>
              <a:t>💭 想一想</a:t>
            </a:r>
          </a:p>
          <a:p>
            <a:pPr algn="ctr">
              <a:spcBef>
                <a:spcPts val="2000"/>
              </a:spcBef>
            </a:pPr>
            <a:r>
              <a:rPr sz="3400" b="1">
                <a:solidFill>
                  <a:srgbClr val="5A606E"/>
                </a:solidFill>
                <a:latin typeface="Microsoft YaHei"/>
              </a:rPr>
              <a:t>联想是搭桥，想象是飞翔
你的作品从哪里起飞？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FF7F66"/>
                </a:solidFill>
                <a:latin typeface="Microsoft YaHei"/>
              </a:rPr>
              <a:t>创作方向：续写童话 / 改写寓言 / 十年后的我 / 课本剧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A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8A2DC"/>
                </a:solidFill>
                <a:latin typeface="Microsoft YaHei"/>
              </a:rPr>
              <a:t>以生为主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第十二课时 · 成果展示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布展：说明卡 + 创作作品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讲解：30秒依据 + 60秒亮点 + 30秒思考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参观者投「发现卡」并写理由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D166"/>
                </a:solidFill>
                <a:latin typeface="Microsoft YaHei"/>
              </a:rPr>
              <a:t>单元总结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回望母题链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自由 → 真实 → 创造 → 智慧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成长就是在四者间寻找平衡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填写自评表，整理学习档案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8A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C8A2DC"/>
                </a:solidFill>
                <a:latin typeface="Microsoft YaHei"/>
              </a:rPr>
              <a:t>回顾收获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想象既是阅读能力，也是表达能力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尊重文本和生活的逻辑</a:t>
            </a:r>
          </a:p>
          <a:p>
            <a:pPr>
              <a:spcAft>
                <a:spcPts val="1600"/>
              </a:spcAft>
            </a:pPr>
            <a:r>
              <a:rPr sz="2800" b="0">
                <a:solidFill>
                  <a:srgbClr val="5A606E"/>
                </a:solidFill>
                <a:latin typeface="Microsoft YaHei"/>
              </a:rPr>
              <a:t>看见习以为常之外的世界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B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B799"/>
                </a:solidFill>
                <a:latin typeface="Microsoft YaHei"/>
              </a:rPr>
              <a:t>课后延伸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5A606E"/>
                </a:solidFill>
                <a:latin typeface="Microsoft YaHei"/>
              </a:rPr>
              <a:t>单元作业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2600" b="1">
                <a:solidFill>
                  <a:srgbClr val="FFB799"/>
                </a:solidFill>
                <a:latin typeface="Microsoft YaHei"/>
              </a:rPr>
              <a:t>阅读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完善策展卡，600字想象主题作文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FFB799"/>
                </a:solidFill>
                <a:latin typeface="Microsoft YaHei"/>
              </a:rPr>
              <a:t>或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5分钟以内课本剧脚本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FFB799"/>
                </a:solidFill>
                <a:latin typeface="Microsoft YaHei"/>
              </a:rPr>
              <a:t>要求  </a:t>
            </a:r>
            <a:r>
              <a:rPr sz="2600" b="0">
                <a:solidFill>
                  <a:srgbClr val="5A606E"/>
                </a:solidFill>
                <a:latin typeface="Microsoft YaHei"/>
              </a:rPr>
              <a:t>有依据、合逻辑、有新意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