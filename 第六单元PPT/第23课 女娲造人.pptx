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gus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508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0" y="1645920"/>
            <a:ext cx="1371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7200" b="1">
                <a:solidFill>
                  <a:srgbClr val="50825A"/>
                </a:solidFill>
                <a:latin typeface="Microsoft YaHei"/>
              </a:rPr>
              <a:t>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920240"/>
            <a:ext cx="1371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7200" b="1">
                <a:solidFill>
                  <a:srgbClr val="50825A"/>
                </a:solidFill>
                <a:latin typeface="Microsoft YaHei"/>
              </a:rPr>
              <a:t>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2194560"/>
            <a:ext cx="1371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7200" b="1">
                <a:solidFill>
                  <a:srgbClr val="50825A"/>
                </a:solidFill>
                <a:latin typeface="Microsoft YaHei"/>
              </a:rPr>
              <a:t>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2468880"/>
            <a:ext cx="1371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7200" b="1">
                <a:solidFill>
                  <a:srgbClr val="50825A"/>
                </a:solidFill>
                <a:latin typeface="Microsoft YaHei"/>
              </a:rPr>
              <a:t>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4572000"/>
            <a:ext cx="5760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2600" b="0">
                <a:solidFill>
                  <a:srgbClr val="284632"/>
                </a:solidFill>
                <a:latin typeface="Microsoft YaHei"/>
              </a:rPr>
              <a:t>袁珂 · 母题：创造与生命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gus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508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0" y="640080"/>
            <a:ext cx="5760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50825A"/>
                </a:solidFill>
                <a:latin typeface="Microsoft YaHei"/>
              </a:rPr>
              <a:t>文学常识</a:t>
            </a:r>
          </a:p>
        </p:txBody>
      </p:sp>
      <p:sp>
        <p:nvSpPr>
          <p:cNvPr id="5" name="Oval 4"/>
          <p:cNvSpPr/>
          <p:nvPr/>
        </p:nvSpPr>
        <p:spPr>
          <a:xfrm>
            <a:off x="1371600" y="1645920"/>
            <a:ext cx="411480" cy="411480"/>
          </a:xfrm>
          <a:prstGeom prst="ellipse">
            <a:avLst/>
          </a:prstGeom>
          <a:solidFill>
            <a:srgbClr val="508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673352"/>
            <a:ext cx="411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627632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50825A"/>
                </a:solidFill>
                <a:latin typeface="Microsoft YaHei"/>
              </a:rPr>
              <a:t>作者：</a:t>
            </a:r>
            <a:r>
              <a:rPr sz="2400" b="0">
                <a:solidFill>
                  <a:srgbClr val="284632"/>
                </a:solidFill>
                <a:latin typeface="Microsoft YaHei"/>
              </a:rPr>
              <a:t>袁珂（现代作家，神话研究专家）</a:t>
            </a:r>
          </a:p>
        </p:txBody>
      </p:sp>
      <p:sp>
        <p:nvSpPr>
          <p:cNvPr id="8" name="Oval 7"/>
          <p:cNvSpPr/>
          <p:nvPr/>
        </p:nvSpPr>
        <p:spPr>
          <a:xfrm>
            <a:off x="1371600" y="2304288"/>
            <a:ext cx="411480" cy="411480"/>
          </a:xfrm>
          <a:prstGeom prst="ellipse">
            <a:avLst/>
          </a:prstGeom>
          <a:solidFill>
            <a:srgbClr val="508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331720"/>
            <a:ext cx="411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286000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50825A"/>
                </a:solidFill>
                <a:latin typeface="Microsoft YaHei"/>
              </a:rPr>
              <a:t>文体：</a:t>
            </a:r>
            <a:r>
              <a:rPr sz="2400" b="0">
                <a:solidFill>
                  <a:srgbClr val="284632"/>
                </a:solidFill>
                <a:latin typeface="Microsoft YaHei"/>
              </a:rPr>
              <a:t>神话——用想象解释自然与人类起源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2962656"/>
            <a:ext cx="411480" cy="411480"/>
          </a:xfrm>
          <a:prstGeom prst="ellipse">
            <a:avLst/>
          </a:prstGeom>
          <a:solidFill>
            <a:srgbClr val="508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2990088"/>
            <a:ext cx="411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2944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50825A"/>
                </a:solidFill>
                <a:latin typeface="Microsoft YaHei"/>
              </a:rPr>
              <a:t>特点：</a:t>
            </a:r>
            <a:r>
              <a:rPr sz="2400" b="0">
                <a:solidFill>
                  <a:srgbClr val="284632"/>
                </a:solidFill>
                <a:latin typeface="Microsoft YaHei"/>
              </a:rPr>
              <a:t>在古籍记载基础上增删改写，赋予现代意识</a:t>
            </a:r>
          </a:p>
        </p:txBody>
      </p:sp>
      <p:sp>
        <p:nvSpPr>
          <p:cNvPr id="14" name="Oval 13"/>
          <p:cNvSpPr/>
          <p:nvPr/>
        </p:nvSpPr>
        <p:spPr>
          <a:xfrm>
            <a:off x="1371600" y="3621024"/>
            <a:ext cx="411480" cy="411480"/>
          </a:xfrm>
          <a:prstGeom prst="ellipse">
            <a:avLst/>
          </a:prstGeom>
          <a:solidFill>
            <a:srgbClr val="508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3648456"/>
            <a:ext cx="411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3602736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50825A"/>
                </a:solidFill>
                <a:latin typeface="Microsoft YaHei"/>
              </a:rPr>
              <a:t>材料：</a:t>
            </a:r>
            <a:r>
              <a:rPr sz="2400" b="0">
                <a:solidFill>
                  <a:srgbClr val="284632"/>
                </a:solidFill>
                <a:latin typeface="Microsoft YaHei"/>
              </a:rPr>
              <a:t>对比教材「阅读提示」中的《风俗通》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gus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508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0" y="640080"/>
            <a:ext cx="5760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50825A"/>
                </a:solidFill>
                <a:latin typeface="Microsoft YaHei"/>
              </a:rPr>
              <a:t>造人过程</a:t>
            </a:r>
          </a:p>
        </p:txBody>
      </p:sp>
      <p:sp>
        <p:nvSpPr>
          <p:cNvPr id="5" name="Oval 4"/>
          <p:cNvSpPr/>
          <p:nvPr/>
        </p:nvSpPr>
        <p:spPr>
          <a:xfrm>
            <a:off x="1371600" y="1645920"/>
            <a:ext cx="411480" cy="411480"/>
          </a:xfrm>
          <a:prstGeom prst="ellipse">
            <a:avLst/>
          </a:prstGeom>
          <a:solidFill>
            <a:srgbClr val="508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673352"/>
            <a:ext cx="411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627632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50825A"/>
                </a:solidFill>
                <a:latin typeface="Microsoft YaHei"/>
              </a:rPr>
              <a:t>起因：</a:t>
            </a:r>
            <a:r>
              <a:rPr sz="2400" b="0">
                <a:solidFill>
                  <a:srgbClr val="284632"/>
                </a:solidFill>
                <a:latin typeface="Microsoft YaHei"/>
              </a:rPr>
              <a:t>女娲行走世间，感到孤独寂寞</a:t>
            </a:r>
          </a:p>
        </p:txBody>
      </p:sp>
      <p:sp>
        <p:nvSpPr>
          <p:cNvPr id="8" name="Oval 7"/>
          <p:cNvSpPr/>
          <p:nvPr/>
        </p:nvSpPr>
        <p:spPr>
          <a:xfrm>
            <a:off x="1371600" y="2304288"/>
            <a:ext cx="411480" cy="411480"/>
          </a:xfrm>
          <a:prstGeom prst="ellipse">
            <a:avLst/>
          </a:prstGeom>
          <a:solidFill>
            <a:srgbClr val="508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331720"/>
            <a:ext cx="411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286000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50825A"/>
                </a:solidFill>
                <a:latin typeface="Microsoft YaHei"/>
              </a:rPr>
              <a:t>方法一：</a:t>
            </a:r>
            <a:r>
              <a:rPr sz="2400" b="0">
                <a:solidFill>
                  <a:srgbClr val="284632"/>
                </a:solidFill>
                <a:latin typeface="Microsoft YaHei"/>
              </a:rPr>
              <a:t>黄泥和水揉成小泥人，落地即活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2962656"/>
            <a:ext cx="411480" cy="411480"/>
          </a:xfrm>
          <a:prstGeom prst="ellipse">
            <a:avLst/>
          </a:prstGeom>
          <a:solidFill>
            <a:srgbClr val="508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2990088"/>
            <a:ext cx="411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2944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50825A"/>
                </a:solidFill>
                <a:latin typeface="Microsoft YaHei"/>
              </a:rPr>
              <a:t>方法二：</a:t>
            </a:r>
            <a:r>
              <a:rPr sz="2400" b="0">
                <a:solidFill>
                  <a:srgbClr val="284632"/>
                </a:solidFill>
                <a:latin typeface="Microsoft YaHei"/>
              </a:rPr>
              <a:t>藤条蘸泥浆挥洒，泥点也变成人</a:t>
            </a:r>
          </a:p>
        </p:txBody>
      </p:sp>
      <p:sp>
        <p:nvSpPr>
          <p:cNvPr id="14" name="Oval 13"/>
          <p:cNvSpPr/>
          <p:nvPr/>
        </p:nvSpPr>
        <p:spPr>
          <a:xfrm>
            <a:off x="1371600" y="3621024"/>
            <a:ext cx="411480" cy="411480"/>
          </a:xfrm>
          <a:prstGeom prst="ellipse">
            <a:avLst/>
          </a:prstGeom>
          <a:solidFill>
            <a:srgbClr val="508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3648456"/>
            <a:ext cx="411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3602736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50825A"/>
                </a:solidFill>
                <a:latin typeface="Microsoft YaHei"/>
              </a:rPr>
              <a:t>结果：</a:t>
            </a:r>
            <a:r>
              <a:rPr sz="2400" b="0">
                <a:solidFill>
                  <a:srgbClr val="284632"/>
                </a:solidFill>
                <a:latin typeface="Microsoft YaHei"/>
              </a:rPr>
              <a:t>建立婚姻制度，让人类繁衍生息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gus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508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0" y="640080"/>
            <a:ext cx="5760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50825A"/>
                </a:solidFill>
                <a:latin typeface="Microsoft YaHei"/>
              </a:rPr>
              <a:t>想象特点</a:t>
            </a:r>
          </a:p>
        </p:txBody>
      </p:sp>
      <p:sp>
        <p:nvSpPr>
          <p:cNvPr id="5" name="Oval 4"/>
          <p:cNvSpPr/>
          <p:nvPr/>
        </p:nvSpPr>
        <p:spPr>
          <a:xfrm>
            <a:off x="1371600" y="1645920"/>
            <a:ext cx="411480" cy="411480"/>
          </a:xfrm>
          <a:prstGeom prst="ellipse">
            <a:avLst/>
          </a:prstGeom>
          <a:solidFill>
            <a:srgbClr val="508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673352"/>
            <a:ext cx="411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627632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50825A"/>
                </a:solidFill>
                <a:latin typeface="Microsoft YaHei"/>
              </a:rPr>
              <a:t>具体：</a:t>
            </a:r>
            <a:r>
              <a:rPr sz="2400" b="0">
                <a:solidFill>
                  <a:srgbClr val="284632"/>
                </a:solidFill>
                <a:latin typeface="Microsoft YaHei"/>
              </a:rPr>
              <a:t>池水照影见自己面容→想到造同类</a:t>
            </a:r>
          </a:p>
        </p:txBody>
      </p:sp>
      <p:sp>
        <p:nvSpPr>
          <p:cNvPr id="8" name="Oval 7"/>
          <p:cNvSpPr/>
          <p:nvPr/>
        </p:nvSpPr>
        <p:spPr>
          <a:xfrm>
            <a:off x="1371600" y="2304288"/>
            <a:ext cx="411480" cy="411480"/>
          </a:xfrm>
          <a:prstGeom prst="ellipse">
            <a:avLst/>
          </a:prstGeom>
          <a:solidFill>
            <a:srgbClr val="508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331720"/>
            <a:ext cx="411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286000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50825A"/>
                </a:solidFill>
                <a:latin typeface="Microsoft YaHei"/>
              </a:rPr>
              <a:t>生动：</a:t>
            </a:r>
            <a:r>
              <a:rPr sz="2400" b="0">
                <a:solidFill>
                  <a:srgbClr val="284632"/>
                </a:solidFill>
                <a:latin typeface="Microsoft YaHei"/>
              </a:rPr>
              <a:t>藤条一挥，满天泥浆洒落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2962656"/>
            <a:ext cx="411480" cy="411480"/>
          </a:xfrm>
          <a:prstGeom prst="ellipse">
            <a:avLst/>
          </a:prstGeom>
          <a:solidFill>
            <a:srgbClr val="508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2990088"/>
            <a:ext cx="411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2944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50825A"/>
                </a:solidFill>
                <a:latin typeface="Microsoft YaHei"/>
              </a:rPr>
              <a:t>温暖：</a:t>
            </a:r>
            <a:r>
              <a:rPr sz="2400" b="0">
                <a:solidFill>
                  <a:srgbClr val="284632"/>
                </a:solidFill>
                <a:latin typeface="Microsoft YaHei"/>
              </a:rPr>
              <a:t>造人后的疲倦、喜悦，神有人的情感</a:t>
            </a:r>
          </a:p>
        </p:txBody>
      </p:sp>
      <p:sp>
        <p:nvSpPr>
          <p:cNvPr id="14" name="Oval 13"/>
          <p:cNvSpPr/>
          <p:nvPr/>
        </p:nvSpPr>
        <p:spPr>
          <a:xfrm>
            <a:off x="1371600" y="3621024"/>
            <a:ext cx="411480" cy="411480"/>
          </a:xfrm>
          <a:prstGeom prst="ellipse">
            <a:avLst/>
          </a:prstGeom>
          <a:solidFill>
            <a:srgbClr val="508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3648456"/>
            <a:ext cx="411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3602736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50825A"/>
                </a:solidFill>
                <a:latin typeface="Microsoft YaHei"/>
              </a:rPr>
              <a:t>规律：</a:t>
            </a:r>
            <a:r>
              <a:rPr sz="2400" b="0">
                <a:solidFill>
                  <a:srgbClr val="284632"/>
                </a:solidFill>
                <a:latin typeface="Microsoft YaHei"/>
              </a:rPr>
              <a:t>想象基于生活经验，又超越现实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gus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508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548640"/>
            <a:ext cx="8503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3600" b="1">
                <a:solidFill>
                  <a:srgbClr val="50825A"/>
                </a:solidFill>
                <a:latin typeface="Microsoft YaHei"/>
              </a:rPr>
              <a:t>比较阅读：古籍与课文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2926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2200" b="1">
                <a:solidFill>
                  <a:srgbClr val="50825A"/>
                </a:solidFill>
                <a:latin typeface="Microsoft YaHei"/>
              </a:rPr>
              <a:t>项目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463040"/>
            <a:ext cx="2926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2200" b="1">
                <a:solidFill>
                  <a:srgbClr val="50825A"/>
                </a:solidFill>
                <a:latin typeface="Microsoft YaHei"/>
              </a:rPr>
              <a:t>《风俗通》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463040"/>
            <a:ext cx="2926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2200" b="1">
                <a:solidFill>
                  <a:srgbClr val="50825A"/>
                </a:solidFill>
                <a:latin typeface="Microsoft YaHei"/>
              </a:rPr>
              <a:t>课文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011680"/>
            <a:ext cx="29260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284632"/>
                </a:solidFill>
                <a:latin typeface="Microsoft YaHei"/>
              </a:rPr>
              <a:t>记载风格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011680"/>
            <a:ext cx="29260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0">
                <a:solidFill>
                  <a:srgbClr val="284632"/>
                </a:solidFill>
                <a:latin typeface="Microsoft YaHei"/>
              </a:rPr>
              <a:t>简洁，重在说明方法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2011680"/>
            <a:ext cx="29260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0">
                <a:solidFill>
                  <a:srgbClr val="284632"/>
                </a:solidFill>
                <a:latin typeface="Microsoft YaHei"/>
              </a:rPr>
              <a:t>增加心理、细节、情感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697480"/>
            <a:ext cx="10332720" cy="13716"/>
          </a:xfrm>
          <a:prstGeom prst="rect">
            <a:avLst/>
          </a:prstGeom>
          <a:solidFill>
            <a:srgbClr val="B4D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788920"/>
            <a:ext cx="29260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284632"/>
                </a:solidFill>
                <a:latin typeface="Microsoft YaHei"/>
              </a:rPr>
              <a:t>造人动机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788920"/>
            <a:ext cx="29260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0">
                <a:solidFill>
                  <a:srgbClr val="284632"/>
                </a:solidFill>
                <a:latin typeface="Microsoft YaHei"/>
              </a:rPr>
              <a:t>未详写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2788920"/>
            <a:ext cx="29260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0">
                <a:solidFill>
                  <a:srgbClr val="284632"/>
                </a:solidFill>
                <a:latin typeface="Microsoft YaHei"/>
              </a:rPr>
              <a:t>突出孤独寂寞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3474720"/>
            <a:ext cx="10332720" cy="13716"/>
          </a:xfrm>
          <a:prstGeom prst="rect">
            <a:avLst/>
          </a:prstGeom>
          <a:solidFill>
            <a:srgbClr val="B4D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566160"/>
            <a:ext cx="29260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284632"/>
                </a:solidFill>
                <a:latin typeface="Microsoft YaHei"/>
              </a:rPr>
              <a:t>改写意图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3566160"/>
            <a:ext cx="29260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0">
                <a:solidFill>
                  <a:srgbClr val="284632"/>
                </a:solidFill>
                <a:latin typeface="Microsoft YaHei"/>
              </a:rPr>
              <a:t>——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566160"/>
            <a:ext cx="29260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0">
                <a:solidFill>
                  <a:srgbClr val="284632"/>
                </a:solidFill>
                <a:latin typeface="Microsoft YaHei"/>
              </a:rPr>
              <a:t>表达对生命与创造的礼赞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4251960"/>
            <a:ext cx="10332720" cy="13716"/>
          </a:xfrm>
          <a:prstGeom prst="rect">
            <a:avLst/>
          </a:prstGeom>
          <a:solidFill>
            <a:srgbClr val="B4D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gus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508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0" y="640080"/>
            <a:ext cx="5760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50825A"/>
                </a:solidFill>
                <a:latin typeface="Microsoft YaHei"/>
              </a:rPr>
              <a:t>学习任务</a:t>
            </a:r>
          </a:p>
        </p:txBody>
      </p:sp>
      <p:sp>
        <p:nvSpPr>
          <p:cNvPr id="5" name="Oval 4"/>
          <p:cNvSpPr/>
          <p:nvPr/>
        </p:nvSpPr>
        <p:spPr>
          <a:xfrm>
            <a:off x="1371600" y="1645920"/>
            <a:ext cx="411480" cy="411480"/>
          </a:xfrm>
          <a:prstGeom prst="ellipse">
            <a:avLst/>
          </a:prstGeom>
          <a:solidFill>
            <a:srgbClr val="508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673352"/>
            <a:ext cx="411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627632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284632"/>
                </a:solidFill>
                <a:latin typeface="Microsoft YaHei"/>
              </a:rPr>
              <a:t>给女娲行动排序，比较两种造人方法</a:t>
            </a:r>
          </a:p>
        </p:txBody>
      </p:sp>
      <p:sp>
        <p:nvSpPr>
          <p:cNvPr id="8" name="Oval 7"/>
          <p:cNvSpPr/>
          <p:nvPr/>
        </p:nvSpPr>
        <p:spPr>
          <a:xfrm>
            <a:off x="1371600" y="2304288"/>
            <a:ext cx="411480" cy="411480"/>
          </a:xfrm>
          <a:prstGeom prst="ellipse">
            <a:avLst/>
          </a:prstGeom>
          <a:solidFill>
            <a:srgbClr val="508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331720"/>
            <a:ext cx="411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286000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284632"/>
                </a:solidFill>
                <a:latin typeface="Microsoft YaHei"/>
              </a:rPr>
              <a:t>完成「古籍与课文」比较表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2962656"/>
            <a:ext cx="411480" cy="411480"/>
          </a:xfrm>
          <a:prstGeom prst="ellipse">
            <a:avLst/>
          </a:prstGeom>
          <a:solidFill>
            <a:srgbClr val="508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2990088"/>
            <a:ext cx="411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2944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284632"/>
                </a:solidFill>
                <a:latin typeface="Microsoft YaHei"/>
              </a:rPr>
              <a:t>以「我看见女娲……」写100字画面描述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