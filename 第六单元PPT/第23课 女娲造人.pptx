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A3B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5A606E"/>
                </a:solidFill>
                <a:latin typeface="Microsoft YaHei"/>
              </a:rPr>
              <a:t>女娲造人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A3B1A5"/>
                </a:solidFill>
                <a:latin typeface="Microsoft YaHei"/>
              </a:rPr>
              <a:t>第23课 · 第六、七课时 · 创造与生命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B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A3B1A5"/>
                </a:solidFill>
                <a:latin typeface="Microsoft YaHei"/>
              </a:rPr>
              <a:t>课时目标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本课目标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600" b="1">
                <a:solidFill>
                  <a:srgbClr val="A3B1A5"/>
                </a:solidFill>
                <a:latin typeface="Microsoft YaHei"/>
              </a:rPr>
              <a:t>目标1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概括女娲造人过程，梳理思路</a:t>
            </a:r>
          </a:p>
          <a:p>
            <a:pPr>
              <a:spcAft>
                <a:spcPts val="1600"/>
              </a:spcAft>
            </a:pPr>
            <a:r>
              <a:rPr sz="2600" b="1">
                <a:solidFill>
                  <a:srgbClr val="A3B1A5"/>
                </a:solidFill>
                <a:latin typeface="Microsoft YaHei"/>
              </a:rPr>
              <a:t>目标2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比较古籍与课文，体会想象创造</a:t>
            </a:r>
          </a:p>
          <a:p>
            <a:pPr>
              <a:spcAft>
                <a:spcPts val="1600"/>
              </a:spcAft>
            </a:pPr>
            <a:r>
              <a:rPr sz="2600" b="1">
                <a:solidFill>
                  <a:srgbClr val="A3B1A5"/>
                </a:solidFill>
                <a:latin typeface="Microsoft YaHei"/>
              </a:rPr>
              <a:t>目标3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感悟「创造与生命」母题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4AA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B4AAC4"/>
                </a:solidFill>
                <a:latin typeface="Microsoft YaHei"/>
              </a:rPr>
              <a:t>💭 想一想</a:t>
            </a:r>
          </a:p>
          <a:p>
            <a:pPr algn="ctr">
              <a:spcBef>
                <a:spcPts val="2000"/>
              </a:spcBef>
            </a:pPr>
            <a:r>
              <a:rPr sz="3400" b="1">
                <a:solidFill>
                  <a:srgbClr val="5A606E"/>
                </a:solidFill>
                <a:latin typeface="Microsoft YaHei"/>
              </a:rPr>
              <a:t>为什么古人要想象
一位女神来创造人类？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B4AAC4"/>
                </a:solidFill>
                <a:latin typeface="Microsoft YaHei"/>
              </a:rPr>
              <a:t>这是对「人从哪里来、为何需要同伴」的诗意追问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B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A3B1A5"/>
                </a:solidFill>
                <a:latin typeface="Microsoft YaHei"/>
              </a:rPr>
              <a:t>以生为主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学习任务一 · 追踪创造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给女娲行动排序：孤独→＿＿→＿＿→繁衍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比较两种造人方法的不同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复述：从孤独到热闹的过程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6C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CDAA"/>
                </a:solidFill>
                <a:latin typeface="Microsoft YaHei"/>
              </a:rPr>
              <a:t>细读品味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学习任务二 · 比较阅读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阅读《风俗通》记载，完成比较表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细读池水照影、黄泥捏人、藤条挥洒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说说想象如何具体、生动、温暖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7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7F66"/>
                </a:solidFill>
                <a:latin typeface="Microsoft YaHei"/>
              </a:rPr>
              <a:t>主题探究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学习任务三 · 提炼策展主题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讨论：神话用想象解释人的来处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女娲既有神性，也有人的孤独与喜悦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主题三：生命来之不易，创造＿＿＿＿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B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A3B1A5"/>
                </a:solidFill>
                <a:latin typeface="Microsoft YaHei"/>
              </a:rPr>
              <a:t>回顾收获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课堂小结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神话改写基于古籍又超越古籍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赋予创世故事现代意识与生命温度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策展主题：创造与生命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u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B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B799"/>
                </a:solidFill>
                <a:latin typeface="Microsoft YaHei"/>
              </a:rPr>
              <a:t>课后延伸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作业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600" b="1">
                <a:solidFill>
                  <a:srgbClr val="FFB799"/>
                </a:solidFill>
                <a:latin typeface="Microsoft YaHei"/>
              </a:rPr>
              <a:t>必做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以「我看见女娲……」写100字画面</a:t>
            </a:r>
          </a:p>
          <a:p>
            <a:pPr>
              <a:spcAft>
                <a:spcPts val="1600"/>
              </a:spcAft>
            </a:pPr>
            <a:r>
              <a:rPr sz="2600" b="1">
                <a:solidFill>
                  <a:srgbClr val="FFB799"/>
                </a:solidFill>
                <a:latin typeface="Microsoft YaHei"/>
              </a:rPr>
              <a:t>选做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查找一个中国创世神话比较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