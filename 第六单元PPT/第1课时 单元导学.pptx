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u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6482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unit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unit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6482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329184"/>
            <a:ext cx="11484864" cy="6190488"/>
          </a:xfrm>
          <a:prstGeom prst="rect">
            <a:avLst/>
          </a:prstGeom>
          <a:noFill/>
          <a:ln w="12700">
            <a:solidFill>
              <a:srgbClr val="A0B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011680"/>
            <a:ext cx="94183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5200" b="1">
                <a:solidFill>
                  <a:srgbClr val="4678B4"/>
                </a:solidFill>
                <a:latin typeface="Microsoft YaHei"/>
              </a:rPr>
              <a:t>想象力博物馆</a:t>
            </a:r>
          </a:p>
          <a:p>
            <a:pPr algn="ctr">
              <a:spcAft>
                <a:spcPts val="1000"/>
              </a:spcAft>
            </a:pPr>
            <a:r>
              <a:rPr sz="2600" b="0">
                <a:solidFill>
                  <a:srgbClr val="323C50"/>
                </a:solidFill>
                <a:latin typeface="Microsoft YaHei"/>
              </a:rPr>
              <a:t>七年级上册 · 第六单元 · 第一课时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5029200"/>
            <a:ext cx="5760720" cy="27432"/>
          </a:xfrm>
          <a:prstGeom prst="rect">
            <a:avLst/>
          </a:prstGeom>
          <a:solidFill>
            <a:srgbClr val="A0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u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6482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unit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unit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A0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23C50"/>
                </a:solidFill>
                <a:latin typeface="Microsoft YaHei"/>
              </a:rPr>
              <a:t>记笔记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4678B4"/>
                </a:solidFill>
                <a:latin typeface="Microsoft YaHei"/>
              </a:rPr>
              <a:t>单元知识框架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A0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8544" y="1645920"/>
            <a:ext cx="9875520" cy="2953512"/>
          </a:xfrm>
          <a:prstGeom prst="roundRect">
            <a:avLst/>
          </a:prstGeom>
          <a:solidFill>
            <a:srgbClr val="F8FAFF"/>
          </a:solidFill>
          <a:ln w="19050">
            <a:solidFill>
              <a:srgbClr val="A0B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178308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4678B4"/>
                </a:solidFill>
                <a:latin typeface="Microsoft YaHei"/>
              </a:rPr>
              <a:t>单元母题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783080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23C50"/>
                </a:solidFill>
                <a:latin typeface="Microsoft YaHei"/>
              </a:rPr>
              <a:t>想象与真实——想象源于生活经验，又超越现实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4144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4678B4"/>
                </a:solidFill>
                <a:latin typeface="Microsoft YaHei"/>
              </a:rPr>
              <a:t>文体类型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441448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23C50"/>
                </a:solidFill>
                <a:latin typeface="Microsoft YaHei"/>
              </a:rPr>
              <a:t>神魔小说、童话、神话、寓言（四种富于想象力的文体）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5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4678B4"/>
                </a:solidFill>
                <a:latin typeface="Microsoft YaHei"/>
              </a:rPr>
              <a:t>阅读方法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099815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23C50"/>
                </a:solidFill>
                <a:latin typeface="Microsoft YaHei"/>
              </a:rPr>
              <a:t>快速默读：把握思路，发挥联想和想象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758184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4678B4"/>
                </a:solidFill>
                <a:latin typeface="Microsoft YaHei"/>
              </a:rPr>
              <a:t>阅读速度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3758184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23C50"/>
                </a:solidFill>
                <a:latin typeface="Microsoft YaHei"/>
              </a:rPr>
              <a:t>每分钟不少于400字，先抓「谁—做什么—结果」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u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6482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unit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unit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A0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23C50"/>
                </a:solidFill>
                <a:latin typeface="Microsoft YaHei"/>
              </a:rPr>
              <a:t>核心知识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4678B4"/>
                </a:solidFill>
                <a:latin typeface="Microsoft YaHei"/>
              </a:rPr>
              <a:t>母题递进链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A0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8544" y="1645920"/>
            <a:ext cx="9875520" cy="2953512"/>
          </a:xfrm>
          <a:prstGeom prst="roundRect">
            <a:avLst/>
          </a:prstGeom>
          <a:solidFill>
            <a:srgbClr val="F8FAFF"/>
          </a:solidFill>
          <a:ln w="19050">
            <a:solidFill>
              <a:srgbClr val="A0B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178308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4678B4"/>
                </a:solidFill>
                <a:latin typeface="Microsoft YaHei"/>
              </a:rPr>
              <a:t>自由与规则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783080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23C50"/>
                </a:solidFill>
                <a:latin typeface="Microsoft YaHei"/>
              </a:rPr>
              <a:t>《小圣施威降大圣》——神魔斗法中见人情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4144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4678B4"/>
                </a:solidFill>
                <a:latin typeface="Microsoft YaHei"/>
              </a:rPr>
              <a:t>真实与虚假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441448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23C50"/>
                </a:solidFill>
                <a:latin typeface="Microsoft YaHei"/>
              </a:rPr>
              <a:t>《皇帝的新装》——荒诞童话照见人性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5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4678B4"/>
                </a:solidFill>
                <a:latin typeface="Microsoft YaHei"/>
              </a:rPr>
              <a:t>创造与生命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099815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23C50"/>
                </a:solidFill>
                <a:latin typeface="Microsoft YaHei"/>
              </a:rPr>
              <a:t>《女娲造人》——创世神话礼赞生命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758184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4678B4"/>
                </a:solidFill>
                <a:latin typeface="Microsoft YaHei"/>
              </a:rPr>
              <a:t>智慧与局限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3758184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23C50"/>
                </a:solidFill>
                <a:latin typeface="Microsoft YaHei"/>
              </a:rPr>
              <a:t>《寓言四则》——短小故事寄寓道理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u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6482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unit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unit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A0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23C50"/>
                </a:solidFill>
                <a:latin typeface="Microsoft YaHei"/>
              </a:rPr>
              <a:t>记笔记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4678B4"/>
                </a:solidFill>
                <a:latin typeface="Microsoft YaHei"/>
              </a:rPr>
              <a:t>阅读方法笔记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A0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8544" y="1645920"/>
            <a:ext cx="9875520" cy="2953512"/>
          </a:xfrm>
          <a:prstGeom prst="roundRect">
            <a:avLst/>
          </a:prstGeom>
          <a:solidFill>
            <a:srgbClr val="F8FAFF"/>
          </a:solidFill>
          <a:ln w="19050">
            <a:solidFill>
              <a:srgbClr val="A0B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178308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4678B4"/>
                </a:solidFill>
                <a:latin typeface="Microsoft YaHei"/>
              </a:rPr>
              <a:t>情节概括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783080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23C50"/>
                </a:solidFill>
                <a:latin typeface="Microsoft YaHei"/>
              </a:rPr>
              <a:t>用「节点词+简洁句」概括，避免逐字回读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4144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4678B4"/>
                </a:solidFill>
                <a:latin typeface="Microsoft YaHei"/>
              </a:rPr>
              <a:t>人物分析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441448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23C50"/>
                </a:solidFill>
                <a:latin typeface="Microsoft YaHei"/>
              </a:rPr>
              <a:t>证据—特点—作用（先找细节，再概括，后说作用）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5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4678B4"/>
                </a:solidFill>
                <a:latin typeface="Microsoft YaHei"/>
              </a:rPr>
              <a:t>想象追问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099815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23C50"/>
                </a:solidFill>
                <a:latin typeface="Microsoft YaHei"/>
              </a:rPr>
              <a:t>它像现实中的什么？人物为什么这样做？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758184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4678B4"/>
                </a:solidFill>
                <a:latin typeface="Microsoft YaHei"/>
              </a:rPr>
              <a:t>创作方法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3758184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23C50"/>
                </a:solidFill>
                <a:latin typeface="Microsoft YaHei"/>
              </a:rPr>
              <a:t>触发点→联想链→情节转折→表达主题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u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6482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unit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unit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A0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23C50"/>
                </a:solidFill>
                <a:latin typeface="Microsoft YaHei"/>
              </a:rPr>
              <a:t>挑战任务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4678B4"/>
                </a:solidFill>
                <a:latin typeface="Microsoft YaHei"/>
              </a:rPr>
              <a:t>单元大任务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A0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2112264"/>
          </a:xfrm>
          <a:prstGeom prst="roundRect">
            <a:avLst/>
          </a:prstGeom>
          <a:solidFill>
            <a:srgbClr val="F8FAFF"/>
          </a:solidFill>
          <a:ln w="19050">
            <a:solidFill>
              <a:srgbClr val="A0B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47472" cy="347472"/>
          </a:xfrm>
          <a:prstGeom prst="ellipse">
            <a:avLst/>
          </a:prstGeom>
          <a:solidFill>
            <a:srgbClr val="46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3024" y="181051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23C50"/>
                </a:solidFill>
                <a:latin typeface="Microsoft YaHei"/>
              </a:rPr>
              <a:t>举办「想象力博物馆」微展览，小组担任策展人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47472" cy="347472"/>
          </a:xfrm>
          <a:prstGeom prst="ellipse">
            <a:avLst/>
          </a:prstGeom>
          <a:solidFill>
            <a:srgbClr val="46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3024" y="237744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23C50"/>
                </a:solidFill>
                <a:latin typeface="Microsoft YaHei"/>
              </a:rPr>
              <a:t>制作「想象说明卡」：说清想象的依据与表达效果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962656"/>
            <a:ext cx="347472" cy="347472"/>
          </a:xfrm>
          <a:prstGeom prst="ellipse">
            <a:avLst/>
          </a:prstGeom>
          <a:solidFill>
            <a:srgbClr val="46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980944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13024" y="2944368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23C50"/>
                </a:solidFill>
                <a:latin typeface="Microsoft YaHei"/>
              </a:rPr>
              <a:t>完成原创想象文字或一幕微型课本剧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u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6482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unit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unit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A0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23C50"/>
                </a:solidFill>
                <a:latin typeface="Microsoft YaHei"/>
              </a:rPr>
              <a:t>学习方法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4678B4"/>
                </a:solidFill>
                <a:latin typeface="Microsoft YaHei"/>
              </a:rPr>
              <a:t>快速默读训练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A0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2112264"/>
          </a:xfrm>
          <a:prstGeom prst="roundRect">
            <a:avLst/>
          </a:prstGeom>
          <a:solidFill>
            <a:srgbClr val="F8FAFF"/>
          </a:solidFill>
          <a:ln w="19050">
            <a:solidFill>
              <a:srgbClr val="A0B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47472" cy="347472"/>
          </a:xfrm>
          <a:prstGeom prst="ellipse">
            <a:avLst/>
          </a:prstGeom>
          <a:solidFill>
            <a:srgbClr val="46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3024" y="181051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23C50"/>
                </a:solidFill>
                <a:latin typeface="Microsoft YaHei"/>
              </a:rPr>
              <a:t>不出声、不指读，段末停顿记录段意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47472" cy="347472"/>
          </a:xfrm>
          <a:prstGeom prst="ellipse">
            <a:avLst/>
          </a:prstGeom>
          <a:solidFill>
            <a:srgbClr val="46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3024" y="237744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23C50"/>
                </a:solidFill>
                <a:latin typeface="Microsoft YaHei"/>
              </a:rPr>
              <a:t>用5—8个字概括每个情节段落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962656"/>
            <a:ext cx="347472" cy="347472"/>
          </a:xfrm>
          <a:prstGeom prst="ellipse">
            <a:avLst/>
          </a:prstGeom>
          <a:solidFill>
            <a:srgbClr val="46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980944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13024" y="2944368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23C50"/>
                </a:solidFill>
                <a:latin typeface="Microsoft YaHei"/>
              </a:rPr>
              <a:t>复述三要素：人物、事件、结果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u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6482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unit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unit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1005840"/>
            <a:ext cx="2286000" cy="411480"/>
          </a:xfrm>
          <a:prstGeom prst="roundRect">
            <a:avLst/>
          </a:prstGeom>
          <a:solidFill>
            <a:srgbClr val="A0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102412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23C50"/>
                </a:solidFill>
                <a:latin typeface="Microsoft YaHei"/>
              </a:rPr>
              <a:t>想一想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60020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200" b="1">
                <a:solidFill>
                  <a:srgbClr val="4678B4"/>
                </a:solidFill>
                <a:latin typeface="Microsoft YaHei"/>
              </a:rPr>
              <a:t>奇异情节从哪来？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4389120"/>
            <a:ext cx="5760720" cy="27432"/>
          </a:xfrm>
          <a:prstGeom prst="rect">
            <a:avLst/>
          </a:prstGeom>
          <a:solidFill>
            <a:srgbClr val="A0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4663440"/>
            <a:ext cx="8503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2200" b="0">
                <a:solidFill>
                  <a:srgbClr val="4678B4"/>
                </a:solidFill>
                <a:latin typeface="Microsoft YaHei"/>
              </a:rPr>
              <a:t>从真实经验出发——伞、星星、孙悟空都连接着我们的生活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u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6482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unit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unit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A0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23C50"/>
                </a:solidFill>
                <a:latin typeface="Microsoft YaHei"/>
              </a:rPr>
              <a:t>回顾收获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4678B4"/>
                </a:solidFill>
                <a:latin typeface="Microsoft YaHei"/>
              </a:rPr>
              <a:t>课堂小结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A0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1837944"/>
          </a:xfrm>
          <a:prstGeom prst="roundRect">
            <a:avLst/>
          </a:prstGeom>
          <a:solidFill>
            <a:srgbClr val="F8FAFF"/>
          </a:solidFill>
          <a:ln w="19050">
            <a:solidFill>
              <a:srgbClr val="A0B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47472" cy="347472"/>
          </a:xfrm>
          <a:prstGeom prst="ellipse">
            <a:avLst/>
          </a:prstGeom>
          <a:solidFill>
            <a:srgbClr val="46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3024" y="181051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23C50"/>
                </a:solidFill>
                <a:latin typeface="Microsoft YaHei"/>
              </a:rPr>
              <a:t>四文体：神魔小说、童话、神话、寓言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04288"/>
            <a:ext cx="347472" cy="347472"/>
          </a:xfrm>
          <a:prstGeom prst="ellipse">
            <a:avLst/>
          </a:prstGeom>
          <a:solidFill>
            <a:srgbClr val="46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322576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3024" y="228600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23C50"/>
                </a:solidFill>
                <a:latin typeface="Microsoft YaHei"/>
              </a:rPr>
              <a:t>母题链：自由→真实→创造→智慧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779776"/>
            <a:ext cx="347472" cy="347472"/>
          </a:xfrm>
          <a:prstGeom prst="ellipse">
            <a:avLst/>
          </a:prstGeom>
          <a:solidFill>
            <a:srgbClr val="46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798064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13024" y="2761488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23C50"/>
                </a:solidFill>
                <a:latin typeface="Microsoft YaHei"/>
              </a:rPr>
              <a:t>概括法：人物—事件—结果；分析法：证据—特点—作用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u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6482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unit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unit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A0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23C50"/>
                </a:solidFill>
                <a:latin typeface="Microsoft YaHei"/>
              </a:rPr>
              <a:t>课后延伸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4678B4"/>
                </a:solidFill>
                <a:latin typeface="Microsoft YaHei"/>
              </a:rPr>
              <a:t>课后作业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A0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1545336"/>
          </a:xfrm>
          <a:prstGeom prst="roundRect">
            <a:avLst/>
          </a:prstGeom>
          <a:solidFill>
            <a:srgbClr val="F8FAFF"/>
          </a:solidFill>
          <a:ln w="19050">
            <a:solidFill>
              <a:srgbClr val="A0B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47472" cy="347472"/>
          </a:xfrm>
          <a:prstGeom prst="ellipse">
            <a:avLst/>
          </a:prstGeom>
          <a:solidFill>
            <a:srgbClr val="46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3024" y="181051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23C50"/>
                </a:solidFill>
                <a:latin typeface="Microsoft YaHei"/>
              </a:rPr>
              <a:t>必做：预习一篇课文，写100字以内故事梗概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47472" cy="347472"/>
          </a:xfrm>
          <a:prstGeom prst="ellipse">
            <a:avLst/>
          </a:prstGeom>
          <a:solidFill>
            <a:srgbClr val="46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3024" y="237744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23C50"/>
                </a:solidFill>
                <a:latin typeface="Microsoft YaHei"/>
              </a:rPr>
              <a:t>选做：记录一个「如果……会怎样」的想象问题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