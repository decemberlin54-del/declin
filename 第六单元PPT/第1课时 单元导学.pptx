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un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A4B4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200" b="1">
                <a:solidFill>
                  <a:srgbClr val="5A606E"/>
                </a:solidFill>
                <a:latin typeface="Microsoft YaHei"/>
              </a:rPr>
              <a:t>想象力博物馆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0">
                <a:solidFill>
                  <a:srgbClr val="A4B4C4"/>
                </a:solidFill>
                <a:latin typeface="Microsoft YaHei"/>
              </a:rPr>
              <a:t>七年级上册 · 第六单元 · 第一课时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un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A4B4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286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A4B4C4"/>
                </a:solidFill>
                <a:latin typeface="Microsoft YaHei"/>
              </a:rPr>
              <a:t>课时目标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8580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5A606E"/>
                </a:solidFill>
                <a:latin typeface="Microsoft YaHei"/>
              </a:rPr>
              <a:t>本课目标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91640"/>
            <a:ext cx="1024128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600"/>
              </a:spcAft>
            </a:pPr>
            <a:r>
              <a:rPr sz="2600" b="1">
                <a:solidFill>
                  <a:srgbClr val="A4B4C4"/>
                </a:solidFill>
                <a:latin typeface="Microsoft YaHei"/>
              </a:rPr>
              <a:t>目标1  </a:t>
            </a:r>
            <a:r>
              <a:rPr sz="2600" b="0">
                <a:solidFill>
                  <a:srgbClr val="5A606E"/>
                </a:solidFill>
                <a:latin typeface="Microsoft YaHei"/>
              </a:rPr>
              <a:t>感知单元学习目标、文体类型与挑战任务</a:t>
            </a:r>
          </a:p>
          <a:p>
            <a:pPr>
              <a:spcAft>
                <a:spcPts val="1600"/>
              </a:spcAft>
            </a:pPr>
            <a:r>
              <a:rPr sz="2600" b="1">
                <a:solidFill>
                  <a:srgbClr val="A4B4C4"/>
                </a:solidFill>
                <a:latin typeface="Microsoft YaHei"/>
              </a:rPr>
              <a:t>目标2  </a:t>
            </a:r>
            <a:r>
              <a:rPr sz="2600" b="0">
                <a:solidFill>
                  <a:srgbClr val="5A606E"/>
                </a:solidFill>
                <a:latin typeface="Microsoft YaHei"/>
              </a:rPr>
              <a:t>快速默读，用关键词概括情节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un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7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286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7F66"/>
                </a:solidFill>
                <a:latin typeface="Microsoft YaHei"/>
              </a:rPr>
              <a:t>单元挑战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8580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5A606E"/>
                </a:solidFill>
                <a:latin typeface="Microsoft YaHei"/>
              </a:rPr>
              <a:t>大任务：想象力博物馆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91640"/>
            <a:ext cx="1024128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600"/>
              </a:spcAft>
            </a:pPr>
            <a:r>
              <a:rPr sz="2800" b="0">
                <a:solidFill>
                  <a:srgbClr val="5A606E"/>
                </a:solidFill>
                <a:latin typeface="Microsoft YaHei"/>
              </a:rPr>
              <a:t>校园文学社微展览，你是策展人</a:t>
            </a:r>
          </a:p>
          <a:p>
            <a:pPr>
              <a:spcAft>
                <a:spcPts val="1600"/>
              </a:spcAft>
            </a:pPr>
            <a:r>
              <a:rPr sz="2800" b="0">
                <a:solidFill>
                  <a:srgbClr val="5A606E"/>
                </a:solidFill>
                <a:latin typeface="Microsoft YaHei"/>
              </a:rPr>
              <a:t>制作「想象说明卡」</a:t>
            </a:r>
          </a:p>
          <a:p>
            <a:pPr>
              <a:spcAft>
                <a:spcPts val="1600"/>
              </a:spcAft>
            </a:pPr>
            <a:r>
              <a:rPr sz="2800" b="0">
                <a:solidFill>
                  <a:srgbClr val="5A606E"/>
                </a:solidFill>
                <a:latin typeface="Microsoft YaHei"/>
              </a:rPr>
              <a:t>完成原创想象文字或微型课本剧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un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4AA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286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B4AAC4"/>
                </a:solidFill>
                <a:latin typeface="Microsoft YaHei"/>
              </a:rPr>
              <a:t>想象与真实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8580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5A606E"/>
                </a:solidFill>
                <a:latin typeface="Microsoft YaHei"/>
              </a:rPr>
              <a:t>母题递进链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91640"/>
            <a:ext cx="1024128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600"/>
              </a:spcAft>
            </a:pPr>
            <a:r>
              <a:rPr sz="2600" b="1">
                <a:solidFill>
                  <a:srgbClr val="B4AAC4"/>
                </a:solidFill>
                <a:latin typeface="Microsoft YaHei"/>
              </a:rPr>
              <a:t>自由与规则  </a:t>
            </a:r>
            <a:r>
              <a:rPr sz="2600" b="0">
                <a:solidFill>
                  <a:srgbClr val="5A606E"/>
                </a:solidFill>
                <a:latin typeface="Microsoft YaHei"/>
              </a:rPr>
              <a:t>《小圣施威降大圣》</a:t>
            </a:r>
          </a:p>
          <a:p>
            <a:pPr>
              <a:spcAft>
                <a:spcPts val="1600"/>
              </a:spcAft>
            </a:pPr>
            <a:r>
              <a:rPr sz="2600" b="1">
                <a:solidFill>
                  <a:srgbClr val="B4AAC4"/>
                </a:solidFill>
                <a:latin typeface="Microsoft YaHei"/>
              </a:rPr>
              <a:t>真实与虚假  </a:t>
            </a:r>
            <a:r>
              <a:rPr sz="2600" b="0">
                <a:solidFill>
                  <a:srgbClr val="5A606E"/>
                </a:solidFill>
                <a:latin typeface="Microsoft YaHei"/>
              </a:rPr>
              <a:t>《皇帝的新装》</a:t>
            </a:r>
          </a:p>
          <a:p>
            <a:pPr>
              <a:spcAft>
                <a:spcPts val="1600"/>
              </a:spcAft>
            </a:pPr>
            <a:r>
              <a:rPr sz="2600" b="1">
                <a:solidFill>
                  <a:srgbClr val="B4AAC4"/>
                </a:solidFill>
                <a:latin typeface="Microsoft YaHei"/>
              </a:rPr>
              <a:t>创造与生命  </a:t>
            </a:r>
            <a:r>
              <a:rPr sz="2600" b="0">
                <a:solidFill>
                  <a:srgbClr val="5A606E"/>
                </a:solidFill>
                <a:latin typeface="Microsoft YaHei"/>
              </a:rPr>
              <a:t>《女娲造人》</a:t>
            </a:r>
          </a:p>
          <a:p>
            <a:pPr>
              <a:spcAft>
                <a:spcPts val="1600"/>
              </a:spcAft>
            </a:pPr>
            <a:r>
              <a:rPr sz="2600" b="1">
                <a:solidFill>
                  <a:srgbClr val="B4AAC4"/>
                </a:solidFill>
                <a:latin typeface="Microsoft YaHei"/>
              </a:rPr>
              <a:t>智慧与局限  </a:t>
            </a:r>
            <a:r>
              <a:rPr sz="2600" b="0">
                <a:solidFill>
                  <a:srgbClr val="5A606E"/>
                </a:solidFill>
                <a:latin typeface="Microsoft YaHei"/>
              </a:rPr>
              <a:t>《寓言四则》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un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6C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66CDAA"/>
                </a:solidFill>
                <a:latin typeface="Microsoft YaHei"/>
              </a:rPr>
              <a:t>💭 想一想</a:t>
            </a:r>
          </a:p>
          <a:p>
            <a:pPr algn="ctr">
              <a:spcBef>
                <a:spcPts val="2000"/>
              </a:spcBef>
            </a:pPr>
            <a:r>
              <a:rPr sz="3400" b="1">
                <a:solidFill>
                  <a:srgbClr val="5A606E"/>
                </a:solidFill>
                <a:latin typeface="Microsoft YaHei"/>
              </a:rPr>
              <a:t>如果伞能说话、星星掉进教室……
这些离奇念头从哪来？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572000"/>
            <a:ext cx="9144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0">
                <a:solidFill>
                  <a:srgbClr val="66CDAA"/>
                </a:solidFill>
                <a:latin typeface="Microsoft YaHei"/>
              </a:rPr>
              <a:t>提示：从真实经验出发，联想与想象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un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A4B4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286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A4B4C4"/>
                </a:solidFill>
                <a:latin typeface="Microsoft YaHei"/>
              </a:rPr>
              <a:t>以生为主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8580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5A606E"/>
                </a:solidFill>
                <a:latin typeface="Microsoft YaHei"/>
              </a:rPr>
              <a:t>学习任务一 · 明确任务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91640"/>
            <a:ext cx="1024128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600"/>
              </a:spcAft>
            </a:pPr>
            <a:r>
              <a:rPr sz="2800" b="0">
                <a:solidFill>
                  <a:srgbClr val="5A606E"/>
                </a:solidFill>
                <a:latin typeface="Microsoft YaHei"/>
              </a:rPr>
              <a:t>阅读学历案，圈画挑战任务与学习目标</a:t>
            </a:r>
          </a:p>
          <a:p>
            <a:pPr>
              <a:spcAft>
                <a:spcPts val="1600"/>
              </a:spcAft>
            </a:pPr>
            <a:r>
              <a:rPr sz="2800" b="0">
                <a:solidFill>
                  <a:srgbClr val="5A606E"/>
                </a:solidFill>
                <a:latin typeface="Microsoft YaHei"/>
              </a:rPr>
              <a:t>同伴交流：说说你的策展想法</a:t>
            </a:r>
          </a:p>
          <a:p>
            <a:pPr>
              <a:spcAft>
                <a:spcPts val="1600"/>
              </a:spcAft>
            </a:pPr>
            <a:r>
              <a:rPr sz="2800" b="0">
                <a:solidFill>
                  <a:srgbClr val="5A606E"/>
                </a:solidFill>
                <a:latin typeface="Microsoft YaHei"/>
              </a:rPr>
              <a:t>填写：本单元文体？阅读方法？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un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286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D166"/>
                </a:solidFill>
                <a:latin typeface="Microsoft YaHei"/>
              </a:rPr>
              <a:t>快速阅读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8580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5A606E"/>
                </a:solidFill>
                <a:latin typeface="Microsoft YaHei"/>
              </a:rPr>
              <a:t>学习任务二 · 读得快也读得准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91640"/>
            <a:ext cx="1024128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600"/>
              </a:spcAft>
            </a:pPr>
            <a:r>
              <a:rPr sz="2800" b="0">
                <a:solidFill>
                  <a:srgbClr val="5A606E"/>
                </a:solidFill>
                <a:latin typeface="Microsoft YaHei"/>
              </a:rPr>
              <a:t>快速默读（不出声、不指读）</a:t>
            </a:r>
          </a:p>
          <a:p>
            <a:pPr>
              <a:spcAft>
                <a:spcPts val="1600"/>
              </a:spcAft>
            </a:pPr>
            <a:r>
              <a:rPr sz="2800" b="0">
                <a:solidFill>
                  <a:srgbClr val="5A606E"/>
                </a:solidFill>
                <a:latin typeface="Microsoft YaHei"/>
              </a:rPr>
              <a:t>段末停顿，用5—8字记录段意</a:t>
            </a:r>
          </a:p>
          <a:p>
            <a:pPr>
              <a:spcAft>
                <a:spcPts val="1600"/>
              </a:spcAft>
            </a:pPr>
            <a:r>
              <a:rPr sz="2800" b="0">
                <a:solidFill>
                  <a:srgbClr val="5A606E"/>
                </a:solidFill>
                <a:latin typeface="Microsoft YaHei"/>
              </a:rPr>
              <a:t>归纳复述三要素：人物、＿＿、＿＿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un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A4B4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A4B4C4"/>
                </a:solidFill>
                <a:latin typeface="Microsoft YaHei"/>
              </a:rPr>
              <a:t>💭 想一想</a:t>
            </a:r>
          </a:p>
          <a:p>
            <a:pPr algn="ctr">
              <a:spcBef>
                <a:spcPts val="2000"/>
              </a:spcBef>
            </a:pPr>
            <a:r>
              <a:rPr sz="3400" b="1">
                <a:solidFill>
                  <a:srgbClr val="5A606E"/>
                </a:solidFill>
                <a:latin typeface="Microsoft YaHei"/>
              </a:rPr>
              <a:t>同桌互评：你说清
人物、事件、结果了吗？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572000"/>
            <a:ext cx="9144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0">
                <a:solidFill>
                  <a:srgbClr val="A4B4C4"/>
                </a:solidFill>
                <a:latin typeface="Microsoft YaHei"/>
              </a:rPr>
              <a:t>每分钟阅读不少于400字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un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A4B4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286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A4B4C4"/>
                </a:solidFill>
                <a:latin typeface="Microsoft YaHei"/>
              </a:rPr>
              <a:t>回顾收获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8580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5A606E"/>
                </a:solidFill>
                <a:latin typeface="Microsoft YaHei"/>
              </a:rPr>
              <a:t>课堂小结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91640"/>
            <a:ext cx="1024128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600"/>
              </a:spcAft>
            </a:pPr>
            <a:r>
              <a:rPr sz="2800" b="0">
                <a:solidFill>
                  <a:srgbClr val="5A606E"/>
                </a:solidFill>
                <a:latin typeface="Microsoft YaHei"/>
              </a:rPr>
              <a:t>本单元学习重点：想象与真实</a:t>
            </a:r>
          </a:p>
          <a:p>
            <a:pPr>
              <a:spcAft>
                <a:spcPts val="1600"/>
              </a:spcAft>
            </a:pPr>
            <a:r>
              <a:rPr sz="2800" b="0">
                <a:solidFill>
                  <a:srgbClr val="5A606E"/>
                </a:solidFill>
                <a:latin typeface="Microsoft YaHei"/>
              </a:rPr>
              <a:t>四条策展主题：自由→真实→创造→智慧</a:t>
            </a:r>
          </a:p>
          <a:p>
            <a:pPr>
              <a:spcAft>
                <a:spcPts val="1600"/>
              </a:spcAft>
            </a:pPr>
            <a:r>
              <a:rPr sz="2800" b="0">
                <a:solidFill>
                  <a:srgbClr val="5A606E"/>
                </a:solidFill>
                <a:latin typeface="Microsoft YaHei"/>
              </a:rPr>
              <a:t>快速阅读：人物—事件—结果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un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B7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286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B799"/>
                </a:solidFill>
                <a:latin typeface="Microsoft YaHei"/>
              </a:rPr>
              <a:t>课后延伸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8580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5A606E"/>
                </a:solidFill>
                <a:latin typeface="Microsoft YaHei"/>
              </a:rPr>
              <a:t>作业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91640"/>
            <a:ext cx="1024128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600"/>
              </a:spcAft>
            </a:pPr>
            <a:r>
              <a:rPr sz="2600" b="1">
                <a:solidFill>
                  <a:srgbClr val="FFB799"/>
                </a:solidFill>
                <a:latin typeface="Microsoft YaHei"/>
              </a:rPr>
              <a:t>必做  </a:t>
            </a:r>
            <a:r>
              <a:rPr sz="2600" b="0">
                <a:solidFill>
                  <a:srgbClr val="5A606E"/>
                </a:solidFill>
                <a:latin typeface="Microsoft YaHei"/>
              </a:rPr>
              <a:t>预习一篇课文，写100字以内梗概</a:t>
            </a:r>
          </a:p>
          <a:p>
            <a:pPr>
              <a:spcAft>
                <a:spcPts val="1600"/>
              </a:spcAft>
            </a:pPr>
            <a:r>
              <a:rPr sz="2600" b="1">
                <a:solidFill>
                  <a:srgbClr val="FFB799"/>
                </a:solidFill>
                <a:latin typeface="Microsoft YaHei"/>
              </a:rPr>
              <a:t>选做  </a:t>
            </a:r>
            <a:r>
              <a:rPr sz="2600" b="0">
                <a:solidFill>
                  <a:srgbClr val="5A606E"/>
                </a:solidFill>
                <a:latin typeface="Microsoft YaHei"/>
              </a:rPr>
              <a:t>记录一个「如果……会怎样」的想象问题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