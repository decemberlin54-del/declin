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85900" y="1478280"/>
            <a:ext cx="921989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8780" y="1615440"/>
            <a:ext cx="8854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2F3E46"/>
                </a:solidFill>
                <a:latin typeface="Microsoft YaHei"/>
              </a:rPr>
              <a:t>神技背后的真实</a:t>
            </a:r>
          </a:p>
          <a:p>
            <a:pPr>
              <a:spcAft>
                <a:spcPts val="400"/>
              </a:spcAft>
            </a:pPr>
            <a:r>
              <a:rPr sz="2800" b="0">
                <a:solidFill>
                  <a:srgbClr val="6B9080"/>
                </a:solidFill>
                <a:latin typeface="Microsoft YaHei"/>
              </a:rPr>
              <a:t>自由边界与生命创造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F3E46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84A98C"/>
                </a:solidFill>
                <a:latin typeface="Microsoft YaHei"/>
              </a:rPr>
              <a:t>七年级上 · 第六单元 · 第1—2课时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E09F68"/>
                </a:solidFill>
                <a:latin typeface="Microsoft YaHei"/>
              </a:rPr>
              <a:t>想象力博物馆 · 想象与真实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74080"/>
            <a:ext cx="11048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5838D"/>
                </a:solidFill>
                <a:latin typeface="Microsoft YaHei"/>
              </a:rPr>
              <a:t>在奇思妙想中照见真实，在神技变化中读懂人心。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1048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6B9080"/>
                </a:solidFill>
                <a:latin typeface="Microsoft YaHei"/>
              </a:rPr>
              <a:t>你敢挑战吗？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203960"/>
            <a:ext cx="5410047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" y="1341120"/>
            <a:ext cx="5044287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6B9080"/>
                </a:solidFill>
                <a:latin typeface="Microsoft YaHei"/>
              </a:rPr>
              <a:t>【大任务】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举办「想象力博物馆」微展览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B5838D"/>
                </a:solidFill>
                <a:latin typeface="Microsoft YaHei"/>
              </a:rPr>
              <a:t>制作想象说明卡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147" y="1203960"/>
            <a:ext cx="5410047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93027" y="1341120"/>
            <a:ext cx="5044287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E09F68"/>
                </a:solidFill>
                <a:latin typeface="Microsoft YaHei"/>
              </a:rPr>
              <a:t>【母题链】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自由→真实→创造→智慧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974080"/>
            <a:ext cx="11048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5838D"/>
                </a:solidFill>
                <a:latin typeface="Microsoft YaHei"/>
              </a:rPr>
              <a:t>四种想象文体，一条「想象与真实」母题链。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1048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6B9080"/>
                </a:solidFill>
                <a:latin typeface="Microsoft YaHei"/>
              </a:rPr>
              <a:t>神技背后的真实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158240"/>
            <a:ext cx="5410047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" y="1295400"/>
            <a:ext cx="5044287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6B9080"/>
                </a:solidFill>
                <a:latin typeface="Microsoft YaHei"/>
              </a:rPr>
              <a:t>孙悟空：自由与规则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587B7C"/>
                </a:solidFill>
                <a:latin typeface="Microsoft YaHei"/>
              </a:rPr>
              <a:t>变土地庙为何露出尾巴？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B5838D"/>
                </a:solidFill>
                <a:latin typeface="Microsoft YaHei"/>
              </a:rPr>
              <a:t>神幻想象的物理约束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变形须遵循事物原型特征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147" y="1158240"/>
            <a:ext cx="5410047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93027" y="1295400"/>
            <a:ext cx="5044287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E09F68"/>
                </a:solidFill>
                <a:latin typeface="Microsoft YaHei"/>
              </a:rPr>
              <a:t>女娲：创造与温情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587B7C"/>
                </a:solidFill>
                <a:latin typeface="Microsoft YaHei"/>
              </a:rPr>
              <a:t>为何从「手捏」变成「挥泥」？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E09F68"/>
                </a:solidFill>
                <a:latin typeface="Microsoft YaHei"/>
              </a:rPr>
              <a:t>情感具象化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折射抚育子女的辛劳与大爱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974080"/>
            <a:ext cx="11048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5838D"/>
                </a:solidFill>
                <a:latin typeface="Microsoft YaHei"/>
              </a:rPr>
              <a:t>真正的想象，是现实逻辑与人类情感在奇幻世界里的投射。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1048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6B9080"/>
                </a:solidFill>
                <a:latin typeface="Microsoft YaHei"/>
              </a:rPr>
              <a:t>你将学会什么？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203960"/>
            <a:ext cx="11048695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8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" y="1341120"/>
            <a:ext cx="1068293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2F3E46"/>
                </a:solidFill>
                <a:latin typeface="Microsoft YaHei"/>
              </a:rPr>
              <a:t>· 快速默读：节点词+简洁句概括情节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2F3E46"/>
                </a:solidFill>
                <a:latin typeface="Microsoft YaHei"/>
              </a:rPr>
              <a:t>· 比较神魔、神话想象的依据与特点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B5838D"/>
                </a:solidFill>
                <a:latin typeface="Microsoft YaHei"/>
              </a:rPr>
              <a:t>· 证据—特点—作用 分析人物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974080"/>
            <a:ext cx="11048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5838D"/>
                </a:solidFill>
                <a:latin typeface="Microsoft YaHei"/>
              </a:rPr>
              <a:t>既读得进奇幻，也读得出真实。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1048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6B9080"/>
                </a:solidFill>
                <a:latin typeface="Microsoft YaHei"/>
              </a:rPr>
              <a:t>七十二变：自由与克制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29540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" y="14325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麻雀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94660" y="129540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77540" y="14325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鱼儿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17820" y="129540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00700" y="14325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庙宇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0980" y="129540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3860" y="14325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旗竿破绽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2667000"/>
            <a:ext cx="1104869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" y="2804160"/>
            <a:ext cx="106829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2F3E46"/>
                </a:solidFill>
                <a:latin typeface="Microsoft YaHei"/>
              </a:rPr>
              <a:t>变化再奇，也受相克规则制约——神魔皆有人情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974080"/>
            <a:ext cx="11048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5838D"/>
                </a:solidFill>
                <a:latin typeface="Microsoft YaHei"/>
              </a:rPr>
              <a:t>策展主题一：自由可贵，但须守规则。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1048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6B9080"/>
                </a:solidFill>
                <a:latin typeface="Microsoft YaHei"/>
              </a:rPr>
              <a:t>创世神话的温度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203960"/>
            <a:ext cx="5410047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" y="1341120"/>
            <a:ext cx="504428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2F3E46"/>
                </a:solidFill>
                <a:latin typeface="Microsoft YaHei"/>
              </a:rPr>
              <a:t>古籍：女娲抟黄土作人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147" y="1203960"/>
            <a:ext cx="5410047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93027" y="1341120"/>
            <a:ext cx="504428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2F3E46"/>
                </a:solidFill>
                <a:latin typeface="Microsoft YaHei"/>
              </a:rPr>
              <a:t>课文：孤独、喜悦、挥藤沾泥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E09F68"/>
                </a:solidFill>
                <a:latin typeface="Microsoft YaHei"/>
              </a:rPr>
              <a:t>神性与人性融合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974080"/>
            <a:ext cx="11048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5838D"/>
                </a:solidFill>
                <a:latin typeface="Microsoft YaHei"/>
              </a:rPr>
              <a:t>策展主题二：创造与生命。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1048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6B9080"/>
                </a:solidFill>
                <a:latin typeface="Microsoft YaHei"/>
              </a:rPr>
              <a:t>两种想象，两种面向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249680"/>
            <a:ext cx="11048695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8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" y="1386840"/>
            <a:ext cx="106829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2F3E46"/>
                </a:solidFill>
                <a:latin typeface="Microsoft YaHei"/>
              </a:rPr>
              <a:t>神魔小说：相克斗法 → 自由与规则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2F3E46"/>
                </a:solidFill>
                <a:latin typeface="Microsoft YaHei"/>
              </a:rPr>
              <a:t>神话改写：添情创造 → 创造与生命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84A98C"/>
                </a:solidFill>
                <a:latin typeface="Microsoft YaHei"/>
              </a:rPr>
              <a:t>同有想象，各有不同表达效果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974080"/>
            <a:ext cx="11048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5838D"/>
                </a:solidFill>
                <a:latin typeface="Microsoft YaHei"/>
              </a:rPr>
              <a:t>比较阅读，发现规律。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1048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6B9080"/>
                </a:solidFill>
                <a:latin typeface="Microsoft YaHei"/>
              </a:rPr>
              <a:t>怎么读想象类文本？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203960"/>
            <a:ext cx="11048695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8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" y="1341120"/>
            <a:ext cx="106829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B5838D"/>
                </a:solidFill>
                <a:latin typeface="Microsoft YaHei"/>
              </a:rPr>
              <a:t>默读三要素：谁 — 做什么 — 结果怎样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2575560"/>
            <a:ext cx="11048695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8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" y="2712720"/>
            <a:ext cx="106829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B5838D"/>
                </a:solidFill>
                <a:latin typeface="Microsoft YaHei"/>
              </a:rPr>
              <a:t>赏析三步：证据 — 特点 — 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974080"/>
            <a:ext cx="11048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5838D"/>
                </a:solidFill>
                <a:latin typeface="Microsoft YaHei"/>
              </a:rPr>
              <a:t>追问：它像现实中的什么？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1048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6B9080"/>
                </a:solidFill>
                <a:latin typeface="Microsoft YaHei"/>
              </a:rPr>
              <a:t>想象说明卡 · 初稿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203960"/>
            <a:ext cx="11048695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" y="1341120"/>
            <a:ext cx="106829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587B7C"/>
                </a:solidFill>
                <a:latin typeface="Microsoft YaHei"/>
              </a:rPr>
              <a:t>文本片段 → 想象依据 → 表现方式 → 现实意味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6B9080"/>
                </a:solidFill>
                <a:latin typeface="Microsoft YaHei"/>
              </a:rPr>
              <a:t>为展品写清：从哪来、怎样写、有何用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974080"/>
            <a:ext cx="11048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5838D"/>
                </a:solidFill>
                <a:latin typeface="Microsoft YaHei"/>
              </a:rPr>
              <a:t>为「想象力博物馆」策展，从阅读笔记开始。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1048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6B9080"/>
                </a:solidFill>
                <a:latin typeface="Microsoft YaHei"/>
              </a:rPr>
              <a:t>今日收获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203960"/>
            <a:ext cx="11048695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" y="1341120"/>
            <a:ext cx="1068293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2F3E46"/>
                </a:solidFill>
                <a:latin typeface="Microsoft YaHei"/>
              </a:rPr>
              <a:t>神魔想象重 自由与规则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2F3E46"/>
                </a:solidFill>
                <a:latin typeface="Microsoft YaHei"/>
              </a:rPr>
              <a:t>神话想象重 创造与生命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E09F68"/>
                </a:solidFill>
                <a:latin typeface="Microsoft YaHei"/>
              </a:rPr>
              <a:t>作业：用100字写课文梗概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974080"/>
            <a:ext cx="11048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5838D"/>
                </a:solidFill>
                <a:latin typeface="Microsoft YaHei"/>
              </a:rPr>
              <a:t>下节继续：童话里的真实与虚假。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