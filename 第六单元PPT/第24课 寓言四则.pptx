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274320"/>
            <a:ext cx="6400800" cy="6217920"/>
          </a:xfrm>
          <a:prstGeom prst="rect">
            <a:avLst/>
          </a:prstGeom>
          <a:solidFill>
            <a:srgbClr val="D8E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0" y="914400"/>
            <a:ext cx="4114800" cy="5029200"/>
          </a:xfrm>
          <a:prstGeom prst="rect">
            <a:avLst/>
          </a:prstGeom>
          <a:solidFill>
            <a:srgbClr val="E4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6858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5600" b="1">
                <a:solidFill>
                  <a:srgbClr val="1E1E1E"/>
                </a:solidFill>
                <a:latin typeface="KaiTi"/>
              </a:rPr>
              <a:t>寓言四则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371600"/>
            <a:ext cx="32004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3200" b="1">
                <a:solidFill>
                  <a:srgbClr val="1E1E1E"/>
                </a:solidFill>
                <a:latin typeface="KaiTi"/>
              </a:rPr>
              <a:t>短</a:t>
            </a:r>
          </a:p>
          <a:p>
            <a:pPr algn="ctr">
              <a:spcAft>
                <a:spcPts val="300"/>
              </a:spcAft>
            </a:pPr>
            <a:r>
              <a:rPr sz="3200" b="1">
                <a:solidFill>
                  <a:srgbClr val="1E1E1E"/>
                </a:solidFill>
                <a:latin typeface="KaiTi"/>
              </a:rPr>
              <a:t>故</a:t>
            </a:r>
          </a:p>
          <a:p>
            <a:pPr algn="ctr">
              <a:spcAft>
                <a:spcPts val="300"/>
              </a:spcAft>
            </a:pPr>
            <a:r>
              <a:rPr sz="3200" b="1">
                <a:solidFill>
                  <a:srgbClr val="1E1E1E"/>
                </a:solidFill>
                <a:latin typeface="KaiTi"/>
              </a:rPr>
              <a:t>事</a:t>
            </a:r>
          </a:p>
          <a:p>
            <a:pPr algn="ctr">
              <a:spcAft>
                <a:spcPts val="300"/>
              </a:spcAft>
            </a:pPr>
            <a:r>
              <a:rPr sz="800" b="0">
                <a:solidFill>
                  <a:srgbClr val="1E1E1E"/>
                </a:solidFill>
                <a:latin typeface="Microsoft YaHei"/>
              </a:rPr>
              <a:t/>
            </a:r>
          </a:p>
          <a:p>
            <a:pPr algn="ctr">
              <a:spcAft>
                <a:spcPts val="300"/>
              </a:spcAft>
            </a:pPr>
            <a:r>
              <a:rPr sz="3200" b="1">
                <a:solidFill>
                  <a:srgbClr val="C83C23"/>
                </a:solidFill>
                <a:latin typeface="KaiTi"/>
              </a:rPr>
              <a:t>大</a:t>
            </a:r>
          </a:p>
          <a:p>
            <a:pPr algn="ctr">
              <a:spcAft>
                <a:spcPts val="300"/>
              </a:spcAft>
            </a:pPr>
            <a:r>
              <a:rPr sz="3200" b="1">
                <a:solidFill>
                  <a:srgbClr val="C83C23"/>
                </a:solidFill>
                <a:latin typeface="KaiTi"/>
              </a:rPr>
              <a:t>镜</a:t>
            </a:r>
          </a:p>
          <a:p>
            <a:pPr algn="ctr">
              <a:spcAft>
                <a:spcPts val="300"/>
              </a:spcAft>
            </a:pPr>
            <a:r>
              <a:rPr sz="3200" b="1">
                <a:solidFill>
                  <a:srgbClr val="C83C23"/>
                </a:solidFill>
                <a:latin typeface="KaiTi"/>
              </a:rPr>
              <a:t>子</a:t>
            </a:r>
          </a:p>
          <a:p>
            <a:pPr algn="ctr">
              <a:spcAft>
                <a:spcPts val="300"/>
              </a:spcAft>
            </a:pPr>
            <a:r>
              <a:rPr sz="1000" b="0">
                <a:solidFill>
                  <a:srgbClr val="1E1E1E"/>
                </a:solidFill>
                <a:latin typeface="Microsoft YaHei"/>
              </a:rPr>
              <a:t/>
            </a:r>
          </a:p>
          <a:p>
            <a:pPr algn="ctr">
              <a:spcAft>
                <a:spcPts val="300"/>
              </a:spcAft>
            </a:pPr>
            <a:r>
              <a:rPr sz="1600" b="0">
                <a:solidFill>
                  <a:srgbClr val="5A6A62"/>
                </a:solidFill>
                <a:latin typeface="Microsoft YaHei"/>
              </a:rPr>
              <a:t>照见人心</a:t>
            </a:r>
          </a:p>
          <a:p>
            <a:pPr algn="ctr">
              <a:spcAft>
                <a:spcPts val="300"/>
              </a:spcAft>
            </a:pPr>
            <a:r>
              <a:rPr sz="1600" b="0">
                <a:solidFill>
                  <a:srgbClr val="5A6A62"/>
                </a:solidFill>
                <a:latin typeface="Microsoft YaHei"/>
              </a:rPr>
              <a:t>折射现实</a:t>
            </a:r>
          </a:p>
        </p:txBody>
      </p:sp>
      <p:sp>
        <p:nvSpPr>
          <p:cNvPr id="7" name="Rectangle 6"/>
          <p:cNvSpPr/>
          <p:nvPr/>
        </p:nvSpPr>
        <p:spPr>
          <a:xfrm>
            <a:off x="10789920" y="5303520"/>
            <a:ext cx="411480" cy="411480"/>
          </a:xfrm>
          <a:prstGeom prst="rect">
            <a:avLst/>
          </a:prstGeom>
          <a:noFill/>
          <a:ln w="25400">
            <a:solidFill>
              <a:srgbClr val="C83C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0" y="5303520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C83C23"/>
                </a:solidFill>
                <a:latin typeface="KaiTi"/>
              </a:rPr>
              <a:t>寓言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94360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4A7C6F"/>
                </a:solidFill>
                <a:latin typeface="Microsoft YaHei"/>
              </a:rPr>
              <a:t>课时六、七 · 短故事，大镜子</a:t>
            </a:r>
          </a:p>
        </p:txBody>
      </p:sp>
    </p:spTree>
  </p:cSld>
  <p:clrMapOvr>
    <a:masterClrMapping/>
  </p:clrMapOvr>
  <p:transition xmlns:p14="http://schemas.microsoft.com/office/powerpoint/2010/main" spd="med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30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0040"/>
            <a:ext cx="347472" cy="347472"/>
          </a:xfrm>
          <a:prstGeom prst="rect">
            <a:avLst/>
          </a:prstGeom>
          <a:noFill/>
          <a:ln w="25400">
            <a:solidFill>
              <a:srgbClr val="C83C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34747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C83C23"/>
                </a:solidFill>
                <a:latin typeface="KaiT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" y="320040"/>
            <a:ext cx="783009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E1E1E"/>
                </a:solidFill>
                <a:latin typeface="KaiTi"/>
              </a:rPr>
              <a:t>情境导入与课时目标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722376"/>
            <a:ext cx="11185855" cy="9144"/>
          </a:xfrm>
          <a:prstGeom prst="rect">
            <a:avLst/>
          </a:prstGeom>
          <a:solidFill>
            <a:srgbClr val="5A6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7512"/>
            <a:ext cx="11185855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A6A62"/>
                </a:solidFill>
                <a:latin typeface="Microsoft YaHei"/>
              </a:rPr>
              <a:t>～ ～ ～ ～ ～ ～ ～ ～ ～ ～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66928"/>
            <a:ext cx="5501487" cy="1417320"/>
          </a:xfrm>
          <a:prstGeom prst="rect">
            <a:avLst/>
          </a:prstGeom>
          <a:solidFill>
            <a:srgbClr val="F4F1EA"/>
          </a:solidFill>
          <a:ln w="19050">
            <a:solidFill>
              <a:srgbClr val="4A7C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66928"/>
            <a:ext cx="45720" cy="1417320"/>
          </a:xfrm>
          <a:prstGeom prst="rect">
            <a:avLst/>
          </a:prstGeom>
          <a:solidFill>
            <a:srgbClr val="4A7C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658368"/>
            <a:ext cx="5318607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83C23"/>
                </a:solidFill>
                <a:latin typeface="KaiTi"/>
              </a:rPr>
              <a:t>追问一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1E1E1E"/>
                </a:solidFill>
                <a:latin typeface="KaiTi"/>
              </a:rPr>
              <a:t>为什么《赫耳墨斯》中雕像者的一句话会让他难堪？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103120"/>
            <a:ext cx="5501487" cy="1417320"/>
          </a:xfrm>
          <a:prstGeom prst="rect">
            <a:avLst/>
          </a:prstGeom>
          <a:solidFill>
            <a:srgbClr val="E4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103120"/>
            <a:ext cx="45720" cy="1417320"/>
          </a:xfrm>
          <a:prstGeom prst="rect">
            <a:avLst/>
          </a:prstGeom>
          <a:solidFill>
            <a:srgbClr val="4A7C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" y="2194560"/>
            <a:ext cx="5318607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83C23"/>
                </a:solidFill>
                <a:latin typeface="KaiTi"/>
              </a:rPr>
              <a:t>追问二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1E1E1E"/>
                </a:solidFill>
                <a:latin typeface="KaiTi"/>
              </a:rPr>
              <a:t>为什么《穿井得一人》的一句话会在国都传开？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287" y="566928"/>
            <a:ext cx="5501487" cy="5029200"/>
          </a:xfrm>
          <a:prstGeom prst="rect">
            <a:avLst/>
          </a:prstGeom>
          <a:solidFill>
            <a:srgbClr val="F4F1EA"/>
          </a:solidFill>
          <a:ln w="19050">
            <a:solidFill>
              <a:srgbClr val="4A7C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7287" y="566928"/>
            <a:ext cx="45720" cy="5029200"/>
          </a:xfrm>
          <a:prstGeom prst="rect">
            <a:avLst/>
          </a:prstGeom>
          <a:solidFill>
            <a:srgbClr val="4A7C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5303" y="658368"/>
            <a:ext cx="5318607" cy="4892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4A7C6F"/>
                </a:solidFill>
                <a:latin typeface="KaiTi"/>
              </a:rPr>
              <a:t>课时目标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E1E1E"/>
                </a:solidFill>
                <a:latin typeface="Microsoft YaHei"/>
              </a:rPr>
              <a:t>1. 归纳寓言文体特点，理解各则寓意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E1E1E"/>
                </a:solidFill>
                <a:latin typeface="Microsoft YaHei"/>
              </a:rPr>
              <a:t>2. 疏通文言，积累重点词语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E1E1E"/>
                </a:solidFill>
                <a:latin typeface="Microsoft YaHei"/>
              </a:rPr>
              <a:t>3. 分析情节与寓意关系，探究多种理解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1E1E1E"/>
                </a:solidFill>
                <a:latin typeface="Microsoft YaHe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C83C23"/>
                </a:solidFill>
                <a:latin typeface="KaiTi"/>
              </a:rPr>
              <a:t>评价任务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E1E1E"/>
                </a:solidFill>
                <a:latin typeface="Microsoft YaHei"/>
              </a:rPr>
              <a:t>① 完成寓言档案卡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E1E1E"/>
                </a:solidFill>
                <a:latin typeface="Microsoft YaHei"/>
              </a:rPr>
              <a:t>② 翻译重点句，解释文言词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E1E1E"/>
                </a:solidFill>
                <a:latin typeface="Microsoft YaHei"/>
              </a:rPr>
              <a:t>③ 分析寓意，联系生活谈启示</a:t>
            </a:r>
          </a:p>
        </p:txBody>
      </p:sp>
    </p:spTree>
  </p:cSld>
  <p:clrMapOvr>
    <a:masterClrMapping/>
  </p:clrMapOvr>
  <p:transition xmlns:p14="http://schemas.microsoft.com/office/powerpoint/2010/main" spd="med" p14:dur="35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0040"/>
            <a:ext cx="347472" cy="347472"/>
          </a:xfrm>
          <a:prstGeom prst="rect">
            <a:avLst/>
          </a:prstGeom>
          <a:noFill/>
          <a:ln w="25400">
            <a:solidFill>
              <a:srgbClr val="C83C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34747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C83C23"/>
                </a:solidFill>
                <a:latin typeface="KaiT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" y="320040"/>
            <a:ext cx="783009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E1E1E"/>
                </a:solidFill>
                <a:latin typeface="KaiTi"/>
              </a:rPr>
              <a:t>寓言档案卡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722376"/>
            <a:ext cx="11185855" cy="9144"/>
          </a:xfrm>
          <a:prstGeom prst="rect">
            <a:avLst/>
          </a:prstGeom>
          <a:solidFill>
            <a:srgbClr val="5A6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7512"/>
            <a:ext cx="11185855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A6A62"/>
                </a:solidFill>
                <a:latin typeface="Microsoft YaHei"/>
              </a:rPr>
              <a:t>～ ～ ～ ～ ～ ～ ～ ～ ～ ～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94360"/>
            <a:ext cx="2739313" cy="5212080"/>
          </a:xfrm>
          <a:prstGeom prst="rect">
            <a:avLst/>
          </a:prstGeom>
          <a:solidFill>
            <a:srgbClr val="F4F1EA"/>
          </a:solidFill>
          <a:ln w="19050">
            <a:solidFill>
              <a:srgbClr val="4A7C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94360"/>
            <a:ext cx="45720" cy="5212080"/>
          </a:xfrm>
          <a:prstGeom prst="rect">
            <a:avLst/>
          </a:prstGeom>
          <a:solidFill>
            <a:srgbClr val="4A7C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685800"/>
            <a:ext cx="2556433" cy="5074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4A7C6F"/>
                </a:solidFill>
                <a:latin typeface="KaiTi"/>
              </a:rPr>
              <a:t>赫耳墨斯和雕像者</a:t>
            </a:r>
          </a:p>
          <a:p>
            <a:pPr algn="l">
              <a:spcAft>
                <a:spcPts val="300"/>
              </a:spcAft>
            </a:pPr>
            <a:r>
              <a:rPr sz="400" b="0">
                <a:solidFill>
                  <a:srgbClr val="1E1E1E"/>
                </a:solidFill>
                <a:latin typeface="Microsoft YaHe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C83C23"/>
                </a:solidFill>
                <a:latin typeface="KaiTi"/>
              </a:rPr>
              <a:t>人物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E1E1E"/>
                </a:solidFill>
                <a:latin typeface="Microsoft YaHei"/>
              </a:rPr>
              <a:t>赫耳墨斯、雕像者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C83C23"/>
                </a:solidFill>
                <a:latin typeface="KaiTi"/>
              </a:rPr>
              <a:t>情节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E1E1E"/>
                </a:solidFill>
                <a:latin typeface="Microsoft YaHei"/>
              </a:rPr>
              <a:t>问价自取其辱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C83C23"/>
                </a:solidFill>
                <a:latin typeface="KaiTi"/>
              </a:rPr>
              <a:t>寓意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1E1E1E"/>
                </a:solidFill>
                <a:latin typeface="KaiTi"/>
              </a:rPr>
              <a:t>讽刺妄自尊大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5385" y="594360"/>
            <a:ext cx="2739313" cy="5212080"/>
          </a:xfrm>
          <a:prstGeom prst="rect">
            <a:avLst/>
          </a:prstGeom>
          <a:solidFill>
            <a:srgbClr val="E4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15385" y="594360"/>
            <a:ext cx="45720" cy="5212080"/>
          </a:xfrm>
          <a:prstGeom prst="rect">
            <a:avLst/>
          </a:prstGeom>
          <a:solidFill>
            <a:srgbClr val="4A7C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43401" y="685800"/>
            <a:ext cx="2556433" cy="5074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4A7C6F"/>
                </a:solidFill>
                <a:latin typeface="KaiTi"/>
              </a:rPr>
              <a:t>蚊子和狮子</a:t>
            </a:r>
          </a:p>
          <a:p>
            <a:pPr algn="l">
              <a:spcAft>
                <a:spcPts val="300"/>
              </a:spcAft>
            </a:pPr>
            <a:r>
              <a:rPr sz="400" b="0">
                <a:solidFill>
                  <a:srgbClr val="1E1E1E"/>
                </a:solidFill>
                <a:latin typeface="Microsoft YaHe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C83C23"/>
                </a:solidFill>
                <a:latin typeface="KaiTi"/>
              </a:rPr>
              <a:t>人物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E1E1E"/>
                </a:solidFill>
                <a:latin typeface="Microsoft YaHei"/>
              </a:rPr>
              <a:t>蚊子、狮子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C83C23"/>
                </a:solidFill>
                <a:latin typeface="KaiTi"/>
              </a:rPr>
              <a:t>情节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E1E1E"/>
                </a:solidFill>
                <a:latin typeface="Microsoft YaHei"/>
              </a:rPr>
              <a:t>胜后被蛛网困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C83C23"/>
                </a:solidFill>
                <a:latin typeface="KaiTi"/>
              </a:rPr>
              <a:t>寓意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1E1E1E"/>
                </a:solidFill>
                <a:latin typeface="KaiTi"/>
              </a:rPr>
              <a:t>骄兵必败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7851" y="594360"/>
            <a:ext cx="2739313" cy="5212080"/>
          </a:xfrm>
          <a:prstGeom prst="rect">
            <a:avLst/>
          </a:prstGeom>
          <a:solidFill>
            <a:srgbClr val="F4F1EA"/>
          </a:solidFill>
          <a:ln w="19050">
            <a:solidFill>
              <a:srgbClr val="4A7C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7851" y="594360"/>
            <a:ext cx="45720" cy="5212080"/>
          </a:xfrm>
          <a:prstGeom prst="rect">
            <a:avLst/>
          </a:prstGeom>
          <a:solidFill>
            <a:srgbClr val="4A7C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55867" y="685800"/>
            <a:ext cx="2556433" cy="5074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4A7C6F"/>
                </a:solidFill>
                <a:latin typeface="KaiTi"/>
              </a:rPr>
              <a:t>穿井得一人</a:t>
            </a:r>
          </a:p>
          <a:p>
            <a:pPr algn="l">
              <a:spcAft>
                <a:spcPts val="300"/>
              </a:spcAft>
            </a:pPr>
            <a:r>
              <a:rPr sz="400" b="0">
                <a:solidFill>
                  <a:srgbClr val="1E1E1E"/>
                </a:solidFill>
                <a:latin typeface="Microsoft YaHe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C83C23"/>
                </a:solidFill>
                <a:latin typeface="KaiTi"/>
              </a:rPr>
              <a:t>人物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E1E1E"/>
                </a:solidFill>
                <a:latin typeface="Microsoft YaHei"/>
              </a:rPr>
              <a:t>丁氏、宋君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C83C23"/>
                </a:solidFill>
                <a:latin typeface="KaiTi"/>
              </a:rPr>
              <a:t>情节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E1E1E"/>
                </a:solidFill>
                <a:latin typeface="Microsoft YaHei"/>
              </a:rPr>
              <a:t>传言失真求证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C83C23"/>
                </a:solidFill>
                <a:latin typeface="KaiTi"/>
              </a:rPr>
              <a:t>寓意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1E1E1E"/>
                </a:solidFill>
                <a:latin typeface="KaiTi"/>
              </a:rPr>
              <a:t>以讹传讹须求证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40317" y="594360"/>
            <a:ext cx="2739313" cy="5212080"/>
          </a:xfrm>
          <a:prstGeom prst="rect">
            <a:avLst/>
          </a:prstGeom>
          <a:solidFill>
            <a:srgbClr val="E4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40317" y="594360"/>
            <a:ext cx="45720" cy="5212080"/>
          </a:xfrm>
          <a:prstGeom prst="rect">
            <a:avLst/>
          </a:prstGeom>
          <a:solidFill>
            <a:srgbClr val="4A7C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68333" y="685800"/>
            <a:ext cx="2556433" cy="5074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4A7C6F"/>
                </a:solidFill>
                <a:latin typeface="KaiTi"/>
              </a:rPr>
              <a:t>杞人忧天</a:t>
            </a:r>
          </a:p>
          <a:p>
            <a:pPr algn="l">
              <a:spcAft>
                <a:spcPts val="300"/>
              </a:spcAft>
            </a:pPr>
            <a:r>
              <a:rPr sz="400" b="0">
                <a:solidFill>
                  <a:srgbClr val="1E1E1E"/>
                </a:solidFill>
                <a:latin typeface="Microsoft YaHe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C83C23"/>
                </a:solidFill>
                <a:latin typeface="KaiTi"/>
              </a:rPr>
              <a:t>人物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E1E1E"/>
                </a:solidFill>
                <a:latin typeface="Microsoft YaHei"/>
              </a:rPr>
              <a:t>杞人、晓之者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C83C23"/>
                </a:solidFill>
                <a:latin typeface="KaiTi"/>
              </a:rPr>
              <a:t>情节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E1E1E"/>
                </a:solidFill>
                <a:latin typeface="Microsoft YaHei"/>
              </a:rPr>
              <a:t>忧天被开导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C83C23"/>
                </a:solidFill>
                <a:latin typeface="KaiTi"/>
              </a:rPr>
              <a:t>寓意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1E1E1E"/>
                </a:solidFill>
                <a:latin typeface="KaiTi"/>
              </a:rPr>
              <a:t>不必杞人忧天</a:t>
            </a:r>
          </a:p>
        </p:txBody>
      </p:sp>
    </p:spTree>
  </p:cSld>
  <p:clrMapOvr>
    <a:masterClrMapping/>
  </p:clrMapOvr>
  <p:transition xmlns:p14="http://schemas.microsoft.com/office/powerpoint/2010/main" spd="med" p14:dur="35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1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1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2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2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2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31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0040"/>
            <a:ext cx="347472" cy="347472"/>
          </a:xfrm>
          <a:prstGeom prst="rect">
            <a:avLst/>
          </a:prstGeom>
          <a:noFill/>
          <a:ln w="25400">
            <a:solidFill>
              <a:srgbClr val="C83C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34747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C83C23"/>
                </a:solidFill>
                <a:latin typeface="KaiT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" y="320040"/>
            <a:ext cx="783009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E1E1E"/>
                </a:solidFill>
                <a:latin typeface="KaiTi"/>
              </a:rPr>
              <a:t>寓言文体特点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722376"/>
            <a:ext cx="11185855" cy="9144"/>
          </a:xfrm>
          <a:prstGeom prst="rect">
            <a:avLst/>
          </a:prstGeom>
          <a:solidFill>
            <a:srgbClr val="5A6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7512"/>
            <a:ext cx="11185855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A6A62"/>
                </a:solidFill>
                <a:latin typeface="Microsoft YaHei"/>
              </a:rPr>
              <a:t>～ ～ ～ ～ ～ ～ ～ ～ ～ ～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85800"/>
            <a:ext cx="2606040" cy="2011680"/>
          </a:xfrm>
          <a:prstGeom prst="rect">
            <a:avLst/>
          </a:prstGeom>
          <a:solidFill>
            <a:srgbClr val="E4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685800"/>
            <a:ext cx="45720" cy="2011680"/>
          </a:xfrm>
          <a:prstGeom prst="rect">
            <a:avLst/>
          </a:prstGeom>
          <a:solidFill>
            <a:srgbClr val="4A7C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868680"/>
            <a:ext cx="24231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4A7C6F"/>
                </a:solidFill>
                <a:latin typeface="KaiTi"/>
              </a:rPr>
              <a:t>篇幅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1E1E1E"/>
                </a:solidFill>
                <a:latin typeface="Microsoft YaHei"/>
              </a:rPr>
              <a:t>短小精悍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371600"/>
            <a:ext cx="182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4A7C6F"/>
                </a:solidFill>
                <a:latin typeface="KaiT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685800"/>
            <a:ext cx="2606040" cy="201168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46120" y="685800"/>
            <a:ext cx="45720" cy="2011680"/>
          </a:xfrm>
          <a:prstGeom prst="rect">
            <a:avLst/>
          </a:prstGeom>
          <a:solidFill>
            <a:srgbClr val="4A7C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5848" y="868680"/>
            <a:ext cx="24231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4A7C6F"/>
                </a:solidFill>
                <a:latin typeface="KaiTi"/>
              </a:rPr>
              <a:t>人物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1E1E1E"/>
                </a:solidFill>
                <a:latin typeface="Microsoft YaHei"/>
              </a:rPr>
              <a:t>典型鲜明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371600"/>
            <a:ext cx="182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4A7C6F"/>
                </a:solidFill>
                <a:latin typeface="KaiT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89320" y="685800"/>
            <a:ext cx="2606040" cy="2011680"/>
          </a:xfrm>
          <a:prstGeom prst="rect">
            <a:avLst/>
          </a:prstGeom>
          <a:solidFill>
            <a:srgbClr val="E4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89320" y="685800"/>
            <a:ext cx="45720" cy="2011680"/>
          </a:xfrm>
          <a:prstGeom prst="rect">
            <a:avLst/>
          </a:prstGeom>
          <a:solidFill>
            <a:srgbClr val="4A7C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9048" y="868680"/>
            <a:ext cx="24231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4A7C6F"/>
                </a:solidFill>
                <a:latin typeface="KaiTi"/>
              </a:rPr>
              <a:t>写法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1E1E1E"/>
                </a:solidFill>
                <a:latin typeface="Microsoft YaHei"/>
              </a:rPr>
              <a:t>拟人 · 夸张 · 反转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32520" y="685800"/>
            <a:ext cx="2606040" cy="2011680"/>
          </a:xfrm>
          <a:prstGeom prst="rect">
            <a:avLst/>
          </a:prstGeom>
          <a:solidFill>
            <a:srgbClr val="C83C23"/>
          </a:solidFill>
          <a:ln w="19050">
            <a:solidFill>
              <a:srgbClr val="C83C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42248" y="868680"/>
            <a:ext cx="24231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83C23"/>
                </a:solidFill>
                <a:latin typeface="KaiTi"/>
              </a:rPr>
              <a:t>作用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1E1E1E"/>
                </a:solidFill>
                <a:latin typeface="KaiTi"/>
              </a:rPr>
              <a:t>寄寓道理 · 警醒世人</a:t>
            </a:r>
          </a:p>
        </p:txBody>
      </p:sp>
    </p:spTree>
  </p:cSld>
  <p:clrMapOvr>
    <a:masterClrMapping/>
  </p:clrMapOvr>
  <p:transition xmlns:p14="http://schemas.microsoft.com/office/powerpoint/2010/main" spd="med" p14:dur="35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0040"/>
            <a:ext cx="347472" cy="347472"/>
          </a:xfrm>
          <a:prstGeom prst="rect">
            <a:avLst/>
          </a:prstGeom>
          <a:noFill/>
          <a:ln w="25400">
            <a:solidFill>
              <a:srgbClr val="C83C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34747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C83C23"/>
                </a:solidFill>
                <a:latin typeface="KaiT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" y="320040"/>
            <a:ext cx="783009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E1E1E"/>
                </a:solidFill>
                <a:latin typeface="KaiTi"/>
              </a:rPr>
              <a:t>读懂寓意与改写探究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722376"/>
            <a:ext cx="11185855" cy="9144"/>
          </a:xfrm>
          <a:prstGeom prst="rect">
            <a:avLst/>
          </a:prstGeom>
          <a:solidFill>
            <a:srgbClr val="5A6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7512"/>
            <a:ext cx="11185855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A6A62"/>
                </a:solidFill>
                <a:latin typeface="Microsoft YaHei"/>
              </a:rPr>
              <a:t>～ ～ ～ ～ ～ ～ ～ ～ ～ ～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94360"/>
            <a:ext cx="11185855" cy="2331720"/>
          </a:xfrm>
          <a:prstGeom prst="rect">
            <a:avLst/>
          </a:prstGeom>
          <a:solidFill>
            <a:srgbClr val="E4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94360"/>
            <a:ext cx="45720" cy="2331720"/>
          </a:xfrm>
          <a:prstGeom prst="rect">
            <a:avLst/>
          </a:prstGeom>
          <a:solidFill>
            <a:srgbClr val="4A7C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685800"/>
            <a:ext cx="11002975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4A7C6F"/>
                </a:solidFill>
                <a:latin typeface="KaiTi"/>
              </a:rPr>
              <a:t>情节 → 寓意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E1E1E"/>
                </a:solidFill>
                <a:latin typeface="Microsoft YaHei"/>
              </a:rPr>
              <a:t>赫耳墨斯：「白送」→ 讽刺自高自大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E1E1E"/>
                </a:solidFill>
                <a:latin typeface="Microsoft YaHei"/>
              </a:rPr>
              <a:t>蚊子：凯歌后被粘 → 骄兵必败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E1E1E"/>
                </a:solidFill>
                <a:latin typeface="Microsoft YaHei"/>
              </a:rPr>
              <a:t>丁氏：澄清误会 → 勿以讹传讹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154680"/>
            <a:ext cx="11185855" cy="2606040"/>
          </a:xfrm>
          <a:prstGeom prst="rect">
            <a:avLst/>
          </a:prstGeom>
          <a:solidFill>
            <a:srgbClr val="C83C23"/>
          </a:solidFill>
          <a:ln w="19050">
            <a:solidFill>
              <a:srgbClr val="C83C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54680"/>
            <a:ext cx="54864" cy="2606040"/>
          </a:xfrm>
          <a:prstGeom prst="rect">
            <a:avLst/>
          </a:prstGeom>
          <a:solidFill>
            <a:srgbClr val="C83C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337560"/>
            <a:ext cx="108658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C83C23"/>
                </a:solidFill>
                <a:latin typeface="KaiTi"/>
              </a:rPr>
              <a:t>改写探究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1E1E1E"/>
                </a:solidFill>
                <a:latin typeface="KaiTi"/>
              </a:rPr>
              <a:t>若蚊子战胜后悄悄离开……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1E1E1E"/>
                </a:solidFill>
                <a:latin typeface="Microsoft YaHei"/>
              </a:rPr>
              <a:t>寓意或变为「懂得适可而止」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4A7C6F"/>
                </a:solidFill>
                <a:latin typeface="KaiTi"/>
              </a:rPr>
              <a:t>说明：寓意与情节设计密切相关</a:t>
            </a:r>
          </a:p>
        </p:txBody>
      </p:sp>
    </p:spTree>
  </p:cSld>
  <p:clrMapOvr>
    <a:masterClrMapping/>
  </p:clrMapOvr>
  <p:transition xmlns:p14="http://schemas.microsoft.com/office/powerpoint/2010/main" spd="med" p14:dur="35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ly(fromBottom)">
                                      <p:cBhvr>
                                        <p:cTn id="14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ly(fromBottom)">
                                      <p:cBhvr>
                                        <p:cTn id="17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ly(fromBottom)">
                                      <p:cBhvr>
                                        <p:cTn id="2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0040"/>
            <a:ext cx="347472" cy="347472"/>
          </a:xfrm>
          <a:prstGeom prst="rect">
            <a:avLst/>
          </a:prstGeom>
          <a:noFill/>
          <a:ln w="25400">
            <a:solidFill>
              <a:srgbClr val="C83C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34747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C83C23"/>
                </a:solidFill>
                <a:latin typeface="KaiT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" y="320040"/>
            <a:ext cx="783009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E1E1E"/>
                </a:solidFill>
                <a:latin typeface="KaiTi"/>
              </a:rPr>
              <a:t>联系生活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722376"/>
            <a:ext cx="11185855" cy="9144"/>
          </a:xfrm>
          <a:prstGeom prst="rect">
            <a:avLst/>
          </a:prstGeom>
          <a:solidFill>
            <a:srgbClr val="5A6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7512"/>
            <a:ext cx="11185855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A6A62"/>
                </a:solidFill>
                <a:latin typeface="Microsoft YaHei"/>
              </a:rPr>
              <a:t>～ ～ ～ ～ ～ ～ ～ ～ ～ ～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94360"/>
            <a:ext cx="3652418" cy="5029200"/>
          </a:xfrm>
          <a:prstGeom prst="rect">
            <a:avLst/>
          </a:prstGeom>
          <a:solidFill>
            <a:srgbClr val="F4F1EA"/>
          </a:solidFill>
          <a:ln w="19050">
            <a:solidFill>
              <a:srgbClr val="4A7C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94360"/>
            <a:ext cx="45720" cy="5029200"/>
          </a:xfrm>
          <a:prstGeom prst="rect">
            <a:avLst/>
          </a:prstGeom>
          <a:solidFill>
            <a:srgbClr val="4A7C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685800"/>
            <a:ext cx="3469538" cy="4892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C83C23"/>
                </a:solidFill>
                <a:latin typeface="KaiTi"/>
              </a:rPr>
              <a:t>①</a:t>
            </a:r>
          </a:p>
          <a:p>
            <a:pPr algn="l">
              <a:spcAft>
                <a:spcPts val="300"/>
              </a:spcAft>
            </a:pPr>
            <a:r>
              <a:rPr sz="600" b="0">
                <a:solidFill>
                  <a:srgbClr val="1E1E1E"/>
                </a:solidFill>
                <a:latin typeface="Microsoft YaHe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1E1E1E"/>
                </a:solidFill>
                <a:latin typeface="KaiTi"/>
              </a:rPr>
              <a:t>未经核实转发消息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1E1E1E"/>
                </a:solidFill>
                <a:latin typeface="Microsoft YaHe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4A7C6F"/>
                </a:solidFill>
                <a:latin typeface="KaiTi"/>
              </a:rPr>
              <a:t>对位寓言</a:t>
            </a:r>
          </a:p>
          <a:p>
            <a:pPr algn="l">
              <a:spcAft>
                <a:spcPts val="300"/>
              </a:spcAft>
            </a:pPr>
            <a:r>
              <a:rPr sz="1800" b="1">
                <a:solidFill>
                  <a:srgbClr val="C83C23"/>
                </a:solidFill>
                <a:latin typeface="KaiTi"/>
              </a:rPr>
              <a:t>《穿井得一人》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65066" y="594360"/>
            <a:ext cx="3652418" cy="5029200"/>
          </a:xfrm>
          <a:prstGeom prst="rect">
            <a:avLst/>
          </a:prstGeom>
          <a:solidFill>
            <a:srgbClr val="E4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65066" y="594360"/>
            <a:ext cx="45720" cy="5029200"/>
          </a:xfrm>
          <a:prstGeom prst="rect">
            <a:avLst/>
          </a:prstGeom>
          <a:solidFill>
            <a:srgbClr val="4A7C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93082" y="685800"/>
            <a:ext cx="3469538" cy="4892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C83C23"/>
                </a:solidFill>
                <a:latin typeface="KaiTi"/>
              </a:rPr>
              <a:t>②</a:t>
            </a:r>
          </a:p>
          <a:p>
            <a:pPr algn="l">
              <a:spcAft>
                <a:spcPts val="300"/>
              </a:spcAft>
            </a:pPr>
            <a:r>
              <a:rPr sz="600" b="0">
                <a:solidFill>
                  <a:srgbClr val="1E1E1E"/>
                </a:solidFill>
                <a:latin typeface="Microsoft YaHe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1E1E1E"/>
                </a:solidFill>
                <a:latin typeface="KaiTi"/>
              </a:rPr>
              <a:t>成绩好看不起同学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1E1E1E"/>
                </a:solidFill>
                <a:latin typeface="Microsoft YaHe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4A7C6F"/>
                </a:solidFill>
                <a:latin typeface="KaiTi"/>
              </a:rPr>
              <a:t>对位寓言</a:t>
            </a:r>
          </a:p>
          <a:p>
            <a:pPr algn="l">
              <a:spcAft>
                <a:spcPts val="300"/>
              </a:spcAft>
            </a:pPr>
            <a:r>
              <a:rPr sz="1800" b="1">
                <a:solidFill>
                  <a:srgbClr val="C83C23"/>
                </a:solidFill>
                <a:latin typeface="KaiTi"/>
              </a:rPr>
              <a:t>《赫耳墨斯》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27212" y="594360"/>
            <a:ext cx="3652418" cy="5029200"/>
          </a:xfrm>
          <a:prstGeom prst="rect">
            <a:avLst/>
          </a:prstGeom>
          <a:solidFill>
            <a:srgbClr val="F4F1EA"/>
          </a:solidFill>
          <a:ln w="19050">
            <a:solidFill>
              <a:srgbClr val="4A7C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27212" y="594360"/>
            <a:ext cx="45720" cy="5029200"/>
          </a:xfrm>
          <a:prstGeom prst="rect">
            <a:avLst/>
          </a:prstGeom>
          <a:solidFill>
            <a:srgbClr val="4A7C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5228" y="685800"/>
            <a:ext cx="3469538" cy="4892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C83C23"/>
                </a:solidFill>
                <a:latin typeface="KaiTi"/>
              </a:rPr>
              <a:t>③</a:t>
            </a:r>
          </a:p>
          <a:p>
            <a:pPr algn="l">
              <a:spcAft>
                <a:spcPts val="300"/>
              </a:spcAft>
            </a:pPr>
            <a:r>
              <a:rPr sz="600" b="0">
                <a:solidFill>
                  <a:srgbClr val="1E1E1E"/>
                </a:solidFill>
                <a:latin typeface="Microsoft YaHe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1E1E1E"/>
                </a:solidFill>
                <a:latin typeface="KaiTi"/>
              </a:rPr>
              <a:t>听到风声就焦虑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1E1E1E"/>
                </a:solidFill>
                <a:latin typeface="Microsoft YaHe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4A7C6F"/>
                </a:solidFill>
                <a:latin typeface="KaiTi"/>
              </a:rPr>
              <a:t>对位寓言</a:t>
            </a:r>
          </a:p>
          <a:p>
            <a:pPr algn="l">
              <a:spcAft>
                <a:spcPts val="300"/>
              </a:spcAft>
            </a:pPr>
            <a:r>
              <a:rPr sz="1800" b="1">
                <a:solidFill>
                  <a:srgbClr val="C83C23"/>
                </a:solidFill>
                <a:latin typeface="KaiTi"/>
              </a:rPr>
              <a:t>《杞人忧天》</a:t>
            </a:r>
          </a:p>
        </p:txBody>
      </p:sp>
    </p:spTree>
  </p:cSld>
  <p:clrMapOvr>
    <a:masterClrMapping/>
  </p:clrMapOvr>
  <p:transition xmlns:p14="http://schemas.microsoft.com/office/powerpoint/2010/main" spd="med" p14:dur="35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0040"/>
            <a:ext cx="347472" cy="347472"/>
          </a:xfrm>
          <a:prstGeom prst="rect">
            <a:avLst/>
          </a:prstGeom>
          <a:noFill/>
          <a:ln w="25400">
            <a:solidFill>
              <a:srgbClr val="C83C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34747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C83C23"/>
                </a:solidFill>
                <a:latin typeface="KaiT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" y="320040"/>
            <a:ext cx="783009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E1E1E"/>
                </a:solidFill>
                <a:latin typeface="KaiTi"/>
              </a:rPr>
              <a:t>通文言，积词语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722376"/>
            <a:ext cx="11185855" cy="9144"/>
          </a:xfrm>
          <a:prstGeom prst="rect">
            <a:avLst/>
          </a:prstGeom>
          <a:solidFill>
            <a:srgbClr val="5A6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7512"/>
            <a:ext cx="11185855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A6A62"/>
                </a:solidFill>
                <a:latin typeface="Microsoft YaHei"/>
              </a:rPr>
              <a:t>～ ～ ～ ～ ～ ～ ～ ～ ～ ～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94360"/>
            <a:ext cx="4389120" cy="658368"/>
          </a:xfrm>
          <a:prstGeom prst="rect">
            <a:avLst/>
          </a:prstGeom>
          <a:solidFill>
            <a:srgbClr val="F4F1EA"/>
          </a:solidFill>
          <a:ln w="19050">
            <a:solidFill>
              <a:srgbClr val="4A7C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94360"/>
            <a:ext cx="45720" cy="658368"/>
          </a:xfrm>
          <a:prstGeom prst="rect">
            <a:avLst/>
          </a:prstGeom>
          <a:solidFill>
            <a:srgbClr val="4A7C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85800"/>
            <a:ext cx="4114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E1E1E"/>
                </a:solidFill>
                <a:latin typeface="KaiTi"/>
              </a:rPr>
              <a:t>闻：听说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44168"/>
            <a:ext cx="4389120" cy="658368"/>
          </a:xfrm>
          <a:prstGeom prst="rect">
            <a:avLst/>
          </a:prstGeom>
          <a:solidFill>
            <a:srgbClr val="F4F1EA"/>
          </a:solidFill>
          <a:ln w="19050">
            <a:solidFill>
              <a:srgbClr val="4A7C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344168"/>
            <a:ext cx="45720" cy="658368"/>
          </a:xfrm>
          <a:prstGeom prst="rect">
            <a:avLst/>
          </a:prstGeom>
          <a:solidFill>
            <a:srgbClr val="4A7C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435608"/>
            <a:ext cx="4114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E1E1E"/>
                </a:solidFill>
                <a:latin typeface="KaiTi"/>
              </a:rPr>
              <a:t>道：讲述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093976"/>
            <a:ext cx="4389120" cy="658368"/>
          </a:xfrm>
          <a:prstGeom prst="rect">
            <a:avLst/>
          </a:prstGeom>
          <a:solidFill>
            <a:srgbClr val="F4F1EA"/>
          </a:solidFill>
          <a:ln w="19050">
            <a:solidFill>
              <a:srgbClr val="4A7C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093976"/>
            <a:ext cx="45720" cy="658368"/>
          </a:xfrm>
          <a:prstGeom prst="rect">
            <a:avLst/>
          </a:prstGeom>
          <a:solidFill>
            <a:srgbClr val="4A7C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185416"/>
            <a:ext cx="4114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E1E1E"/>
                </a:solidFill>
                <a:latin typeface="KaiTi"/>
              </a:rPr>
              <a:t>亡：同「无」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43784"/>
            <a:ext cx="4389120" cy="658368"/>
          </a:xfrm>
          <a:prstGeom prst="rect">
            <a:avLst/>
          </a:prstGeom>
          <a:solidFill>
            <a:srgbClr val="F4F1EA"/>
          </a:solidFill>
          <a:ln w="19050">
            <a:solidFill>
              <a:srgbClr val="4A7C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843784"/>
            <a:ext cx="45720" cy="658368"/>
          </a:xfrm>
          <a:prstGeom prst="rect">
            <a:avLst/>
          </a:prstGeom>
          <a:solidFill>
            <a:srgbClr val="4A7C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935224"/>
            <a:ext cx="4114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E1E1E"/>
                </a:solidFill>
                <a:latin typeface="KaiTi"/>
              </a:rPr>
              <a:t>晓：开导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593592"/>
            <a:ext cx="4389120" cy="658368"/>
          </a:xfrm>
          <a:prstGeom prst="rect">
            <a:avLst/>
          </a:prstGeom>
          <a:solidFill>
            <a:srgbClr val="F4F1EA"/>
          </a:solidFill>
          <a:ln w="19050">
            <a:solidFill>
              <a:srgbClr val="4A7C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593592"/>
            <a:ext cx="45720" cy="658368"/>
          </a:xfrm>
          <a:prstGeom prst="rect">
            <a:avLst/>
          </a:prstGeom>
          <a:solidFill>
            <a:srgbClr val="4A7C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685032"/>
            <a:ext cx="4114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E1E1E"/>
                </a:solidFill>
                <a:latin typeface="KaiTi"/>
              </a:rPr>
              <a:t>舍然：释然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57800" y="594360"/>
            <a:ext cx="6217920" cy="1234440"/>
          </a:xfrm>
          <a:prstGeom prst="rect">
            <a:avLst/>
          </a:prstGeom>
          <a:solidFill>
            <a:srgbClr val="E4EDE8"/>
          </a:solidFill>
          <a:ln w="19050">
            <a:solidFill>
              <a:srgbClr val="4A7C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60" y="731520"/>
            <a:ext cx="59436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E1E1E"/>
                </a:solidFill>
                <a:latin typeface="Microsoft YaHei"/>
              </a:rPr>
              <a:t>（1）得一人之使，非得一人于井中也。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57800" y="1920240"/>
            <a:ext cx="6217920" cy="1234440"/>
          </a:xfrm>
          <a:prstGeom prst="rect">
            <a:avLst/>
          </a:prstGeom>
          <a:solidFill>
            <a:srgbClr val="E4EDE8"/>
          </a:solidFill>
          <a:ln w="19050">
            <a:solidFill>
              <a:srgbClr val="4A7C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94960" y="2057400"/>
            <a:ext cx="59436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E1E1E"/>
                </a:solidFill>
                <a:latin typeface="Microsoft YaHei"/>
              </a:rPr>
              <a:t>（2）求闻之若此，不若无闻也。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57800" y="3246120"/>
            <a:ext cx="6217920" cy="1234440"/>
          </a:xfrm>
          <a:prstGeom prst="rect">
            <a:avLst/>
          </a:prstGeom>
          <a:solidFill>
            <a:srgbClr val="E4EDE8"/>
          </a:solidFill>
          <a:ln w="19050">
            <a:solidFill>
              <a:srgbClr val="4A7C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94960" y="3383280"/>
            <a:ext cx="59436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E1E1E"/>
                </a:solidFill>
                <a:latin typeface="Microsoft YaHei"/>
              </a:rPr>
              <a:t>（3）若屈伸呼吸，终日在天中行止，奈何忧崩坠乎？</a:t>
            </a:r>
          </a:p>
        </p:txBody>
      </p:sp>
    </p:spTree>
  </p:cSld>
  <p:clrMapOvr>
    <a:masterClrMapping/>
  </p:clrMapOvr>
  <p:transition xmlns:p14="http://schemas.microsoft.com/office/powerpoint/2010/main" spd="med" p14:dur="35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5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5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5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6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6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0040"/>
            <a:ext cx="347472" cy="347472"/>
          </a:xfrm>
          <a:prstGeom prst="rect">
            <a:avLst/>
          </a:prstGeom>
          <a:noFill/>
          <a:ln w="25400">
            <a:solidFill>
              <a:srgbClr val="C83C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34747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C83C23"/>
                </a:solidFill>
                <a:latin typeface="KaiT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" y="320040"/>
            <a:ext cx="783009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E1E1E"/>
                </a:solidFill>
                <a:latin typeface="KaiTi"/>
              </a:rPr>
              <a:t>「杞人忧天」的多视角解读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722376"/>
            <a:ext cx="11185855" cy="9144"/>
          </a:xfrm>
          <a:prstGeom prst="rect">
            <a:avLst/>
          </a:prstGeom>
          <a:solidFill>
            <a:srgbClr val="5A6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7512"/>
            <a:ext cx="11185855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A6A62"/>
                </a:solidFill>
                <a:latin typeface="Microsoft YaHei"/>
              </a:rPr>
              <a:t>～ ～ ～ ～ ～ ～ ～ ～ ～ ～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94360"/>
            <a:ext cx="5501487" cy="5120640"/>
          </a:xfrm>
          <a:prstGeom prst="rect">
            <a:avLst/>
          </a:prstGeom>
          <a:solidFill>
            <a:srgbClr val="E4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94360"/>
            <a:ext cx="45720" cy="5120640"/>
          </a:xfrm>
          <a:prstGeom prst="rect">
            <a:avLst/>
          </a:prstGeom>
          <a:solidFill>
            <a:srgbClr val="4A7C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685800"/>
            <a:ext cx="5318607" cy="4983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4A7C6F"/>
                </a:solidFill>
                <a:latin typeface="KaiTi"/>
              </a:rPr>
              <a:t>视角 A · 讽刺不必要的杞忧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E1E1E"/>
                </a:solidFill>
                <a:latin typeface="Microsoft YaHei"/>
              </a:rPr>
              <a:t>依据：「废寝食者」「奈何忧崩坠乎」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1E1E1E"/>
                </a:solidFill>
                <a:latin typeface="KaiTi"/>
              </a:rPr>
              <a:t>启示：遇事应实事求是，勿凭空忧虑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7287" y="594360"/>
            <a:ext cx="5501487" cy="5120640"/>
          </a:xfrm>
          <a:prstGeom prst="rect">
            <a:avLst/>
          </a:prstGeom>
          <a:solidFill>
            <a:srgbClr val="F4F1EA"/>
          </a:solidFill>
          <a:ln w="19050">
            <a:solidFill>
              <a:srgbClr val="4A7C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7287" y="594360"/>
            <a:ext cx="45720" cy="5120640"/>
          </a:xfrm>
          <a:prstGeom prst="rect">
            <a:avLst/>
          </a:prstGeom>
          <a:solidFill>
            <a:srgbClr val="4A7C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15303" y="685800"/>
            <a:ext cx="5318607" cy="4983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C83C23"/>
                </a:solidFill>
                <a:latin typeface="KaiTi"/>
              </a:rPr>
              <a:t>视角 B · 体现忧患意识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E1E1E"/>
                </a:solidFill>
                <a:latin typeface="Microsoft YaHei"/>
              </a:rPr>
              <a:t>依据：「忧天地崩坠，身亡所寄」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1E1E1E"/>
                </a:solidFill>
                <a:latin typeface="KaiTi"/>
              </a:rPr>
              <a:t>启示：对未知保持审慎，亦需理性求证</a:t>
            </a:r>
          </a:p>
        </p:txBody>
      </p:sp>
    </p:spTree>
  </p:cSld>
  <p:clrMapOvr>
    <a:masterClrMapping/>
  </p:clrMapOvr>
  <p:transition xmlns:p14="http://schemas.microsoft.com/office/powerpoint/2010/main" spd="med" p14:dur="35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ly(fromLeft)">
                                      <p:cBhvr>
                                        <p:cTn id="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ly(fromLeft)">
                                      <p:cBhvr>
                                        <p:cTn id="6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ly(fromLeft)">
                                      <p:cBhvr>
                                        <p:cTn id="9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ly(fromRight)">
                                      <p:cBhvr>
                                        <p:cTn id="14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ly(fromRight)">
                                      <p:cBhvr>
                                        <p:cTn id="17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ly(fromRight)">
                                      <p:cBhvr>
                                        <p:cTn id="2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0040"/>
            <a:ext cx="347472" cy="347472"/>
          </a:xfrm>
          <a:prstGeom prst="rect">
            <a:avLst/>
          </a:prstGeom>
          <a:noFill/>
          <a:ln w="25400">
            <a:solidFill>
              <a:srgbClr val="C83C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34747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C83C23"/>
                </a:solidFill>
                <a:latin typeface="KaiT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" y="320040"/>
            <a:ext cx="783009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E1E1E"/>
                </a:solidFill>
                <a:latin typeface="KaiTi"/>
              </a:rPr>
              <a:t>给古人一条今天的建议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722376"/>
            <a:ext cx="11185855" cy="9144"/>
          </a:xfrm>
          <a:prstGeom prst="rect">
            <a:avLst/>
          </a:prstGeom>
          <a:solidFill>
            <a:srgbClr val="5A6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7512"/>
            <a:ext cx="11185855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A6A62"/>
                </a:solidFill>
                <a:latin typeface="Microsoft YaHei"/>
              </a:rPr>
              <a:t>～ ～ ～ ～ ～ ～ ～ ～ ～ ～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85800"/>
            <a:ext cx="2331720" cy="777240"/>
          </a:xfrm>
          <a:prstGeom prst="rect">
            <a:avLst/>
          </a:prstGeom>
          <a:solidFill>
            <a:srgbClr val="F4F1EA"/>
          </a:solidFill>
          <a:ln w="19050">
            <a:solidFill>
              <a:srgbClr val="4A7C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804672"/>
            <a:ext cx="2331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E1E1E"/>
                </a:solidFill>
                <a:latin typeface="KaiTi"/>
              </a:rPr>
              <a:t>丁氏原话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86868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C83C23"/>
                </a:solidFill>
                <a:latin typeface="KaiT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54680" y="685800"/>
            <a:ext cx="2331720" cy="777240"/>
          </a:xfrm>
          <a:prstGeom prst="rect">
            <a:avLst/>
          </a:prstGeom>
          <a:solidFill>
            <a:srgbClr val="F4F1EA"/>
          </a:solidFill>
          <a:ln w="19050">
            <a:solidFill>
              <a:srgbClr val="4A7C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54680" y="804672"/>
            <a:ext cx="2331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E1E1E"/>
                </a:solidFill>
                <a:latin typeface="KaiTi"/>
              </a:rPr>
              <a:t>传言失真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86868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C83C23"/>
                </a:solidFill>
                <a:latin typeface="KaiT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06440" y="685800"/>
            <a:ext cx="2331720" cy="777240"/>
          </a:xfrm>
          <a:prstGeom prst="rect">
            <a:avLst/>
          </a:prstGeom>
          <a:solidFill>
            <a:srgbClr val="F4F1EA"/>
          </a:solidFill>
          <a:ln w="19050">
            <a:solidFill>
              <a:srgbClr val="4A7C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06440" y="804672"/>
            <a:ext cx="2331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E1E1E"/>
                </a:solidFill>
                <a:latin typeface="KaiTi"/>
              </a:rPr>
              <a:t>国人传播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86868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C83C23"/>
                </a:solidFill>
                <a:latin typeface="KaiT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58200" y="685800"/>
            <a:ext cx="2331720" cy="777240"/>
          </a:xfrm>
          <a:prstGeom prst="rect">
            <a:avLst/>
          </a:prstGeom>
          <a:solidFill>
            <a:srgbClr val="F4F1EA"/>
          </a:solidFill>
          <a:ln w="19050">
            <a:solidFill>
              <a:srgbClr val="4A7C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8200" y="804672"/>
            <a:ext cx="2331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E1E1E"/>
                </a:solidFill>
                <a:latin typeface="KaiTi"/>
              </a:rPr>
              <a:t>宋君求证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1691640"/>
            <a:ext cx="5943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4A7C6F"/>
                </a:solidFill>
                <a:latin typeface="KaiTi"/>
              </a:rPr>
              <a:t>面对网络信息：核对来源 · 理性判断 · 不传谣言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20840" y="594360"/>
            <a:ext cx="5029200" cy="5120640"/>
          </a:xfrm>
          <a:prstGeom prst="rect">
            <a:avLst/>
          </a:prstGeom>
          <a:solidFill>
            <a:srgbClr val="C83C23"/>
          </a:solidFill>
          <a:ln w="19050">
            <a:solidFill>
              <a:srgbClr val="C83C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20840" y="594360"/>
            <a:ext cx="54864" cy="5120640"/>
          </a:xfrm>
          <a:prstGeom prst="rect">
            <a:avLst/>
          </a:prstGeom>
          <a:solidFill>
            <a:srgbClr val="C83C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914400"/>
            <a:ext cx="466344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C83C23"/>
                </a:solidFill>
                <a:latin typeface="KaiTi"/>
              </a:rPr>
              <a:t>课堂小结</a:t>
            </a:r>
          </a:p>
          <a:p>
            <a:pPr algn="ctr">
              <a:spcAft>
                <a:spcPts val="300"/>
              </a:spcAft>
            </a:pPr>
            <a:r>
              <a:rPr sz="800" b="0">
                <a:solidFill>
                  <a:srgbClr val="1E1E1E"/>
                </a:solidFill>
                <a:latin typeface="Microsoft YaHei"/>
              </a:rPr>
              <a:t/>
            </a:r>
          </a:p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E1E1E"/>
                </a:solidFill>
                <a:latin typeface="KaiTi"/>
              </a:rPr>
              <a:t>信息须求证</a:t>
            </a:r>
          </a:p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E1E1E"/>
                </a:solidFill>
                <a:latin typeface="KaiTi"/>
              </a:rPr>
              <a:t>忧虑须理性</a:t>
            </a:r>
          </a:p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E1E1E"/>
                </a:solidFill>
                <a:latin typeface="KaiTi"/>
              </a:rPr>
              <a:t>智慧照见局限</a:t>
            </a:r>
          </a:p>
        </p:txBody>
      </p:sp>
    </p:spTree>
  </p:cSld>
  <p:clrMapOvr>
    <a:masterClrMapping/>
  </p:clrMapOvr>
  <p:transition xmlns:p14="http://schemas.microsoft.com/office/powerpoint/2010/main" spd="med" p14:dur="35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6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9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12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1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18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21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24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27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3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33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36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4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7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