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0" b="1">
                <a:solidFill>
                  <a:srgbClr val="5A606E"/>
                </a:solidFill>
                <a:latin typeface="Microsoft YaHei"/>
              </a:rPr>
              <a:t>寓言四则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0">
                <a:solidFill>
                  <a:srgbClr val="FFD166"/>
                </a:solidFill>
                <a:latin typeface="Microsoft YaHei"/>
              </a:rPr>
              <a:t>第24课 · 第八、九课时 · 智慧与局限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D166"/>
                </a:solidFill>
                <a:latin typeface="Microsoft YaHei"/>
              </a:rPr>
              <a:t>课时目标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5A606E"/>
                </a:solidFill>
                <a:latin typeface="Microsoft YaHei"/>
              </a:rPr>
              <a:t>本课目标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2412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600"/>
              </a:spcAft>
            </a:pPr>
            <a:r>
              <a:rPr sz="2600" b="1">
                <a:solidFill>
                  <a:srgbClr val="FFD166"/>
                </a:solidFill>
                <a:latin typeface="Microsoft YaHei"/>
              </a:rPr>
              <a:t>目标1  </a:t>
            </a:r>
            <a:r>
              <a:rPr sz="2600" b="0">
                <a:solidFill>
                  <a:srgbClr val="5A606E"/>
                </a:solidFill>
                <a:latin typeface="Microsoft YaHei"/>
              </a:rPr>
              <a:t>归纳寓言文体特点，理解寓意</a:t>
            </a:r>
          </a:p>
          <a:p>
            <a:pPr>
              <a:spcAft>
                <a:spcPts val="1600"/>
              </a:spcAft>
            </a:pPr>
            <a:r>
              <a:rPr sz="2600" b="1">
                <a:solidFill>
                  <a:srgbClr val="FFD166"/>
                </a:solidFill>
                <a:latin typeface="Microsoft YaHei"/>
              </a:rPr>
              <a:t>目标2  </a:t>
            </a:r>
            <a:r>
              <a:rPr sz="2600" b="0">
                <a:solidFill>
                  <a:srgbClr val="5A606E"/>
                </a:solidFill>
                <a:latin typeface="Microsoft YaHei"/>
              </a:rPr>
              <a:t>疏通文言，积累重点词语</a:t>
            </a:r>
          </a:p>
          <a:p>
            <a:pPr>
              <a:spcAft>
                <a:spcPts val="1600"/>
              </a:spcAft>
            </a:pPr>
            <a:r>
              <a:rPr sz="2600" b="1">
                <a:solidFill>
                  <a:srgbClr val="FFD166"/>
                </a:solidFill>
                <a:latin typeface="Microsoft YaHei"/>
              </a:rPr>
              <a:t>目标3  </a:t>
            </a:r>
            <a:r>
              <a:rPr sz="2600" b="0">
                <a:solidFill>
                  <a:srgbClr val="5A606E"/>
                </a:solidFill>
                <a:latin typeface="Microsoft YaHei"/>
              </a:rPr>
              <a:t>探究寓意与情节设计，尝试新编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4AA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B4AAC4"/>
                </a:solidFill>
                <a:latin typeface="Microsoft YaHei"/>
              </a:rPr>
              <a:t>💭 想一想</a:t>
            </a:r>
          </a:p>
          <a:p>
            <a:pPr algn="ctr">
              <a:spcBef>
                <a:spcPts val="2000"/>
              </a:spcBef>
            </a:pPr>
            <a:r>
              <a:rPr sz="3400" b="1">
                <a:solidFill>
                  <a:srgbClr val="5A606E"/>
                </a:solidFill>
                <a:latin typeface="Microsoft YaHei"/>
              </a:rPr>
              <a:t>寓言是「穿着外套的真理」
跨越时空，智慧相通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57200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0">
                <a:solidFill>
                  <a:srgbClr val="B4AAC4"/>
                </a:solidFill>
                <a:latin typeface="Microsoft YaHei"/>
              </a:rPr>
              <a:t>课前热身：伊索、吕不韦、列子……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D166"/>
                </a:solidFill>
                <a:latin typeface="Microsoft YaHei"/>
              </a:rPr>
              <a:t>以生为主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5A606E"/>
                </a:solidFill>
                <a:latin typeface="Microsoft YaHei"/>
              </a:rPr>
              <a:t>学习任务一 · 初识寓言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2412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600"/>
              </a:spcAft>
            </a:pPr>
            <a:r>
              <a:rPr sz="2800" b="0">
                <a:solidFill>
                  <a:srgbClr val="5A606E"/>
                </a:solidFill>
                <a:latin typeface="Microsoft YaHei"/>
              </a:rPr>
              <a:t>默读四则，完成「寓言档案卡」</a:t>
            </a:r>
          </a:p>
          <a:p>
            <a:pPr>
              <a:spcAft>
                <a:spcPts val="1600"/>
              </a:spcAft>
            </a:pPr>
            <a:r>
              <a:rPr sz="2800" b="0">
                <a:solidFill>
                  <a:srgbClr val="5A606E"/>
                </a:solidFill>
                <a:latin typeface="Microsoft YaHei"/>
              </a:rPr>
              <a:t>讨论：蚊子平静离开，寓意会变吗？</a:t>
            </a:r>
          </a:p>
          <a:p>
            <a:pPr>
              <a:spcAft>
                <a:spcPts val="1600"/>
              </a:spcAft>
            </a:pPr>
            <a:r>
              <a:rPr sz="2800" b="0">
                <a:solidFill>
                  <a:srgbClr val="5A606E"/>
                </a:solidFill>
                <a:latin typeface="Microsoft YaHei"/>
              </a:rPr>
              <a:t>归纳寓言文体特点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6C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66CDAA"/>
                </a:solidFill>
                <a:latin typeface="Microsoft YaHei"/>
              </a:rPr>
              <a:t>文言积累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5A606E"/>
                </a:solidFill>
                <a:latin typeface="Microsoft YaHei"/>
              </a:rPr>
              <a:t>学习任务二 · 深读寓意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2412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600"/>
              </a:spcAft>
            </a:pPr>
            <a:r>
              <a:rPr sz="2800" b="0">
                <a:solidFill>
                  <a:srgbClr val="5A606E"/>
                </a:solidFill>
                <a:latin typeface="Microsoft YaHei"/>
              </a:rPr>
              <a:t>解释加点词：闻、传、道、亡、只使……</a:t>
            </a:r>
          </a:p>
          <a:p>
            <a:pPr>
              <a:spcAft>
                <a:spcPts val="1600"/>
              </a:spcAft>
            </a:pPr>
            <a:r>
              <a:rPr sz="2800" b="0">
                <a:solidFill>
                  <a:srgbClr val="5A606E"/>
                </a:solidFill>
                <a:latin typeface="Microsoft YaHei"/>
              </a:rPr>
              <a:t>翻译：「得一人之使，非得一人于井中也」</a:t>
            </a:r>
          </a:p>
          <a:p>
            <a:pPr>
              <a:spcAft>
                <a:spcPts val="1600"/>
              </a:spcAft>
            </a:pPr>
            <a:r>
              <a:rPr sz="2800" b="0">
                <a:solidFill>
                  <a:srgbClr val="5A606E"/>
                </a:solidFill>
                <a:latin typeface="Microsoft YaHei"/>
              </a:rPr>
              <a:t>讨论「杞人忧天」的两种理解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7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7F66"/>
                </a:solidFill>
                <a:latin typeface="Microsoft YaHei"/>
              </a:rPr>
              <a:t>创意表达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5A606E"/>
                </a:solidFill>
                <a:latin typeface="Microsoft YaHei"/>
              </a:rPr>
              <a:t>学习任务三 · 寓言新编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2412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600"/>
              </a:spcAft>
            </a:pPr>
            <a:r>
              <a:rPr sz="2800" b="0">
                <a:solidFill>
                  <a:srgbClr val="5A606E"/>
                </a:solidFill>
                <a:latin typeface="Microsoft YaHei"/>
              </a:rPr>
              <a:t>任选一则，重新设计情节（100—200字）</a:t>
            </a:r>
          </a:p>
          <a:p>
            <a:pPr>
              <a:spcAft>
                <a:spcPts val="1600"/>
              </a:spcAft>
            </a:pPr>
            <a:r>
              <a:rPr sz="2800" b="0">
                <a:solidFill>
                  <a:srgbClr val="5A606E"/>
                </a:solidFill>
                <a:latin typeface="Microsoft YaHei"/>
              </a:rPr>
              <a:t>主题四：认识认知局限，＿＿＿＿</a:t>
            </a:r>
          </a:p>
          <a:p>
            <a:pPr>
              <a:spcAft>
                <a:spcPts val="1600"/>
              </a:spcAft>
            </a:pPr>
            <a:r>
              <a:rPr sz="2800" b="0">
                <a:solidFill>
                  <a:srgbClr val="5A606E"/>
                </a:solidFill>
                <a:latin typeface="Microsoft YaHei"/>
              </a:rPr>
              <a:t>同伴互评：寓意是否由情节推出？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D166"/>
                </a:solidFill>
                <a:latin typeface="Microsoft YaHei"/>
              </a:rPr>
              <a:t>回顾收获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5A606E"/>
                </a:solidFill>
                <a:latin typeface="Microsoft YaHei"/>
              </a:rPr>
              <a:t>课堂小结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2412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600"/>
              </a:spcAft>
            </a:pPr>
            <a:r>
              <a:rPr sz="2800" b="0">
                <a:solidFill>
                  <a:srgbClr val="5A606E"/>
                </a:solidFill>
                <a:latin typeface="Microsoft YaHei"/>
              </a:rPr>
              <a:t>寓言道理藏在欲望、选择与后果中</a:t>
            </a:r>
          </a:p>
          <a:p>
            <a:pPr>
              <a:spcAft>
                <a:spcPts val="1600"/>
              </a:spcAft>
            </a:pPr>
            <a:r>
              <a:rPr sz="2800" b="0">
                <a:solidFill>
                  <a:srgbClr val="5A606E"/>
                </a:solidFill>
                <a:latin typeface="Microsoft YaHei"/>
              </a:rPr>
              <a:t>读懂「为什么这样结尾」</a:t>
            </a:r>
          </a:p>
          <a:p>
            <a:pPr>
              <a:spcAft>
                <a:spcPts val="1600"/>
              </a:spcAft>
            </a:pPr>
            <a:r>
              <a:rPr sz="2800" b="0">
                <a:solidFill>
                  <a:srgbClr val="5A606E"/>
                </a:solidFill>
                <a:latin typeface="Microsoft YaHei"/>
              </a:rPr>
              <a:t>策展主题：智慧与局限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f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B7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B799"/>
                </a:solidFill>
                <a:latin typeface="Microsoft YaHei"/>
              </a:rPr>
              <a:t>课后延伸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5A606E"/>
                </a:solidFill>
                <a:latin typeface="Microsoft YaHei"/>
              </a:rPr>
              <a:t>作业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2412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600"/>
              </a:spcAft>
            </a:pPr>
            <a:r>
              <a:rPr sz="2600" b="1">
                <a:solidFill>
                  <a:srgbClr val="FFB799"/>
                </a:solidFill>
                <a:latin typeface="Microsoft YaHei"/>
              </a:rPr>
              <a:t>必做  </a:t>
            </a:r>
            <a:r>
              <a:rPr sz="2600" b="0">
                <a:solidFill>
                  <a:srgbClr val="5A606E"/>
                </a:solidFill>
                <a:latin typeface="Microsoft YaHei"/>
              </a:rPr>
              <a:t>《蚊子和狮子》现实启示</a:t>
            </a:r>
          </a:p>
          <a:p>
            <a:pPr>
              <a:spcAft>
                <a:spcPts val="1600"/>
              </a:spcAft>
            </a:pPr>
            <a:r>
              <a:rPr sz="2600" b="1">
                <a:solidFill>
                  <a:srgbClr val="FFB799"/>
                </a:solidFill>
                <a:latin typeface="Microsoft YaHei"/>
              </a:rPr>
              <a:t>背诵  </a:t>
            </a:r>
            <a:r>
              <a:rPr sz="2600" b="0">
                <a:solidFill>
                  <a:srgbClr val="5A606E"/>
                </a:solidFill>
                <a:latin typeface="Microsoft YaHei"/>
              </a:rPr>
              <a:t>得一人之使，非得一人于井中也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