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able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able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329184"/>
            <a:ext cx="11484864" cy="6190488"/>
          </a:xfrm>
          <a:prstGeom prst="rect">
            <a:avLst/>
          </a:prstGeom>
          <a:noFill/>
          <a:ln w="12700">
            <a:solidFill>
              <a:srgbClr val="F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5200" b="1">
                <a:solidFill>
                  <a:srgbClr val="C89628"/>
                </a:solidFill>
                <a:latin typeface="Microsoft YaHei"/>
              </a:rPr>
              <a:t>寓言四则</a:t>
            </a:r>
          </a:p>
          <a:p>
            <a:pPr algn="ctr">
              <a:spcAft>
                <a:spcPts val="1000"/>
              </a:spcAft>
            </a:pPr>
            <a:r>
              <a:rPr sz="2600" b="0">
                <a:solidFill>
                  <a:srgbClr val="5A461E"/>
                </a:solidFill>
                <a:latin typeface="Microsoft YaHei"/>
              </a:rPr>
              <a:t>第24课 · 第八、九课时 · 智慧与局限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5029200"/>
            <a:ext cx="5760720" cy="27432"/>
          </a:xfrm>
          <a:prstGeom prst="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able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able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课时目标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C89628"/>
                </a:solidFill>
                <a:latin typeface="Microsoft YaHei"/>
              </a:rPr>
              <a:t>本课目标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645920"/>
            <a:ext cx="9601200" cy="2240280"/>
          </a:xfrm>
          <a:prstGeom prst="roundRect">
            <a:avLst/>
          </a:prstGeom>
          <a:solidFill>
            <a:srgbClr val="FFFCF0"/>
          </a:solidFill>
          <a:ln w="19050">
            <a:solidFill>
              <a:srgbClr val="F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824" y="1828800"/>
            <a:ext cx="384048" cy="384048"/>
          </a:xfrm>
          <a:prstGeom prst="ellipse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824" y="184708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8744" y="181051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A461E"/>
                </a:solidFill>
                <a:latin typeface="Microsoft YaHei"/>
              </a:rPr>
              <a:t>归纳寓言文体特点，理解各则寓意</a:t>
            </a:r>
          </a:p>
        </p:txBody>
      </p:sp>
      <p:sp>
        <p:nvSpPr>
          <p:cNvPr id="14" name="Oval 13"/>
          <p:cNvSpPr/>
          <p:nvPr/>
        </p:nvSpPr>
        <p:spPr>
          <a:xfrm>
            <a:off x="2255824" y="2395728"/>
            <a:ext cx="384048" cy="384048"/>
          </a:xfrm>
          <a:prstGeom prst="ellipse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5824" y="2414016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8744" y="2377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A461E"/>
                </a:solidFill>
                <a:latin typeface="Microsoft YaHei"/>
              </a:rPr>
              <a:t>借助注释疏通文言，积累重点词语</a:t>
            </a:r>
          </a:p>
        </p:txBody>
      </p:sp>
      <p:sp>
        <p:nvSpPr>
          <p:cNvPr id="17" name="Oval 16"/>
          <p:cNvSpPr/>
          <p:nvPr/>
        </p:nvSpPr>
        <p:spPr>
          <a:xfrm>
            <a:off x="2255824" y="2962656"/>
            <a:ext cx="384048" cy="384048"/>
          </a:xfrm>
          <a:prstGeom prst="ellipse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5824" y="2980944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8744" y="294436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A461E"/>
                </a:solidFill>
                <a:latin typeface="Microsoft YaHei"/>
              </a:rPr>
              <a:t>分析寓意与情节设计，尝试寓言新编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able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able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1005840"/>
            <a:ext cx="2286000" cy="411480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102412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想一想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0020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200" b="1">
                <a:solidFill>
                  <a:srgbClr val="C89628"/>
                </a:solidFill>
                <a:latin typeface="Microsoft YaHei"/>
              </a:rPr>
              <a:t>寓言是「穿着外套的真理」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4389120"/>
            <a:ext cx="5760720" cy="27432"/>
          </a:xfrm>
          <a:prstGeom prst="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66344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0">
                <a:solidFill>
                  <a:srgbClr val="C89628"/>
                </a:solidFill>
                <a:latin typeface="Microsoft YaHei"/>
              </a:rPr>
              <a:t>伊索、吕不韦、列子……跨越时空，智慧相通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able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able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初识寓言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C89628"/>
                </a:solidFill>
                <a:latin typeface="Microsoft YaHei"/>
              </a:rPr>
              <a:t>学习任务一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645920"/>
            <a:ext cx="9601200" cy="2240280"/>
          </a:xfrm>
          <a:prstGeom prst="roundRect">
            <a:avLst/>
          </a:prstGeom>
          <a:solidFill>
            <a:srgbClr val="FFFCF0"/>
          </a:solidFill>
          <a:ln w="19050">
            <a:solidFill>
              <a:srgbClr val="F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824" y="1828800"/>
            <a:ext cx="384048" cy="384048"/>
          </a:xfrm>
          <a:prstGeom prst="ellipse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824" y="184708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8744" y="181051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A461E"/>
                </a:solidFill>
                <a:latin typeface="Microsoft YaHei"/>
              </a:rPr>
              <a:t>默读四则寓言，完成「寓言档案卡」</a:t>
            </a:r>
          </a:p>
        </p:txBody>
      </p:sp>
      <p:sp>
        <p:nvSpPr>
          <p:cNvPr id="14" name="Oval 13"/>
          <p:cNvSpPr/>
          <p:nvPr/>
        </p:nvSpPr>
        <p:spPr>
          <a:xfrm>
            <a:off x="2255824" y="2395728"/>
            <a:ext cx="384048" cy="384048"/>
          </a:xfrm>
          <a:prstGeom prst="ellipse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5824" y="2414016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8744" y="2377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A461E"/>
                </a:solidFill>
                <a:latin typeface="Microsoft YaHei"/>
              </a:rPr>
              <a:t>讨论：蚊子平静离开，寓意会发生什么变化？</a:t>
            </a:r>
          </a:p>
        </p:txBody>
      </p:sp>
      <p:sp>
        <p:nvSpPr>
          <p:cNvPr id="17" name="Oval 16"/>
          <p:cNvSpPr/>
          <p:nvPr/>
        </p:nvSpPr>
        <p:spPr>
          <a:xfrm>
            <a:off x="2255824" y="2962656"/>
            <a:ext cx="384048" cy="384048"/>
          </a:xfrm>
          <a:prstGeom prst="ellipse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5824" y="2980944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8744" y="294436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A461E"/>
                </a:solidFill>
                <a:latin typeface="Microsoft YaHei"/>
              </a:rPr>
              <a:t>归纳寓言文体特点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able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able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深读寓意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C89628"/>
                </a:solidFill>
                <a:latin typeface="Microsoft YaHei"/>
              </a:rPr>
              <a:t>学习任务二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645920"/>
            <a:ext cx="9601200" cy="2240280"/>
          </a:xfrm>
          <a:prstGeom prst="roundRect">
            <a:avLst/>
          </a:prstGeom>
          <a:solidFill>
            <a:srgbClr val="FFFCF0"/>
          </a:solidFill>
          <a:ln w="19050">
            <a:solidFill>
              <a:srgbClr val="F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824" y="1828800"/>
            <a:ext cx="384048" cy="384048"/>
          </a:xfrm>
          <a:prstGeom prst="ellipse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824" y="184708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8744" y="181051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A461E"/>
                </a:solidFill>
                <a:latin typeface="Microsoft YaHei"/>
              </a:rPr>
              <a:t>解释加点词：闻、传、道、亡、只使、中伤……</a:t>
            </a:r>
          </a:p>
        </p:txBody>
      </p:sp>
      <p:sp>
        <p:nvSpPr>
          <p:cNvPr id="14" name="Oval 13"/>
          <p:cNvSpPr/>
          <p:nvPr/>
        </p:nvSpPr>
        <p:spPr>
          <a:xfrm>
            <a:off x="2255824" y="2395728"/>
            <a:ext cx="384048" cy="384048"/>
          </a:xfrm>
          <a:prstGeom prst="ellipse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5824" y="2414016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8744" y="2377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A461E"/>
                </a:solidFill>
                <a:latin typeface="Microsoft YaHei"/>
              </a:rPr>
              <a:t>翻译：「得一人之使，非得一人于井中也」</a:t>
            </a:r>
          </a:p>
        </p:txBody>
      </p:sp>
      <p:sp>
        <p:nvSpPr>
          <p:cNvPr id="17" name="Oval 16"/>
          <p:cNvSpPr/>
          <p:nvPr/>
        </p:nvSpPr>
        <p:spPr>
          <a:xfrm>
            <a:off x="2255824" y="2962656"/>
            <a:ext cx="384048" cy="384048"/>
          </a:xfrm>
          <a:prstGeom prst="ellipse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5824" y="2980944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8744" y="294436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A461E"/>
                </a:solidFill>
                <a:latin typeface="Microsoft YaHei"/>
              </a:rPr>
              <a:t>讨论「杞人忧天」的两种理解，结合生活举例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able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able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寓言新编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C89628"/>
                </a:solidFill>
                <a:latin typeface="Microsoft YaHei"/>
              </a:rPr>
              <a:t>学习任务三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645920"/>
            <a:ext cx="9601200" cy="2240280"/>
          </a:xfrm>
          <a:prstGeom prst="roundRect">
            <a:avLst/>
          </a:prstGeom>
          <a:solidFill>
            <a:srgbClr val="FFFCF0"/>
          </a:solidFill>
          <a:ln w="19050">
            <a:solidFill>
              <a:srgbClr val="F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824" y="1828800"/>
            <a:ext cx="384048" cy="384048"/>
          </a:xfrm>
          <a:prstGeom prst="ellipse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824" y="184708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8744" y="181051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A461E"/>
                </a:solidFill>
                <a:latin typeface="Microsoft YaHei"/>
              </a:rPr>
              <a:t>任选一则，重新设计情节（100—200字）</a:t>
            </a:r>
          </a:p>
        </p:txBody>
      </p:sp>
      <p:sp>
        <p:nvSpPr>
          <p:cNvPr id="14" name="Oval 13"/>
          <p:cNvSpPr/>
          <p:nvPr/>
        </p:nvSpPr>
        <p:spPr>
          <a:xfrm>
            <a:off x="2255824" y="2395728"/>
            <a:ext cx="384048" cy="384048"/>
          </a:xfrm>
          <a:prstGeom prst="ellipse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5824" y="2414016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8744" y="2377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A461E"/>
                </a:solidFill>
                <a:latin typeface="Microsoft YaHei"/>
              </a:rPr>
              <a:t>策展主题四：认识认知局限，善用智慧</a:t>
            </a:r>
          </a:p>
        </p:txBody>
      </p:sp>
      <p:sp>
        <p:nvSpPr>
          <p:cNvPr id="17" name="Oval 16"/>
          <p:cNvSpPr/>
          <p:nvPr/>
        </p:nvSpPr>
        <p:spPr>
          <a:xfrm>
            <a:off x="2255824" y="2962656"/>
            <a:ext cx="384048" cy="384048"/>
          </a:xfrm>
          <a:prstGeom prst="ellipse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5824" y="2980944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8744" y="294436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A461E"/>
                </a:solidFill>
                <a:latin typeface="Microsoft YaHei"/>
              </a:rPr>
              <a:t>同伴互评：寓意是否由情节自然推出？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able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able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回顾收获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C89628"/>
                </a:solidFill>
                <a:latin typeface="Microsoft YaHei"/>
              </a:rPr>
              <a:t>课堂小结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645920"/>
            <a:ext cx="9601200" cy="2240280"/>
          </a:xfrm>
          <a:prstGeom prst="roundRect">
            <a:avLst/>
          </a:prstGeom>
          <a:solidFill>
            <a:srgbClr val="FFFCF0"/>
          </a:solidFill>
          <a:ln w="19050">
            <a:solidFill>
              <a:srgbClr val="F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824" y="1828800"/>
            <a:ext cx="384048" cy="384048"/>
          </a:xfrm>
          <a:prstGeom prst="ellipse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824" y="184708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8744" y="181051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A461E"/>
                </a:solidFill>
                <a:latin typeface="Microsoft YaHei"/>
              </a:rPr>
              <a:t>寓言道理藏在欲望、选择与意外后果中</a:t>
            </a:r>
          </a:p>
        </p:txBody>
      </p:sp>
      <p:sp>
        <p:nvSpPr>
          <p:cNvPr id="14" name="Oval 13"/>
          <p:cNvSpPr/>
          <p:nvPr/>
        </p:nvSpPr>
        <p:spPr>
          <a:xfrm>
            <a:off x="2255824" y="2395728"/>
            <a:ext cx="384048" cy="384048"/>
          </a:xfrm>
          <a:prstGeom prst="ellipse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5824" y="2414016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8744" y="2377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A461E"/>
                </a:solidFill>
                <a:latin typeface="Microsoft YaHei"/>
              </a:rPr>
              <a:t>读懂「为什么这样结尾」，才能读到真正的提醒</a:t>
            </a:r>
          </a:p>
        </p:txBody>
      </p:sp>
      <p:sp>
        <p:nvSpPr>
          <p:cNvPr id="17" name="Oval 16"/>
          <p:cNvSpPr/>
          <p:nvPr/>
        </p:nvSpPr>
        <p:spPr>
          <a:xfrm>
            <a:off x="2255824" y="2962656"/>
            <a:ext cx="384048" cy="384048"/>
          </a:xfrm>
          <a:prstGeom prst="ellipse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5824" y="2980944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8744" y="294436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A461E"/>
                </a:solidFill>
                <a:latin typeface="Microsoft YaHei"/>
              </a:rPr>
              <a:t>策展主题：智慧与局限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able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able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课后延伸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C89628"/>
                </a:solidFill>
                <a:latin typeface="Microsoft YaHei"/>
              </a:rPr>
              <a:t>课后作业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645920"/>
            <a:ext cx="9601200" cy="1645920"/>
          </a:xfrm>
          <a:prstGeom prst="roundRect">
            <a:avLst/>
          </a:prstGeom>
          <a:solidFill>
            <a:srgbClr val="FFFCF0"/>
          </a:solidFill>
          <a:ln w="19050">
            <a:solidFill>
              <a:srgbClr val="F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824" y="1828800"/>
            <a:ext cx="384048" cy="384048"/>
          </a:xfrm>
          <a:prstGeom prst="ellipse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824" y="184708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8744" y="181051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A461E"/>
                </a:solidFill>
                <a:latin typeface="Microsoft YaHei"/>
              </a:rPr>
              <a:t>必做：用「这则寓言告诉我们……」写《蚊子和狮子》启示</a:t>
            </a:r>
          </a:p>
        </p:txBody>
      </p:sp>
      <p:sp>
        <p:nvSpPr>
          <p:cNvPr id="14" name="Oval 13"/>
          <p:cNvSpPr/>
          <p:nvPr/>
        </p:nvSpPr>
        <p:spPr>
          <a:xfrm>
            <a:off x="2255824" y="2395728"/>
            <a:ext cx="384048" cy="384048"/>
          </a:xfrm>
          <a:prstGeom prst="ellipse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5824" y="2414016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8744" y="2377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A461E"/>
                </a:solidFill>
                <a:latin typeface="Microsoft YaHei"/>
              </a:rPr>
              <a:t>背诵：得一人之使，非得一人于井中也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