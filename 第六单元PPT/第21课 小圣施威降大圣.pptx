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5A606E"/>
                </a:solidFill>
                <a:latin typeface="Microsoft YaHei"/>
              </a:rPr>
              <a:t>小圣施威降大圣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FF7F66"/>
                </a:solidFill>
                <a:latin typeface="Microsoft YaHei"/>
              </a:rPr>
              <a:t>第21课 · 第二、三课时 · 自由与规则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7F66"/>
                </a:solidFill>
                <a:latin typeface="Microsoft YaHei"/>
              </a:rPr>
              <a:t>课时目标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本课目标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7F66"/>
                </a:solidFill>
                <a:latin typeface="Microsoft YaHei"/>
              </a:rPr>
              <a:t>目标1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梳理孙悟空与二郎神的变化链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7F66"/>
                </a:solidFill>
                <a:latin typeface="Microsoft YaHei"/>
              </a:rPr>
              <a:t>目标2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分析神魔形象与想象趣味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7F66"/>
                </a:solidFill>
                <a:latin typeface="Microsoft YaHei"/>
              </a:rPr>
              <a:t>目标3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探究「自由与规则」母题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D166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高手过招，吸引人的不只是
「谁赢了」——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D166"/>
                </a:solidFill>
                <a:latin typeface="Microsoft YaHei"/>
              </a:rPr>
              <a:t>把自己当作赛事解说员，抓住每一次变化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7F66"/>
                </a:solidFill>
                <a:latin typeface="Microsoft YaHei"/>
              </a:rPr>
              <a:t>以生为主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学习任务一 · 变形追逐图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默读课文，圈出每次「变作」对象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填写七十二变对照表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用句式复述最精彩一轮（≤40字）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66CD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66CDAA"/>
                </a:solidFill>
                <a:latin typeface="Microsoft YaHei"/>
              </a:rPr>
              <a:t>细读品味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学习任务二 · 加解说词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变庙宇：尾巴为何变旗竿？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完成人物档案卡（证据—特点—作用）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批注鲁迅、林庚的评论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7F66"/>
                </a:solidFill>
                <a:latin typeface="Microsoft YaHei"/>
              </a:rPr>
              <a:t>💭 想一想</a:t>
            </a:r>
          </a:p>
          <a:p>
            <a:pPr algn="ctr">
              <a:spcBef>
                <a:spcPts val="2000"/>
              </a:spcBef>
            </a:pPr>
            <a:r>
              <a:rPr sz="3400" b="1">
                <a:solidFill>
                  <a:srgbClr val="5A606E"/>
                </a:solidFill>
                <a:latin typeface="Microsoft YaHei"/>
              </a:rPr>
              <a:t>「使神魔皆有人情」
课文哪里体现了人情与世故？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0">
                <a:solidFill>
                  <a:srgbClr val="FF7F66"/>
                </a:solidFill>
                <a:latin typeface="Microsoft YaHei"/>
              </a:rPr>
              <a:t>林庚：不宜看得过于认真，应看到儿童心理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B4AA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B4AAC4"/>
                </a:solidFill>
                <a:latin typeface="Microsoft YaHei"/>
              </a:rPr>
              <a:t>主题探究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学习任务三 · 提炼策展主题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讨论：孙悟空为何逃？天庭为何捉？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联系生活：自由与规则矛盾吗？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主题一：自由可贵，但＿＿＿＿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7F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7F66"/>
                </a:solidFill>
                <a:latin typeface="Microsoft YaHei"/>
              </a:rPr>
              <a:t>回顾收获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课堂小结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想象精彩，来自变化中的因果回应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神魔有法力，也有人情味</a:t>
            </a:r>
          </a:p>
          <a:p>
            <a:pPr>
              <a:spcAft>
                <a:spcPts val="1600"/>
              </a:spcAft>
            </a:pPr>
            <a:r>
              <a:rPr sz="2800" b="0">
                <a:solidFill>
                  <a:srgbClr val="5A606E"/>
                </a:solidFill>
                <a:latin typeface="Microsoft YaHei"/>
              </a:rPr>
              <a:t>策展主题：自由与规则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wuko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B7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28600"/>
            <a:ext cx="2743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B799"/>
                </a:solidFill>
                <a:latin typeface="Microsoft YaHei"/>
              </a:rPr>
              <a:t>课后延伸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5A606E"/>
                </a:solidFill>
                <a:latin typeface="Microsoft YaHei"/>
              </a:rPr>
              <a:t>作业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241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必做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写80字「赛事快讯」（≥3次变化）</a:t>
            </a:r>
          </a:p>
          <a:p>
            <a:pPr>
              <a:spcAft>
                <a:spcPts val="1600"/>
              </a:spcAft>
            </a:pPr>
            <a:r>
              <a:rPr sz="2600" b="1">
                <a:solidFill>
                  <a:srgbClr val="FFB799"/>
                </a:solidFill>
                <a:latin typeface="Microsoft YaHei"/>
              </a:rPr>
              <a:t>链接  </a:t>
            </a:r>
            <a:r>
              <a:rPr sz="2600" b="0">
                <a:solidFill>
                  <a:srgbClr val="5A606E"/>
                </a:solidFill>
                <a:latin typeface="Microsoft YaHei"/>
              </a:rPr>
              <a:t>作者吴承恩，成书明代，再写一个经典情节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